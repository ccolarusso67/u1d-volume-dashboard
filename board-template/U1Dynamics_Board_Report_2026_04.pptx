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Balance</c:v>
                </c:pt>
              </c:strCache>
            </c:strRef>
          </c:tx>
          <c:spPr>
            <a:solidFill>
              <a:srgbClr val="071326"/>
            </a:solidFill>
            <a:effectLst/>
          </c:spPr>
          <c:invertIfNegative val="0"/>
          <c:dLbls>
            <c:numFmt formatCode="#,##0" sourceLinked="0"/>
            <c:txPr>
              <a:bodyPr/>
              <a:lstStyle/>
              <a:p>
                <a:pPr>
                  <a:defRPr b="0" i="0" strike="noStrike" sz="800" u="none">
                    <a:solidFill>
                      <a:srgbClr val="000000"/>
                    </a:solidFill>
                    <a:latin typeface="Aptos"/>
                  </a:defRPr>
                </a:pPr>
              </a:p>
            </c:txPr>
            <c:showLegendKey val="0"/>
            <c:showVal val="1"/>
            <c:showCatName val="0"/>
            <c:showSerName val="0"/>
            <c:showPercent val="0"/>
            <c:showBubbleSize val="0"/>
            <c:showLeaderLines val="0"/>
          </c:dLbls>
          <c:dPt>
            <c:idx val="0"/>
            <c:invertIfNegative val="0"/>
            <c:bubble3D val="0"/>
            <c:spPr>
              <a:solidFill>
                <a:srgbClr val="071326"/>
              </a:solidFill>
              <a:effectLst/>
            </c:spPr>
          </c:dPt>
          <c:dPt>
            <c:idx val="1"/>
            <c:invertIfNegative val="0"/>
            <c:bubble3D val="0"/>
            <c:spPr>
              <a:solidFill>
                <a:srgbClr val="B42318"/>
              </a:solidFill>
              <a:effectLst/>
            </c:spPr>
          </c:dPt>
          <c:cat>
            <c:multiLvlStrRef>
              <c:f>Sheet1!$A$2:$A$3</c:f>
              <c:multiLvlStrCache>
                <c:ptCount val="2"/>
                <c:lvl>
                  <c:pt idx="0">
                    <c:v>Receivable</c:v>
                  </c:pt>
                  <c:pt idx="1">
                    <c:v>Payable</c:v>
                  </c:pt>
                </c:lvl>
              </c:multiLvlStrCache>
            </c:multiLvlStrRef>
          </c:cat>
          <c:val>
            <c:numRef>
              <c:f>Sheet1!$B$2:$B$3</c:f>
              <c:numCache>
                <c:formatCode>General</c:formatCode>
                <c:ptCount val="2"/>
                <c:pt idx="0">
                  <c:v>731611</c:v>
                </c:pt>
                <c:pt idx="1">
                  <c:v>933427</c:v>
                </c:pt>
              </c:numCache>
            </c:numRef>
          </c:val>
        </c:ser>
        <c:dLbls>
          <c:numFmt formatCode="#,##0" sourceLinked="0"/>
          <c:txPr>
            <a:bodyPr/>
            <a:lstStyle/>
            <a:p>
              <a:pPr>
                <a:defRPr b="0" i="0" strike="noStrike" sz="800" u="none">
                  <a:solidFill>
                    <a:srgbClr val="000000"/>
                  </a:solidFill>
                  <a:latin typeface="Aptos"/>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75467"/>
                </a:solidFill>
                <a:latin typeface="Aptos"/>
              </a:defRPr>
            </a:pPr>
            <a:endParaRPr lang="en-US"/>
          </a:p>
        </c:txPr>
        <c:crossAx val="2094734552"/>
        <c:crosses val="autoZero"/>
        <c:auto val="1"/>
        <c:lblAlgn val="ctr"/>
        <c:noMultiLvlLbl val="1"/>
      </c:catAx>
      <c:valAx>
        <c:axId val="2094734552"/>
        <c:scaling>
          <c:orientation val="minMax"/>
          <c:max val="10000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What is the tone of the meeting?
CEO speaker note: "This is the April operating review, but I want to frame it as a decision deck. We have a stable plant and a real business. The board's attention tonight belongs on the financial and strategic levers that turn that operating capability into enterprise value."
Visual: premium navy cover with a single thesis line. No chart.
What to avoid: do not open with an apology, a long operational recap, or a thank-you slide.
Why it matters: the opening tells the board management is calm, prepared, and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What exactly are we being asked to approve tonight?
CEO speaker note: "The business can make and ship. The issue is that enterprise value is constrained by three things: margin below the value-creation threshold, working capital reliance on vendor credit, and a customer base that has become too concentrated. The decisions are specific: approve the margin recovery program, approve the working-capital plan, and set a concentration ceiling while resolving the intercompany classification."
Metric/visual: five board-level numbers and three specific asks.
Board implication: this is a decision meeting, not an operating download.
Management recommendation: approve all three actions as a 90-day discipline package.
What to remove or avoid: do not start with product mix or monthly package detail. Do not make the board infer the ask.
Why it matters: a skeptical board relaxes when management opens with judgment and the requested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What does the data really say about the customer base?
CEO speaker note: "This is the most important strategic signal in the deck. We have not simply gotten bigger. We have become narrower and cheaper. Customer count is down from 311 to 55, top-five concentration is up to roughly 79%, and realized price per gallon is down about one-third. That changes the quality of revenue and the valuation story."
Metric/visual: a four-year trend table showing customers, top-five share, and realized price per gallon.
Board implication: concentration is not a sales detail; it is an enterprise-value risk.
Management recommendation: set a top-five ceiling of 60% over four quarters and track external-account growth as a board KPI.
What to remove or avoid: do not hide behind gross volume. Do not describe concentration as temporary unless there is a specific sales pipeline to prove it.
Why it matters: this is the slide that should make the board say, "Now we understand the real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Is the business creating enough gross profit to create value?
CEO speaker note: "The six-month monthly line recovered in April, but the TTM number is still below the reference threshold. The point here is not to litigate the month; it is to approve a margin architecture. We need to know price, mix, batch size, freight, and intercompany treatment by SKU and customer. Every point of gross margin is roughly $95K of gross profit at the current revenue base."
Metric/visual: margin progress bar from 18.2% to the 25% reference and four board-level sensitivity metrics.
Board implication: margin is the controllable enterprise-value lever.
Management recommendation: approve the price/mix recovery program with a two-quarter target of ≥22% gross margin.
What to remove or avoid: do not make this a generic "Revenue &amp; Margin" update. Do not show monthly revenue noise unless it directly supports the margin action.
Why it matters: it converts a financial statement into a management lever.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Is the company funding operations in a sustainable way?
CEO speaker note: "Payables exceed receivables by about $202K. That means part of our operating cycle is funded by vendors. It is not an emergency if we manage it; it is a risk if we let it drift. The ask is a 30/60/90 working-capital plan with weekly reporting until net working capital is at or above zero."
Metric/visual: AR vs AP bar chart with the net working-capital deficit as the hero number.
Board implication: liquidity risk is a management discipline issue before it becomes a cash crisis.
Management recommendation: approve the Finance-owned plan and track the weekly dashboard.
What to remove or avoid: do not show detailed aging buckets unless a board member asks. The board-level signal is AP &gt; AR and the plan to correct it.
Why it matters: this is the clearest near-term risk in the operating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Is this customer concentration or intercompany classification, and why does it matter?
CEO speaker note: "One account is roughly 42% of gallons and carries intercompany weighting. We need to make the treatment explicit: customer, intercompany, or internal transfer. Until that is settled, the board cannot fully judge revenue quality or customer exposure. The recommendation is simple: Finance resolves the treatment before the next close and Commercial owns the external-account diversification path."
Metric/visual: ranked 2026 YTD top-account share with the 42.2% intercompany account highlighted.
Board implication: classification affects how concentration, pricing, and valuation risk are interpreted.
Management recommendation: resolve classification before the next close and approve a top-five concentration ceiling.
What to remove or avoid: do not let this sit as a footnote. It is not just accounting; it changes the board's understanding of the business.
Why it matters: it turns an uncomfortable fact into a controllable governance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Are operational failures driving the financial pressure?
CEO speaker note: "No. April was operationally clean. We produced more than we billed, supply was stable, and quality was clean. The open item is not plant capability; it is inventory visibility. We need inventory value and days of cover in the next board view so the production-vs-billing story has financial context."
Metric/visual: four operational signal metrics and three clean operating blocks.
Board implication: the operational team earned confidence; the board should focus on margin, cash, and customer exposure.
Management recommendation: add inventory value and days-of-cover before the next board packet.
What to remove or avoid: do not include long operator notes or product/package mix as a main slide unless tied to margin or cash.
Why it matters: it removes a false concern and clarifies the real action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Can we trust the numbers in this deck?
CEO speaker note: "Yes, for the decisions tonight. We are making the distinction explicit. The QuickBooks P&amp;L, locked volume, AR/AP, and production-vs-billing gallons are board-grade for this discussion. We are not asking the board to rely on the customer-file revenue number until it reconciles to the GL. That is the right discipline and the right trust-building move."
Metric/visual: two-column data confidence map.
Board implication: authoritative facts support the decisions; unresolved numbers are named and quarantined.
Management recommendation: use only authoritative sources tonight and reconcile pending items before the next board cycle.
What to remove or avoid: do not show the $19.7M customer-file revenue as if it is equal in standing to the QB P&amp;L. Do not bury the stale sync caveat.
Why it matters: this protects credibility with sophisticated board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What should the board approve, by whom, and by when?
CEO speaker note: "These are the three approvals requested tonight. First, approve the price/mix recovery program. Second, approve the 30/60/90 working-capital plan. Third, approve a top-five concentration ceiling and direct Finance to resolve intercompany treatment before the next close. This is not a capital-intensive ask. It is an operating discipline package designed to de-risk enterprise value."
Metric/visual: decision table with owner, action, and measurable outcome.
Board implication: the board can approve a specific operating package, not a vague direction.
Management recommendation: approve all three.
What to remove or avoid: do not end with "questions" or "thank you." End on the requested decision.
Why it matters: the last slide should make the decision feel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appendix: CEO prep, not board-facing content.
This slide satisfies the destroy-the-weak-version requirement. The main deck was rebuilt around board decisions, not activity reporting. The product/package slide was removed from the main story because it does not change a decision unless tied to margin. Operational narrative was reduced because the plant is not the risk. The data-integrity slide stayed because it builds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the new slide list, rewritten headlines, and recommended visuals. Exact slide copy appears on the board-facing slides themselves. The CEO notes are in the speaker notes for slides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90-second CEO opening:
"April was an operationally clean month on a financially thin base. The plant can make and ship; that is not the concern. The enterprise-value question is whether we convert volume into margin, cash, and a resilient customer base. TTM revenue is about $9.47M at 18.2% gross margin, with net income roughly break-even. Net working capital is negative, with AP running 1.3 times AR. Customer concentration has moved too high: the top five are roughly 79% of volume, and one intercompany-weighted account is about 42%. I am not asking the board to review a month. I am asking the board to approve three specific moves: a price/mix program to lift gross margin, a 30/60/90 working-capital plan, and a diversification target with a clear decision on intercompany classification."
Full 3-minute presenter script:
"I want to be direct. U1Dynamics is operationally sound, financially thin, and strategically over-concentrated. We billed 103,453 gallons in April after a record March that included pull-forward billing. Production ran ahead of billing, and the plant had no capacity, supply, or quality issue. The financial story is that the business is stable but thin: $9.47M of TTM revenue, 18.2% gross margin, and roughly break-even net income. The balance sheet is the immediate pressure point: AR is about $732K, AP about $933K, and AP/AR is 1.3x. That means vendor credit is funding part of the cycle. The strategic risk is the customer book: 311 customers in 2023 to 55 in 2026 YTD; top-five share 37% to 79%; realized price from $15.55 to $10.36 per gallon. The actions are clear. Approve margin recovery, approve working-capital discipline, and set a concentration ceiling while resolving intercompany treatment."
15-minute talk track: follow the timing on the slide. Do not dwell on product/package mix unless asked. Treat data integrity as a strength: "we are not asking you to decide on unreconciled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 board questions and strong answers:
Q: Why target 22% in two quarters rather than 25% immediately?
A: 25% remains the reference. 22% is the near-term operating target that can be managed through price/mix, SKU/customer focus, and classification work without assuming a full strategic reset.
Q: Are we losing customers or rationalizing the book?
A: The data alone shows consolidation, not intent. Management should not over-claim. The board action is to set the desired shape and then measure external-account growth against it.
Q: What happens if vendors tighten terms?
A: That is why the working-capital plan comes first. We do not want to negotiate under pressure. The 60-day workstream puts the company ahead of the risk.
Q: What is the single biggest risk?
A: Concentration is the strategic risk; AP &gt; AR is the immediate cash risk; data reconciliation is the credibility risk. All three now have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One-page board memo full text:
Purpose: Request board approval for a 90-day operating discipline package that improves margin quality, protects working capital, and reduces customer concentration risk.
Situation: April was operationally clean. The plant produced 134,620 gallons across 22 working days, ahead of billed volume of 103,453 gallons. No major supply or quality issue was recorded. The risk is not plant execution; it is whether U1Dynamics converts volume into margin, cash, and resilience.
Financial signal: TTM revenue is approximately $9.47M at 18.2% gross margin. TTM net income is approximately $92.9K, essentially break-even. Net working capital is approximately negative $202K, with AP at 1.3 times AR, meaning vendors are funding part of the operating cycle.
Strategic signal: The customer base has narrowed materially. Customers fell from 311 in 2023 to 55 in 2026 YTD. Top-five share rose from 37% to about 79%. Realized price per gallon fell from $15.55 to $10.36. One intercompany-weighted account is approximately 42% of gallons.
Recommendation: Approve the margin recovery program, approve the 30/60/90 working-capital plan, and approve a top-five concentration ceiling with intercompany treatment resolved before the next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send / do-not-send assessment:
SEND the board-facing deck if it keeps the data discipline intact and treats the pending reconciliation as a known issue.
DO NOT SEND if someone reintroduces the old clutter, removes the data caveats, or presents the customer-file revenue as authoritative without reconciling it to the QuickBooks GL P&amp;L.
Red-team critique: the deck is strong because it names the true risks. Its only vulnerability is that per-customer revenue and inventory dollars are still incomplete. Address that openly and the deck survives a skeptical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326"/>
        </a:solidFill>
      </p:bgPr>
    </p:bg>
    <p:spTree>
      <p:nvGrpSpPr>
        <p:cNvPr id="1" name=""/>
        <p:cNvGrpSpPr/>
        <p:nvPr/>
      </p:nvGrpSpPr>
      <p:grpSpPr>
        <a:xfrm>
          <a:off x="0" y="0"/>
          <a:ext cx="0" cy="0"/>
          <a:chOff x="0" y="0"/>
          <a:chExt cx="0" cy="0"/>
        </a:xfrm>
      </p:grpSpPr>
      <p:sp>
        <p:nvSpPr>
          <p:cNvPr id="3" name="Shape 1"/>
          <p:cNvSpPr/>
          <p:nvPr/>
        </p:nvSpPr>
        <p:spPr>
          <a:xfrm>
            <a:off x="713232" y="1078992"/>
            <a:ext cx="1005840" cy="0"/>
          </a:xfrm>
          <a:prstGeom prst="line">
            <a:avLst/>
          </a:prstGeom>
          <a:noFill/>
          <a:ln w="15240">
            <a:solidFill>
              <a:srgbClr val="B42318"/>
            </a:solidFill>
            <a:prstDash val="solid"/>
          </a:ln>
        </p:spPr>
        <p:txBody>
          <a:bodyPr/>
          <a:p/>
        </p:txBody>
      </p:sp>
      <p:sp>
        <p:nvSpPr>
          <p:cNvPr id="4" name="Text 2"/>
          <p:cNvSpPr/>
          <p:nvPr/>
        </p:nvSpPr>
        <p:spPr>
          <a:xfrm>
            <a:off x="713232" y="1920240"/>
            <a:ext cx="7132320" cy="347472"/>
          </a:xfrm>
          <a:prstGeom prst="rect">
            <a:avLst/>
          </a:prstGeom>
          <a:noFill/>
          <a:ln/>
        </p:spPr>
        <p:txBody>
          <a:bodyPr wrap="square" lIns="0" tIns="0" rIns="0" bIns="0" rtlCol="0" anchor="ctr"/>
          <a:lstStyle/>
          <a:p>
            <a:pPr indent="0" marL="0">
              <a:buNone/>
            </a:pPr>
            <a:r>
              <a:rPr lang="en-US" sz="1100" b="1" dirty="0">
                <a:solidFill>
                  <a:srgbClr val="C7D7FE"/>
                </a:solidFill>
                <a:latin typeface="Aptos" pitchFamily="34" charset="0"/>
                <a:ea typeface="Aptos" pitchFamily="34" charset="-122"/>
                <a:cs typeface="Aptos" pitchFamily="34" charset="-120"/>
              </a:rPr>
              <a:t>BOARD OPERATING REVIEW</a:t>
            </a:r>
            <a:endParaRPr lang="en-US" sz="1100" dirty="0"/>
          </a:p>
        </p:txBody>
      </p:sp>
      <p:sp>
        <p:nvSpPr>
          <p:cNvPr id="5" name="Text 3"/>
          <p:cNvSpPr/>
          <p:nvPr/>
        </p:nvSpPr>
        <p:spPr>
          <a:xfrm>
            <a:off x="713232" y="2359152"/>
            <a:ext cx="7498080" cy="77724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April 2026</a:t>
            </a:r>
            <a:endParaRPr lang="en-US" sz="4200" dirty="0"/>
          </a:p>
        </p:txBody>
      </p:sp>
      <p:sp>
        <p:nvSpPr>
          <p:cNvPr id="6" name="Text 4"/>
          <p:cNvSpPr/>
          <p:nvPr/>
        </p:nvSpPr>
        <p:spPr>
          <a:xfrm>
            <a:off x="749808" y="3310128"/>
            <a:ext cx="6035040" cy="320040"/>
          </a:xfrm>
          <a:prstGeom prst="rect">
            <a:avLst/>
          </a:prstGeom>
          <a:noFill/>
          <a:ln/>
        </p:spPr>
        <p:txBody>
          <a:bodyPr wrap="square" lIns="0" tIns="0" rIns="0" bIns="0" rtlCol="0" anchor="ctr"/>
          <a:lstStyle/>
          <a:p>
            <a:pPr indent="0" marL="0">
              <a:buNone/>
            </a:pPr>
            <a:r>
              <a:rPr lang="en-US" sz="1300" dirty="0">
                <a:solidFill>
                  <a:srgbClr val="D7DCE6"/>
                </a:solidFill>
                <a:latin typeface="Aptos" pitchFamily="34" charset="0"/>
                <a:ea typeface="Aptos" pitchFamily="34" charset="-122"/>
                <a:cs typeface="Aptos" pitchFamily="34" charset="-120"/>
              </a:rPr>
              <a:t>Decision deck for the Board of Directors</a:t>
            </a:r>
            <a:endParaRPr lang="en-US" sz="1300" dirty="0"/>
          </a:p>
        </p:txBody>
      </p:sp>
      <p:sp>
        <p:nvSpPr>
          <p:cNvPr id="7" name="Text 5"/>
          <p:cNvSpPr/>
          <p:nvPr/>
        </p:nvSpPr>
        <p:spPr>
          <a:xfrm>
            <a:off x="749808" y="3730752"/>
            <a:ext cx="7772400" cy="274320"/>
          </a:xfrm>
          <a:prstGeom prst="rect">
            <a:avLst/>
          </a:prstGeom>
          <a:noFill/>
          <a:ln/>
        </p:spPr>
        <p:txBody>
          <a:bodyPr wrap="square" lIns="0" tIns="0" rIns="0" bIns="0" rtlCol="0" anchor="ctr"/>
          <a:lstStyle/>
          <a:p>
            <a:pPr indent="0" marL="0">
              <a:buNone/>
            </a:pPr>
            <a:r>
              <a:rPr lang="en-US" sz="1050" dirty="0">
                <a:solidFill>
                  <a:srgbClr val="B8C2D1"/>
                </a:solidFill>
                <a:latin typeface="Aptos" pitchFamily="34" charset="0"/>
                <a:ea typeface="Aptos" pitchFamily="34" charset="-122"/>
                <a:cs typeface="Aptos" pitchFamily="34" charset="-120"/>
              </a:rPr>
              <a:t>Purpose: approve the margin, working-capital, and diversification actions.</a:t>
            </a:r>
            <a:endParaRPr lang="en-US" sz="1050" dirty="0"/>
          </a:p>
        </p:txBody>
      </p:sp>
      <p:sp>
        <p:nvSpPr>
          <p:cNvPr id="8" name="Shape 6"/>
          <p:cNvSpPr/>
          <p:nvPr/>
        </p:nvSpPr>
        <p:spPr>
          <a:xfrm>
            <a:off x="9326880" y="0"/>
            <a:ext cx="2862072" cy="6858000"/>
          </a:xfrm>
          <a:prstGeom prst="rect">
            <a:avLst/>
          </a:prstGeom>
          <a:solidFill>
            <a:srgbClr val="0B1F3A"/>
          </a:solidFill>
          <a:ln w="12700">
            <a:solidFill>
              <a:srgbClr val="0B1F3A">
                <a:alpha val="0"/>
              </a:srgbClr>
            </a:solidFill>
            <a:prstDash val="solid"/>
          </a:ln>
        </p:spPr>
        <p:txBody>
          <a:bodyPr/>
          <a:p/>
        </p:txBody>
      </p:sp>
      <p:sp>
        <p:nvSpPr>
          <p:cNvPr id="9" name="Text 7"/>
          <p:cNvSpPr/>
          <p:nvPr/>
        </p:nvSpPr>
        <p:spPr>
          <a:xfrm>
            <a:off x="9555480" y="4389120"/>
            <a:ext cx="2176272" cy="960120"/>
          </a:xfrm>
          <a:prstGeom prst="rect">
            <a:avLst/>
          </a:prstGeom>
          <a:noFill/>
          <a:ln/>
        </p:spPr>
        <p:txBody>
          <a:bodyPr wrap="square" lIns="0" tIns="0" rIns="0" bIns="0" rtlCol="0" anchor="ctr">
            <a:normAutofit/>
          </a:bodyPr>
          <a:lstStyle/>
          <a:p>
            <a:pPr indent="0" marL="0">
              <a:buNone/>
            </a:pPr>
            <a:r>
              <a:rPr lang="en-US" sz="1060" dirty="0">
                <a:solidFill>
                  <a:srgbClr val="E4E7EC"/>
                </a:solidFill>
                <a:latin typeface="Aptos" pitchFamily="34" charset="0"/>
                <a:ea typeface="Aptos" pitchFamily="34" charset="-122"/>
                <a:cs typeface="Aptos" pitchFamily="34" charset="-120"/>
              </a:rPr>
              <a:t>The question is not whether we can make and ship.</a:t>
            </a:r>
            <a:endParaRPr lang="en-US" sz="1060" dirty="0"/>
          </a:p>
          <a:p>
            <a:pPr indent="0" marL="0">
              <a:buNone/>
            </a:pPr>
            <a:r>
              <a:rPr lang="en-US" sz="1060" dirty="0">
                <a:solidFill>
                  <a:srgbClr val="E4E7EC"/>
                </a:solidFill>
                <a:latin typeface="Aptos" pitchFamily="34" charset="0"/>
                <a:ea typeface="Aptos" pitchFamily="34" charset="-122"/>
                <a:cs typeface="Aptos" pitchFamily="34" charset="-120"/>
              </a:rPr>
              <a:t>It is whether we can turn volume into margin, cash, and resilience.</a:t>
            </a:r>
            <a:endParaRPr lang="en-US" sz="1060" dirty="0"/>
          </a:p>
        </p:txBody>
      </p:sp>
      <p:sp>
        <p:nvSpPr>
          <p:cNvPr id="10" name="Text 8"/>
          <p:cNvSpPr/>
          <p:nvPr/>
        </p:nvSpPr>
        <p:spPr>
          <a:xfrm>
            <a:off x="9555480" y="6199632"/>
            <a:ext cx="2103120" cy="201168"/>
          </a:xfrm>
          <a:prstGeom prst="rect">
            <a:avLst/>
          </a:prstGeom>
          <a:noFill/>
          <a:ln/>
        </p:spPr>
        <p:txBody>
          <a:bodyPr wrap="square" lIns="0" tIns="0" rIns="0" bIns="0" rtlCol="0" anchor="ctr"/>
          <a:lstStyle/>
          <a:p>
            <a:pPr indent="0" marL="0">
              <a:buNone/>
            </a:pPr>
            <a:r>
              <a:rPr lang="en-US" sz="680" b="1" dirty="0">
                <a:solidFill>
                  <a:srgbClr val="98A2B3"/>
                </a:solidFill>
                <a:latin typeface="Aptos" pitchFamily="34" charset="0"/>
                <a:ea typeface="Aptos" pitchFamily="34" charset="-122"/>
                <a:cs typeface="Aptos" pitchFamily="34" charset="-120"/>
              </a:rPr>
              <a:t>CONFIDENTIAL</a:t>
            </a:r>
            <a:endParaRPr lang="en-US" sz="680" dirty="0"/>
          </a:p>
        </p:txBody>
      </p:sp>
      <p:sp>
        <p:nvSpPr>
          <p:cNvPr id="11" name="Shape 9"/>
          <p:cNvSpPr/>
          <p:nvPr/>
        </p:nvSpPr>
        <p:spPr>
          <a:xfrm>
            <a:off x="530352" y="6419088"/>
            <a:ext cx="11130991" cy="0"/>
          </a:xfrm>
          <a:prstGeom prst="line">
            <a:avLst/>
          </a:prstGeom>
          <a:noFill/>
          <a:ln w="4445">
            <a:solidFill>
              <a:srgbClr val="31405A"/>
            </a:solidFill>
            <a:prstDash val="solid"/>
          </a:ln>
        </p:spPr>
        <p:txBody>
          <a:bodyPr/>
          <a:p/>
        </p:txBody>
      </p:sp>
      <p:sp>
        <p:nvSpPr>
          <p:cNvPr id="12" name="Text 10"/>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B8C2D1"/>
                </a:solidFill>
                <a:latin typeface="Aptos" pitchFamily="34" charset="0"/>
                <a:ea typeface="Aptos" pitchFamily="34" charset="-122"/>
                <a:cs typeface="Aptos" pitchFamily="34" charset="-120"/>
              </a:rPr>
              <a:t>U1Dynamics Manufacturing LLC  ·  April 2026  ·  Confidential</a:t>
            </a:r>
            <a:endParaRPr lang="en-US" sz="680" dirty="0"/>
          </a:p>
        </p:txBody>
      </p:sp>
      <p:sp>
        <p:nvSpPr>
          <p:cNvPr id="13" name="Text 11"/>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B8C2D1"/>
                </a:solidFill>
                <a:latin typeface="Aptos" pitchFamily="34" charset="0"/>
                <a:ea typeface="Aptos" pitchFamily="34" charset="-122"/>
                <a:cs typeface="Aptos" pitchFamily="34" charset="-120"/>
              </a:rPr>
              <a:t>01</a:t>
            </a:r>
            <a:endParaRPr lang="en-US" sz="680" dirty="0"/>
          </a:p>
        </p:txBody>
      </p:sp>
      <p:pic>
        <p:nvPicPr>
          <p:cNvPr id="14" name="Picture 13" descr="u1d-logo-white.png"/>
          <p:cNvPicPr>
            <a:picLocks noChangeAspect="1"/>
          </p:cNvPicPr>
          <p:nvPr/>
        </p:nvPicPr>
        <p:blipFill>
          <a:blip r:embed="rId3"/>
          <a:stretch>
            <a:fillRect/>
          </a:stretch>
        </p:blipFill>
        <p:spPr>
          <a:xfrm>
            <a:off x="713232" y="566928"/>
            <a:ext cx="1554480" cy="10104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607040" cy="493776"/>
          </a:xfrm>
          <a:prstGeom prst="rect">
            <a:avLst/>
          </a:prstGeom>
          <a:noFill/>
          <a:ln/>
        </p:spPr>
        <p:txBody>
          <a:bodyPr wrap="square" lIns="0" tIns="0" rIns="0" bIns="0" rtlCol="0" anchor="ctr">
            <a:normAutofit/>
          </a:bodyPr>
          <a:lstStyle/>
          <a:p>
            <a:pPr indent="0" marL="0">
              <a:buNone/>
            </a:pPr>
            <a:r>
              <a:rPr lang="en-US" sz="2450" b="1" dirty="0">
                <a:solidFill>
                  <a:srgbClr val="111827"/>
                </a:solidFill>
                <a:latin typeface="Aptos Display" pitchFamily="34" charset="0"/>
                <a:ea typeface="Aptos Display" pitchFamily="34" charset="-122"/>
                <a:cs typeface="Aptos Display" pitchFamily="34" charset="-120"/>
              </a:rPr>
              <a:t>The decision: convert volume into margin, cash, and resilience</a:t>
            </a:r>
            <a:endParaRPr lang="en-US" sz="245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U1Dynamics can make and ship. The enterprise-value question is whether that volume becomes durable value.</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658368" y="1874520"/>
            <a:ext cx="2121408" cy="841248"/>
          </a:xfrm>
          <a:prstGeom prst="roundRect">
            <a:avLst>
              <a:gd name="adj" fmla="val 6522"/>
            </a:avLst>
          </a:prstGeom>
          <a:solidFill>
            <a:srgbClr val="FFFFFF"/>
          </a:solidFill>
          <a:ln w="6350">
            <a:solidFill>
              <a:srgbClr val="D6DCE4"/>
            </a:solidFill>
            <a:prstDash val="solid"/>
          </a:ln>
        </p:spPr>
      </p:sp>
      <p:sp>
        <p:nvSpPr>
          <p:cNvPr id="7" name="Text 5"/>
          <p:cNvSpPr/>
          <p:nvPr/>
        </p:nvSpPr>
        <p:spPr>
          <a:xfrm>
            <a:off x="768096" y="1984248"/>
            <a:ext cx="1901952"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REVENUE · TTM</a:t>
            </a:r>
            <a:endParaRPr lang="en-US" sz="540" dirty="0"/>
          </a:p>
        </p:txBody>
      </p:sp>
      <p:sp>
        <p:nvSpPr>
          <p:cNvPr id="8" name="Text 6"/>
          <p:cNvSpPr/>
          <p:nvPr/>
        </p:nvSpPr>
        <p:spPr>
          <a:xfrm>
            <a:off x="768096" y="2148840"/>
            <a:ext cx="1901952" cy="329184"/>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ptos Display" pitchFamily="34" charset="0"/>
                <a:ea typeface="Aptos Display" pitchFamily="34" charset="-122"/>
                <a:cs typeface="Aptos Display" pitchFamily="34" charset="-120"/>
              </a:rPr>
              <a:t>$9.47M</a:t>
            </a:r>
            <a:endParaRPr lang="en-US" sz="2100" dirty="0"/>
          </a:p>
        </p:txBody>
      </p:sp>
      <p:sp>
        <p:nvSpPr>
          <p:cNvPr id="9" name="Text 7"/>
          <p:cNvSpPr/>
          <p:nvPr/>
        </p:nvSpPr>
        <p:spPr>
          <a:xfrm>
            <a:off x="768096" y="2487168"/>
            <a:ext cx="1901952"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18.2% gross margin</a:t>
            </a:r>
            <a:endParaRPr lang="en-US" sz="650" dirty="0"/>
          </a:p>
        </p:txBody>
      </p:sp>
      <p:sp>
        <p:nvSpPr>
          <p:cNvPr id="10" name="Shape 8"/>
          <p:cNvSpPr/>
          <p:nvPr/>
        </p:nvSpPr>
        <p:spPr>
          <a:xfrm>
            <a:off x="2926080" y="1874520"/>
            <a:ext cx="2121408" cy="841248"/>
          </a:xfrm>
          <a:prstGeom prst="roundRect">
            <a:avLst>
              <a:gd name="adj" fmla="val 6522"/>
            </a:avLst>
          </a:prstGeom>
          <a:solidFill>
            <a:srgbClr val="FFFFFF"/>
          </a:solidFill>
          <a:ln w="6350">
            <a:solidFill>
              <a:srgbClr val="D6DCE4"/>
            </a:solidFill>
            <a:prstDash val="solid"/>
          </a:ln>
        </p:spPr>
      </p:sp>
      <p:sp>
        <p:nvSpPr>
          <p:cNvPr id="11" name="Text 9"/>
          <p:cNvSpPr/>
          <p:nvPr/>
        </p:nvSpPr>
        <p:spPr>
          <a:xfrm>
            <a:off x="3035808" y="1984248"/>
            <a:ext cx="1901952"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NET INCOME · TTM</a:t>
            </a:r>
            <a:endParaRPr lang="en-US" sz="540" dirty="0"/>
          </a:p>
        </p:txBody>
      </p:sp>
      <p:sp>
        <p:nvSpPr>
          <p:cNvPr id="12" name="Text 10"/>
          <p:cNvSpPr/>
          <p:nvPr/>
        </p:nvSpPr>
        <p:spPr>
          <a:xfrm>
            <a:off x="3035808" y="2148840"/>
            <a:ext cx="1901952" cy="329184"/>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ptos Display" pitchFamily="34" charset="0"/>
                <a:ea typeface="Aptos Display" pitchFamily="34" charset="-122"/>
                <a:cs typeface="Aptos Display" pitchFamily="34" charset="-120"/>
              </a:rPr>
              <a:t>$92.9K</a:t>
            </a:r>
            <a:endParaRPr lang="en-US" sz="2100" dirty="0"/>
          </a:p>
        </p:txBody>
      </p:sp>
      <p:sp>
        <p:nvSpPr>
          <p:cNvPr id="13" name="Text 11"/>
          <p:cNvSpPr/>
          <p:nvPr/>
        </p:nvSpPr>
        <p:spPr>
          <a:xfrm>
            <a:off x="3035808" y="2487168"/>
            <a:ext cx="1901952"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 break-even</a:t>
            </a:r>
            <a:endParaRPr lang="en-US" sz="650" dirty="0"/>
          </a:p>
        </p:txBody>
      </p:sp>
      <p:sp>
        <p:nvSpPr>
          <p:cNvPr id="14" name="Shape 12"/>
          <p:cNvSpPr/>
          <p:nvPr/>
        </p:nvSpPr>
        <p:spPr>
          <a:xfrm>
            <a:off x="5193792" y="1874520"/>
            <a:ext cx="2121408" cy="841248"/>
          </a:xfrm>
          <a:prstGeom prst="roundRect">
            <a:avLst>
              <a:gd name="adj" fmla="val 6522"/>
            </a:avLst>
          </a:prstGeom>
          <a:solidFill>
            <a:srgbClr val="FFFFFF"/>
          </a:solidFill>
          <a:ln w="6350">
            <a:solidFill>
              <a:srgbClr val="D6DCE4"/>
            </a:solidFill>
            <a:prstDash val="solid"/>
          </a:ln>
        </p:spPr>
      </p:sp>
      <p:sp>
        <p:nvSpPr>
          <p:cNvPr id="15" name="Text 13"/>
          <p:cNvSpPr/>
          <p:nvPr/>
        </p:nvSpPr>
        <p:spPr>
          <a:xfrm>
            <a:off x="5303520" y="1984248"/>
            <a:ext cx="1901952"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NET WORKING CAPITAL</a:t>
            </a:r>
            <a:endParaRPr lang="en-US" sz="540" dirty="0"/>
          </a:p>
        </p:txBody>
      </p:sp>
      <p:sp>
        <p:nvSpPr>
          <p:cNvPr id="16" name="Text 14"/>
          <p:cNvSpPr/>
          <p:nvPr/>
        </p:nvSpPr>
        <p:spPr>
          <a:xfrm>
            <a:off x="5303520" y="2148840"/>
            <a:ext cx="1901952" cy="329184"/>
          </a:xfrm>
          <a:prstGeom prst="rect">
            <a:avLst/>
          </a:prstGeom>
          <a:noFill/>
          <a:ln/>
        </p:spPr>
        <p:txBody>
          <a:bodyPr wrap="square" lIns="0" tIns="0" rIns="0" bIns="0" rtlCol="0" anchor="ctr">
            <a:normAutofit/>
          </a:bodyPr>
          <a:lstStyle/>
          <a:p>
            <a:pPr indent="0" marL="0">
              <a:buNone/>
            </a:pPr>
            <a:r>
              <a:rPr lang="en-US" sz="2100" b="1" dirty="0">
                <a:solidFill>
                  <a:srgbClr val="B42318"/>
                </a:solidFill>
                <a:latin typeface="Aptos Display" pitchFamily="34" charset="0"/>
                <a:ea typeface="Aptos Display" pitchFamily="34" charset="-122"/>
                <a:cs typeface="Aptos Display" pitchFamily="34" charset="-120"/>
              </a:rPr>
              <a:t>−$202K</a:t>
            </a:r>
            <a:endParaRPr lang="en-US" sz="2100" dirty="0"/>
          </a:p>
        </p:txBody>
      </p:sp>
      <p:sp>
        <p:nvSpPr>
          <p:cNvPr id="17" name="Text 15"/>
          <p:cNvSpPr/>
          <p:nvPr/>
        </p:nvSpPr>
        <p:spPr>
          <a:xfrm>
            <a:off x="5303520" y="2487168"/>
            <a:ext cx="1901952"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AP 1.3× AR</a:t>
            </a:r>
            <a:endParaRPr lang="en-US" sz="650" dirty="0"/>
          </a:p>
        </p:txBody>
      </p:sp>
      <p:sp>
        <p:nvSpPr>
          <p:cNvPr id="18" name="Shape 16"/>
          <p:cNvSpPr/>
          <p:nvPr/>
        </p:nvSpPr>
        <p:spPr>
          <a:xfrm>
            <a:off x="7461504" y="1874520"/>
            <a:ext cx="2121408" cy="841248"/>
          </a:xfrm>
          <a:prstGeom prst="roundRect">
            <a:avLst>
              <a:gd name="adj" fmla="val 6522"/>
            </a:avLst>
          </a:prstGeom>
          <a:solidFill>
            <a:srgbClr val="FFFFFF"/>
          </a:solidFill>
          <a:ln w="6350">
            <a:solidFill>
              <a:srgbClr val="D6DCE4"/>
            </a:solidFill>
            <a:prstDash val="solid"/>
          </a:ln>
        </p:spPr>
      </p:sp>
      <p:sp>
        <p:nvSpPr>
          <p:cNvPr id="19" name="Text 17"/>
          <p:cNvSpPr/>
          <p:nvPr/>
        </p:nvSpPr>
        <p:spPr>
          <a:xfrm>
            <a:off x="7571232" y="1984248"/>
            <a:ext cx="1901952"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TOP-5 CUSTOMERS</a:t>
            </a:r>
            <a:endParaRPr lang="en-US" sz="540" dirty="0"/>
          </a:p>
        </p:txBody>
      </p:sp>
      <p:sp>
        <p:nvSpPr>
          <p:cNvPr id="20" name="Text 18"/>
          <p:cNvSpPr/>
          <p:nvPr/>
        </p:nvSpPr>
        <p:spPr>
          <a:xfrm>
            <a:off x="7571232" y="2148840"/>
            <a:ext cx="1901952" cy="329184"/>
          </a:xfrm>
          <a:prstGeom prst="rect">
            <a:avLst/>
          </a:prstGeom>
          <a:noFill/>
          <a:ln/>
        </p:spPr>
        <p:txBody>
          <a:bodyPr wrap="square" lIns="0" tIns="0" rIns="0" bIns="0" rtlCol="0" anchor="ctr">
            <a:normAutofit/>
          </a:bodyPr>
          <a:lstStyle/>
          <a:p>
            <a:pPr indent="0" marL="0">
              <a:buNone/>
            </a:pPr>
            <a:r>
              <a:rPr lang="en-US" sz="2100" b="1" dirty="0">
                <a:solidFill>
                  <a:srgbClr val="B42318"/>
                </a:solidFill>
                <a:latin typeface="Aptos Display" pitchFamily="34" charset="0"/>
                <a:ea typeface="Aptos Display" pitchFamily="34" charset="-122"/>
                <a:cs typeface="Aptos Display" pitchFamily="34" charset="-120"/>
              </a:rPr>
              <a:t>79%</a:t>
            </a:r>
            <a:endParaRPr lang="en-US" sz="2100" dirty="0"/>
          </a:p>
        </p:txBody>
      </p:sp>
      <p:sp>
        <p:nvSpPr>
          <p:cNvPr id="21" name="Text 19"/>
          <p:cNvSpPr/>
          <p:nvPr/>
        </p:nvSpPr>
        <p:spPr>
          <a:xfrm>
            <a:off x="7571232" y="2487168"/>
            <a:ext cx="1901952"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of volume</a:t>
            </a:r>
            <a:endParaRPr lang="en-US" sz="650" dirty="0"/>
          </a:p>
        </p:txBody>
      </p:sp>
      <p:sp>
        <p:nvSpPr>
          <p:cNvPr id="22" name="Shape 20"/>
          <p:cNvSpPr/>
          <p:nvPr/>
        </p:nvSpPr>
        <p:spPr>
          <a:xfrm>
            <a:off x="9729216" y="1874520"/>
            <a:ext cx="2121408" cy="841248"/>
          </a:xfrm>
          <a:prstGeom prst="roundRect">
            <a:avLst>
              <a:gd name="adj" fmla="val 6522"/>
            </a:avLst>
          </a:prstGeom>
          <a:solidFill>
            <a:srgbClr val="FFFFFF"/>
          </a:solidFill>
          <a:ln w="6350">
            <a:solidFill>
              <a:srgbClr val="D6DCE4"/>
            </a:solidFill>
            <a:prstDash val="solid"/>
          </a:ln>
        </p:spPr>
      </p:sp>
      <p:sp>
        <p:nvSpPr>
          <p:cNvPr id="23" name="Text 21"/>
          <p:cNvSpPr/>
          <p:nvPr/>
        </p:nvSpPr>
        <p:spPr>
          <a:xfrm>
            <a:off x="9838944" y="1984248"/>
            <a:ext cx="1901952"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APRIL VOLUME</a:t>
            </a:r>
            <a:endParaRPr lang="en-US" sz="540" dirty="0"/>
          </a:p>
        </p:txBody>
      </p:sp>
      <p:sp>
        <p:nvSpPr>
          <p:cNvPr id="24" name="Text 22"/>
          <p:cNvSpPr/>
          <p:nvPr/>
        </p:nvSpPr>
        <p:spPr>
          <a:xfrm>
            <a:off x="9838944" y="2148840"/>
            <a:ext cx="1901952" cy="329184"/>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ptos Display" pitchFamily="34" charset="0"/>
                <a:ea typeface="Aptos Display" pitchFamily="34" charset="-122"/>
                <a:cs typeface="Aptos Display" pitchFamily="34" charset="-120"/>
              </a:rPr>
              <a:t>103K</a:t>
            </a:r>
            <a:endParaRPr lang="en-US" sz="2100" dirty="0"/>
          </a:p>
        </p:txBody>
      </p:sp>
      <p:sp>
        <p:nvSpPr>
          <p:cNvPr id="25" name="Text 23"/>
          <p:cNvSpPr/>
          <p:nvPr/>
        </p:nvSpPr>
        <p:spPr>
          <a:xfrm>
            <a:off x="9838944" y="2487168"/>
            <a:ext cx="1901952"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−41% vs March</a:t>
            </a:r>
            <a:endParaRPr lang="en-US" sz="650" dirty="0"/>
          </a:p>
        </p:txBody>
      </p:sp>
      <p:sp>
        <p:nvSpPr>
          <p:cNvPr id="26" name="Shape 24"/>
          <p:cNvSpPr/>
          <p:nvPr/>
        </p:nvSpPr>
        <p:spPr>
          <a:xfrm>
            <a:off x="658368" y="3090672"/>
            <a:ext cx="4160520" cy="2322576"/>
          </a:xfrm>
          <a:prstGeom prst="roundRect">
            <a:avLst>
              <a:gd name="adj" fmla="val 2362"/>
            </a:avLst>
          </a:prstGeom>
          <a:solidFill>
            <a:srgbClr val="071326"/>
          </a:solidFill>
          <a:ln w="12700">
            <a:solidFill>
              <a:srgbClr val="071326">
                <a:alpha val="0"/>
              </a:srgbClr>
            </a:solidFill>
            <a:prstDash val="solid"/>
          </a:ln>
        </p:spPr>
      </p:sp>
      <p:sp>
        <p:nvSpPr>
          <p:cNvPr id="27" name="Text 25"/>
          <p:cNvSpPr/>
          <p:nvPr/>
        </p:nvSpPr>
        <p:spPr>
          <a:xfrm>
            <a:off x="886968" y="3310128"/>
            <a:ext cx="1097280" cy="164592"/>
          </a:xfrm>
          <a:prstGeom prst="rect">
            <a:avLst/>
          </a:prstGeom>
          <a:noFill/>
          <a:ln/>
        </p:spPr>
        <p:txBody>
          <a:bodyPr wrap="square" lIns="0" tIns="0" rIns="0" bIns="0" rtlCol="0" anchor="ctr">
            <a:normAutofit/>
          </a:bodyPr>
          <a:lstStyle/>
          <a:p>
            <a:pPr indent="0" marL="0">
              <a:buNone/>
            </a:pPr>
            <a:r>
              <a:rPr lang="en-US" sz="650" b="1" dirty="0">
                <a:solidFill>
                  <a:srgbClr val="F6D0CB"/>
                </a:solidFill>
                <a:latin typeface="Aptos" pitchFamily="34" charset="0"/>
                <a:ea typeface="Aptos" pitchFamily="34" charset="-122"/>
                <a:cs typeface="Aptos" pitchFamily="34" charset="-120"/>
              </a:rPr>
              <a:t>SITUATION</a:t>
            </a:r>
            <a:endParaRPr lang="en-US" sz="650" dirty="0"/>
          </a:p>
        </p:txBody>
      </p:sp>
      <p:sp>
        <p:nvSpPr>
          <p:cNvPr id="28" name="Text 26"/>
          <p:cNvSpPr/>
          <p:nvPr/>
        </p:nvSpPr>
        <p:spPr>
          <a:xfrm>
            <a:off x="886968" y="3547872"/>
            <a:ext cx="3474720" cy="804672"/>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ptos Display" pitchFamily="34" charset="0"/>
                <a:ea typeface="Aptos Display" pitchFamily="34" charset="-122"/>
                <a:cs typeface="Aptos Display" pitchFamily="34" charset="-120"/>
              </a:rPr>
              <a:t>Operationally sound.</a:t>
            </a:r>
            <a:endParaRPr lang="en-US" sz="2000" dirty="0"/>
          </a:p>
          <a:p>
            <a:pPr indent="0" marL="0">
              <a:buNone/>
            </a:pPr>
            <a:r>
              <a:rPr lang="en-US" sz="2000" b="1" dirty="0">
                <a:solidFill>
                  <a:srgbClr val="FFFFFF"/>
                </a:solidFill>
                <a:latin typeface="Aptos Display" pitchFamily="34" charset="0"/>
                <a:ea typeface="Aptos Display" pitchFamily="34" charset="-122"/>
                <a:cs typeface="Aptos Display" pitchFamily="34" charset="-120"/>
              </a:rPr>
              <a:t>Financially thin.</a:t>
            </a:r>
            <a:endParaRPr lang="en-US" sz="2000" dirty="0"/>
          </a:p>
          <a:p>
            <a:pPr indent="0" marL="0">
              <a:buNone/>
            </a:pPr>
            <a:r>
              <a:rPr lang="en-US" sz="2000" b="1" dirty="0">
                <a:solidFill>
                  <a:srgbClr val="FFFFFF"/>
                </a:solidFill>
                <a:latin typeface="Aptos Display" pitchFamily="34" charset="0"/>
                <a:ea typeface="Aptos Display" pitchFamily="34" charset="-122"/>
                <a:cs typeface="Aptos Display" pitchFamily="34" charset="-120"/>
              </a:rPr>
              <a:t>Strategically over-concentrated.</a:t>
            </a:r>
            <a:endParaRPr lang="en-US" sz="2000" dirty="0"/>
          </a:p>
        </p:txBody>
      </p:sp>
      <p:sp>
        <p:nvSpPr>
          <p:cNvPr id="29" name="Text 27"/>
          <p:cNvSpPr/>
          <p:nvPr/>
        </p:nvSpPr>
        <p:spPr>
          <a:xfrm>
            <a:off x="886968" y="4608576"/>
            <a:ext cx="3520440" cy="384048"/>
          </a:xfrm>
          <a:prstGeom prst="rect">
            <a:avLst/>
          </a:prstGeom>
          <a:noFill/>
          <a:ln/>
        </p:spPr>
        <p:txBody>
          <a:bodyPr wrap="square" lIns="0" tIns="0" rIns="0" bIns="0" rtlCol="0" anchor="ctr">
            <a:normAutofit/>
          </a:bodyPr>
          <a:lstStyle/>
          <a:p>
            <a:pPr indent="0" marL="0">
              <a:buNone/>
            </a:pPr>
            <a:r>
              <a:rPr lang="en-US" sz="890" dirty="0">
                <a:solidFill>
                  <a:srgbClr val="D7DCE6"/>
                </a:solidFill>
                <a:latin typeface="Aptos" pitchFamily="34" charset="0"/>
                <a:ea typeface="Aptos" pitchFamily="34" charset="-122"/>
                <a:cs typeface="Aptos" pitchFamily="34" charset="-120"/>
              </a:rPr>
              <a:t>The right posture is not defensive. It is decisive: name the risks, assign owners, and approve the corrective levers.</a:t>
            </a:r>
            <a:endParaRPr lang="en-US" sz="890" dirty="0"/>
          </a:p>
        </p:txBody>
      </p:sp>
      <p:sp>
        <p:nvSpPr>
          <p:cNvPr id="30" name="Text 28"/>
          <p:cNvSpPr/>
          <p:nvPr/>
        </p:nvSpPr>
        <p:spPr>
          <a:xfrm>
            <a:off x="5193792" y="3127248"/>
            <a:ext cx="283464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DECISIONS REQUESTED TONIGHT</a:t>
            </a:r>
            <a:endParaRPr lang="en-US" sz="630" dirty="0"/>
          </a:p>
        </p:txBody>
      </p:sp>
      <p:sp>
        <p:nvSpPr>
          <p:cNvPr id="31" name="Shape 29"/>
          <p:cNvSpPr/>
          <p:nvPr/>
        </p:nvSpPr>
        <p:spPr>
          <a:xfrm>
            <a:off x="5138928" y="3383280"/>
            <a:ext cx="3072384" cy="804672"/>
          </a:xfrm>
          <a:prstGeom prst="roundRect">
            <a:avLst>
              <a:gd name="adj" fmla="val 6818"/>
            </a:avLst>
          </a:prstGeom>
          <a:solidFill>
            <a:srgbClr val="FFFFFF"/>
          </a:solidFill>
          <a:ln w="6985">
            <a:solidFill>
              <a:srgbClr val="D6DCE4"/>
            </a:solidFill>
            <a:prstDash val="solid"/>
          </a:ln>
        </p:spPr>
      </p:sp>
      <p:sp>
        <p:nvSpPr>
          <p:cNvPr id="32" name="Text 30"/>
          <p:cNvSpPr/>
          <p:nvPr/>
        </p:nvSpPr>
        <p:spPr>
          <a:xfrm>
            <a:off x="5266944" y="3493008"/>
            <a:ext cx="320040" cy="182880"/>
          </a:xfrm>
          <a:prstGeom prst="rect">
            <a:avLst/>
          </a:prstGeom>
          <a:noFill/>
          <a:ln/>
        </p:spPr>
        <p:txBody>
          <a:bodyPr wrap="square" lIns="0" tIns="0" rIns="0" bIns="0" rtlCol="0" anchor="ctr">
            <a:normAutofit/>
          </a:bodyPr>
          <a:lstStyle/>
          <a:p>
            <a:pPr indent="0" marL="0">
              <a:buNone/>
            </a:pPr>
            <a:r>
              <a:rPr lang="en-US" sz="900" b="1" dirty="0">
                <a:solidFill>
                  <a:srgbClr val="B42318"/>
                </a:solidFill>
                <a:latin typeface="Aptos Display" pitchFamily="34" charset="0"/>
                <a:ea typeface="Aptos Display" pitchFamily="34" charset="-122"/>
                <a:cs typeface="Aptos Display" pitchFamily="34" charset="-120"/>
              </a:rPr>
              <a:t>01</a:t>
            </a:r>
            <a:endParaRPr lang="en-US" sz="900" dirty="0"/>
          </a:p>
        </p:txBody>
      </p:sp>
      <p:sp>
        <p:nvSpPr>
          <p:cNvPr id="33" name="Text 31"/>
          <p:cNvSpPr/>
          <p:nvPr/>
        </p:nvSpPr>
        <p:spPr>
          <a:xfrm>
            <a:off x="5650992" y="3474720"/>
            <a:ext cx="2414016" cy="228600"/>
          </a:xfrm>
          <a:prstGeom prst="rect">
            <a:avLst/>
          </a:prstGeom>
          <a:noFill/>
          <a:ln/>
        </p:spPr>
        <p:txBody>
          <a:bodyPr wrap="square" lIns="0" tIns="0" rIns="0" bIns="0" rtlCol="0" anchor="ctr">
            <a:normAutofit/>
          </a:bodyPr>
          <a:lstStyle/>
          <a:p>
            <a:pPr indent="0" marL="0">
              <a:buNone/>
            </a:pPr>
            <a:r>
              <a:rPr lang="en-US" sz="1120" b="1" dirty="0">
                <a:solidFill>
                  <a:srgbClr val="111827"/>
                </a:solidFill>
                <a:latin typeface="Aptos Display" pitchFamily="34" charset="0"/>
                <a:ea typeface="Aptos Display" pitchFamily="34" charset="-122"/>
                <a:cs typeface="Aptos Display" pitchFamily="34" charset="-120"/>
              </a:rPr>
              <a:t>Close the margin gap</a:t>
            </a:r>
            <a:endParaRPr lang="en-US" sz="1120" dirty="0"/>
          </a:p>
        </p:txBody>
      </p:sp>
      <p:sp>
        <p:nvSpPr>
          <p:cNvPr id="34" name="Text 32"/>
          <p:cNvSpPr/>
          <p:nvPr/>
        </p:nvSpPr>
        <p:spPr>
          <a:xfrm>
            <a:off x="5650992" y="3767328"/>
            <a:ext cx="2414016" cy="329184"/>
          </a:xfrm>
          <a:prstGeom prst="rect">
            <a:avLst/>
          </a:prstGeom>
          <a:noFill/>
          <a:ln/>
        </p:spPr>
        <p:txBody>
          <a:bodyPr wrap="square" lIns="0" tIns="0" rIns="0" bIns="0" rtlCol="0" anchor="ctr">
            <a:normAutofit/>
          </a:bodyPr>
          <a:lstStyle/>
          <a:p>
            <a:pPr indent="0" marL="0">
              <a:buNone/>
            </a:pPr>
            <a:r>
              <a:rPr lang="en-US" sz="740" dirty="0">
                <a:solidFill>
                  <a:srgbClr val="475467"/>
                </a:solidFill>
                <a:latin typeface="Aptos" pitchFamily="34" charset="0"/>
                <a:ea typeface="Aptos" pitchFamily="34" charset="-122"/>
                <a:cs typeface="Aptos" pitchFamily="34" charset="-120"/>
              </a:rPr>
              <a:t>Approve a Commercial / Finance price-mix program. Target gross margin ≥22% within two quarters.</a:t>
            </a:r>
            <a:endParaRPr lang="en-US" sz="740" dirty="0"/>
          </a:p>
        </p:txBody>
      </p:sp>
      <p:sp>
        <p:nvSpPr>
          <p:cNvPr id="35" name="Shape 33"/>
          <p:cNvSpPr/>
          <p:nvPr/>
        </p:nvSpPr>
        <p:spPr>
          <a:xfrm>
            <a:off x="5138928" y="4279392"/>
            <a:ext cx="3072384" cy="804672"/>
          </a:xfrm>
          <a:prstGeom prst="roundRect">
            <a:avLst>
              <a:gd name="adj" fmla="val 6818"/>
            </a:avLst>
          </a:prstGeom>
          <a:solidFill>
            <a:srgbClr val="FFFFFF"/>
          </a:solidFill>
          <a:ln w="6985">
            <a:solidFill>
              <a:srgbClr val="D6DCE4"/>
            </a:solidFill>
            <a:prstDash val="solid"/>
          </a:ln>
        </p:spPr>
      </p:sp>
      <p:sp>
        <p:nvSpPr>
          <p:cNvPr id="36" name="Text 34"/>
          <p:cNvSpPr/>
          <p:nvPr/>
        </p:nvSpPr>
        <p:spPr>
          <a:xfrm>
            <a:off x="5266944" y="4389120"/>
            <a:ext cx="320040" cy="182880"/>
          </a:xfrm>
          <a:prstGeom prst="rect">
            <a:avLst/>
          </a:prstGeom>
          <a:noFill/>
          <a:ln/>
        </p:spPr>
        <p:txBody>
          <a:bodyPr wrap="square" lIns="0" tIns="0" rIns="0" bIns="0" rtlCol="0" anchor="ctr">
            <a:normAutofit/>
          </a:bodyPr>
          <a:lstStyle/>
          <a:p>
            <a:pPr indent="0" marL="0">
              <a:buNone/>
            </a:pPr>
            <a:r>
              <a:rPr lang="en-US" sz="900" b="1" dirty="0">
                <a:solidFill>
                  <a:srgbClr val="B42318"/>
                </a:solidFill>
                <a:latin typeface="Aptos Display" pitchFamily="34" charset="0"/>
                <a:ea typeface="Aptos Display" pitchFamily="34" charset="-122"/>
                <a:cs typeface="Aptos Display" pitchFamily="34" charset="-120"/>
              </a:rPr>
              <a:t>02</a:t>
            </a:r>
            <a:endParaRPr lang="en-US" sz="900" dirty="0"/>
          </a:p>
        </p:txBody>
      </p:sp>
      <p:sp>
        <p:nvSpPr>
          <p:cNvPr id="37" name="Text 35"/>
          <p:cNvSpPr/>
          <p:nvPr/>
        </p:nvSpPr>
        <p:spPr>
          <a:xfrm>
            <a:off x="5650992" y="4370832"/>
            <a:ext cx="2414016" cy="228600"/>
          </a:xfrm>
          <a:prstGeom prst="rect">
            <a:avLst/>
          </a:prstGeom>
          <a:noFill/>
          <a:ln/>
        </p:spPr>
        <p:txBody>
          <a:bodyPr wrap="square" lIns="0" tIns="0" rIns="0" bIns="0" rtlCol="0" anchor="ctr">
            <a:normAutofit/>
          </a:bodyPr>
          <a:lstStyle/>
          <a:p>
            <a:pPr indent="0" marL="0">
              <a:buNone/>
            </a:pPr>
            <a:r>
              <a:rPr lang="en-US" sz="1120" b="1" dirty="0">
                <a:solidFill>
                  <a:srgbClr val="111827"/>
                </a:solidFill>
                <a:latin typeface="Aptos Display" pitchFamily="34" charset="0"/>
                <a:ea typeface="Aptos Display" pitchFamily="34" charset="-122"/>
                <a:cs typeface="Aptos Display" pitchFamily="34" charset="-120"/>
              </a:rPr>
              <a:t>Protect working capital</a:t>
            </a:r>
            <a:endParaRPr lang="en-US" sz="1120" dirty="0"/>
          </a:p>
        </p:txBody>
      </p:sp>
      <p:sp>
        <p:nvSpPr>
          <p:cNvPr id="38" name="Text 36"/>
          <p:cNvSpPr/>
          <p:nvPr/>
        </p:nvSpPr>
        <p:spPr>
          <a:xfrm>
            <a:off x="5650992" y="4663440"/>
            <a:ext cx="2414016" cy="329184"/>
          </a:xfrm>
          <a:prstGeom prst="rect">
            <a:avLst/>
          </a:prstGeom>
          <a:noFill/>
          <a:ln/>
        </p:spPr>
        <p:txBody>
          <a:bodyPr wrap="square" lIns="0" tIns="0" rIns="0" bIns="0" rtlCol="0" anchor="ctr">
            <a:normAutofit/>
          </a:bodyPr>
          <a:lstStyle/>
          <a:p>
            <a:pPr indent="0" marL="0">
              <a:buNone/>
            </a:pPr>
            <a:r>
              <a:rPr lang="en-US" sz="740" dirty="0">
                <a:solidFill>
                  <a:srgbClr val="475467"/>
                </a:solidFill>
                <a:latin typeface="Aptos" pitchFamily="34" charset="0"/>
                <a:ea typeface="Aptos" pitchFamily="34" charset="-122"/>
                <a:cs typeface="Aptos" pitchFamily="34" charset="-120"/>
              </a:rPr>
              <a:t>Approve a 30/60/90 collections and vendor-terms plan. Target net working capital ≥$0 within 90 days.</a:t>
            </a:r>
            <a:endParaRPr lang="en-US" sz="740" dirty="0"/>
          </a:p>
        </p:txBody>
      </p:sp>
      <p:sp>
        <p:nvSpPr>
          <p:cNvPr id="39" name="Shape 37"/>
          <p:cNvSpPr/>
          <p:nvPr/>
        </p:nvSpPr>
        <p:spPr>
          <a:xfrm>
            <a:off x="5138928" y="5175504"/>
            <a:ext cx="3072384" cy="804672"/>
          </a:xfrm>
          <a:prstGeom prst="roundRect">
            <a:avLst>
              <a:gd name="adj" fmla="val 6818"/>
            </a:avLst>
          </a:prstGeom>
          <a:solidFill>
            <a:srgbClr val="FFFFFF"/>
          </a:solidFill>
          <a:ln w="6985">
            <a:solidFill>
              <a:srgbClr val="D6DCE4"/>
            </a:solidFill>
            <a:prstDash val="solid"/>
          </a:ln>
        </p:spPr>
      </p:sp>
      <p:sp>
        <p:nvSpPr>
          <p:cNvPr id="40" name="Text 38"/>
          <p:cNvSpPr/>
          <p:nvPr/>
        </p:nvSpPr>
        <p:spPr>
          <a:xfrm>
            <a:off x="5266944" y="5285232"/>
            <a:ext cx="320040" cy="182880"/>
          </a:xfrm>
          <a:prstGeom prst="rect">
            <a:avLst/>
          </a:prstGeom>
          <a:noFill/>
          <a:ln/>
        </p:spPr>
        <p:txBody>
          <a:bodyPr wrap="square" lIns="0" tIns="0" rIns="0" bIns="0" rtlCol="0" anchor="ctr">
            <a:normAutofit/>
          </a:bodyPr>
          <a:lstStyle/>
          <a:p>
            <a:pPr indent="0" marL="0">
              <a:buNone/>
            </a:pPr>
            <a:r>
              <a:rPr lang="en-US" sz="900" b="1" dirty="0">
                <a:solidFill>
                  <a:srgbClr val="B42318"/>
                </a:solidFill>
                <a:latin typeface="Aptos Display" pitchFamily="34" charset="0"/>
                <a:ea typeface="Aptos Display" pitchFamily="34" charset="-122"/>
                <a:cs typeface="Aptos Display" pitchFamily="34" charset="-120"/>
              </a:rPr>
              <a:t>03</a:t>
            </a:r>
            <a:endParaRPr lang="en-US" sz="900" dirty="0"/>
          </a:p>
        </p:txBody>
      </p:sp>
      <p:sp>
        <p:nvSpPr>
          <p:cNvPr id="41" name="Text 39"/>
          <p:cNvSpPr/>
          <p:nvPr/>
        </p:nvSpPr>
        <p:spPr>
          <a:xfrm>
            <a:off x="5650992" y="5266944"/>
            <a:ext cx="2414016" cy="228600"/>
          </a:xfrm>
          <a:prstGeom prst="rect">
            <a:avLst/>
          </a:prstGeom>
          <a:noFill/>
          <a:ln/>
        </p:spPr>
        <p:txBody>
          <a:bodyPr wrap="square" lIns="0" tIns="0" rIns="0" bIns="0" rtlCol="0" anchor="ctr">
            <a:normAutofit/>
          </a:bodyPr>
          <a:lstStyle/>
          <a:p>
            <a:pPr indent="0" marL="0">
              <a:buNone/>
            </a:pPr>
            <a:r>
              <a:rPr lang="en-US" sz="1120" b="1" dirty="0">
                <a:solidFill>
                  <a:srgbClr val="111827"/>
                </a:solidFill>
                <a:latin typeface="Aptos Display" pitchFamily="34" charset="0"/>
                <a:ea typeface="Aptos Display" pitchFamily="34" charset="-122"/>
                <a:cs typeface="Aptos Display" pitchFamily="34" charset="-120"/>
              </a:rPr>
              <a:t>Diversify the base</a:t>
            </a:r>
            <a:endParaRPr lang="en-US" sz="1120" dirty="0"/>
          </a:p>
        </p:txBody>
      </p:sp>
      <p:sp>
        <p:nvSpPr>
          <p:cNvPr id="42" name="Text 40"/>
          <p:cNvSpPr/>
          <p:nvPr/>
        </p:nvSpPr>
        <p:spPr>
          <a:xfrm>
            <a:off x="5650992" y="5559552"/>
            <a:ext cx="2414016" cy="329184"/>
          </a:xfrm>
          <a:prstGeom prst="rect">
            <a:avLst/>
          </a:prstGeom>
          <a:noFill/>
          <a:ln/>
        </p:spPr>
        <p:txBody>
          <a:bodyPr wrap="square" lIns="0" tIns="0" rIns="0" bIns="0" rtlCol="0" anchor="ctr">
            <a:normAutofit/>
          </a:bodyPr>
          <a:lstStyle/>
          <a:p>
            <a:pPr indent="0" marL="0">
              <a:buNone/>
            </a:pPr>
            <a:r>
              <a:rPr lang="en-US" sz="720" dirty="0">
                <a:solidFill>
                  <a:srgbClr val="475467"/>
                </a:solidFill>
                <a:latin typeface="Aptos" pitchFamily="34" charset="0"/>
                <a:ea typeface="Aptos" pitchFamily="34" charset="-122"/>
                <a:cs typeface="Aptos" pitchFamily="34" charset="-120"/>
              </a:rPr>
              <a:t>Set a top-5 ceiling ≤60% over four quarters and resolve intercompany classification before the next close.</a:t>
            </a:r>
            <a:endParaRPr lang="en-US" sz="720" dirty="0"/>
          </a:p>
        </p:txBody>
      </p:sp>
      <p:sp>
        <p:nvSpPr>
          <p:cNvPr id="43" name="Shape 41"/>
          <p:cNvSpPr/>
          <p:nvPr/>
        </p:nvSpPr>
        <p:spPr>
          <a:xfrm>
            <a:off x="8567928" y="3383280"/>
            <a:ext cx="2788920" cy="2596896"/>
          </a:xfrm>
          <a:prstGeom prst="roundRect">
            <a:avLst>
              <a:gd name="adj" fmla="val 2113"/>
            </a:avLst>
          </a:prstGeom>
          <a:solidFill>
            <a:srgbClr val="071326"/>
          </a:solidFill>
          <a:ln w="12700">
            <a:solidFill>
              <a:srgbClr val="071326">
                <a:alpha val="0"/>
              </a:srgbClr>
            </a:solidFill>
            <a:prstDash val="solid"/>
          </a:ln>
        </p:spPr>
      </p:sp>
      <p:sp>
        <p:nvSpPr>
          <p:cNvPr id="44" name="Text 42"/>
          <p:cNvSpPr/>
          <p:nvPr/>
        </p:nvSpPr>
        <p:spPr>
          <a:xfrm>
            <a:off x="8714232" y="3483864"/>
            <a:ext cx="2496312"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45" name="Text 43"/>
          <p:cNvSpPr/>
          <p:nvPr/>
        </p:nvSpPr>
        <p:spPr>
          <a:xfrm>
            <a:off x="8714232" y="3657600"/>
            <a:ext cx="2496312" cy="2286000"/>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Aptos" pitchFamily="34" charset="0"/>
                <a:ea typeface="Aptos" pitchFamily="34" charset="-122"/>
                <a:cs typeface="Aptos" pitchFamily="34" charset="-120"/>
              </a:rPr>
              <a:t>The board is not being asked to review the month. It is being asked to approve the three moves that de-risk enterprise value.</a:t>
            </a:r>
            <a:endParaRPr lang="en-US" sz="1000" dirty="0"/>
          </a:p>
        </p:txBody>
      </p:sp>
      <p:sp>
        <p:nvSpPr>
          <p:cNvPr id="46" name="Shape 44"/>
          <p:cNvSpPr/>
          <p:nvPr/>
        </p:nvSpPr>
        <p:spPr>
          <a:xfrm>
            <a:off x="530352" y="6419088"/>
            <a:ext cx="11130991" cy="0"/>
          </a:xfrm>
          <a:prstGeom prst="line">
            <a:avLst/>
          </a:prstGeom>
          <a:noFill/>
          <a:ln w="4445">
            <a:solidFill>
              <a:srgbClr val="D6DCE4"/>
            </a:solidFill>
            <a:prstDash val="solid"/>
          </a:ln>
        </p:spPr>
      </p:sp>
      <p:sp>
        <p:nvSpPr>
          <p:cNvPr id="47" name="Text 45"/>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48" name="Text 46"/>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02</a:t>
            </a:r>
            <a:endParaRPr lang="en-US" sz="6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881360" cy="493776"/>
          </a:xfrm>
          <a:prstGeom prst="rect">
            <a:avLst/>
          </a:prstGeom>
          <a:noFill/>
          <a:ln/>
        </p:spPr>
        <p:txBody>
          <a:bodyPr wrap="square" lIns="0" tIns="0" rIns="0" bIns="0" rtlCol="0" anchor="ctr">
            <a:normAutofit/>
          </a:bodyPr>
          <a:lstStyle/>
          <a:p>
            <a:pPr indent="0" marL="0">
              <a:buNone/>
            </a:pPr>
            <a:r>
              <a:rPr lang="en-US" sz="2420" b="1" dirty="0">
                <a:solidFill>
                  <a:srgbClr val="111827"/>
                </a:solidFill>
                <a:latin typeface="Aptos Display" pitchFamily="34" charset="0"/>
                <a:ea typeface="Aptos Display" pitchFamily="34" charset="-122"/>
                <a:cs typeface="Aptos Display" pitchFamily="34" charset="-120"/>
              </a:rPr>
              <a:t>The enterprise signal: bigger in volume, narrower in exposure</a:t>
            </a:r>
            <a:endParaRPr lang="en-US" sz="242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Scale rose while breadth and realized price fell — that is a concentration and valuation risk, not a pure growth story.</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Text 4"/>
          <p:cNvSpPr/>
          <p:nvPr/>
        </p:nvSpPr>
        <p:spPr>
          <a:xfrm>
            <a:off x="749808" y="1847088"/>
            <a:ext cx="182880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CUSTOMER BOOK TREND</a:t>
            </a:r>
            <a:endParaRPr lang="en-US" sz="630" dirty="0"/>
          </a:p>
        </p:txBody>
      </p:sp>
      <p:sp>
        <p:nvSpPr>
          <p:cNvPr id="7" name="Text 5"/>
          <p:cNvSpPr/>
          <p:nvPr/>
        </p:nvSpPr>
        <p:spPr>
          <a:xfrm>
            <a:off x="749808" y="2121408"/>
            <a:ext cx="1901952" cy="347472"/>
          </a:xfrm>
          <a:prstGeom prst="rect">
            <a:avLst/>
          </a:prstGeom>
          <a:noFill/>
          <a:ln/>
        </p:spPr>
        <p:txBody>
          <a:bodyPr wrap="square" lIns="0" tIns="0" rIns="0" bIns="0" rtlCol="0" anchor="ctr">
            <a:normAutofit/>
          </a:bodyPr>
          <a:lstStyle/>
          <a:p>
            <a:pPr algn="l" indent="0" marL="0">
              <a:buNone/>
            </a:pPr>
            <a:endParaRPr lang="en-US" sz="770" dirty="0"/>
          </a:p>
        </p:txBody>
      </p:sp>
      <p:sp>
        <p:nvSpPr>
          <p:cNvPr id="8" name="Text 6"/>
          <p:cNvSpPr/>
          <p:nvPr/>
        </p:nvSpPr>
        <p:spPr>
          <a:xfrm>
            <a:off x="2651760" y="2121408"/>
            <a:ext cx="1170432" cy="347472"/>
          </a:xfrm>
          <a:prstGeom prst="rect">
            <a:avLst/>
          </a:prstGeom>
          <a:noFill/>
          <a:ln/>
        </p:spPr>
        <p:txBody>
          <a:bodyPr wrap="square" lIns="0" tIns="0" rIns="0" bIns="0" rtlCol="0" anchor="ctr">
            <a:normAutofit/>
          </a:bodyPr>
          <a:lstStyle/>
          <a:p>
            <a:pPr algn="l" indent="0" marL="0">
              <a:buNone/>
            </a:pPr>
            <a:r>
              <a:rPr lang="en-US" sz="770" b="1" dirty="0">
                <a:solidFill>
                  <a:srgbClr val="475467"/>
                </a:solidFill>
                <a:latin typeface="Aptos" pitchFamily="34" charset="0"/>
                <a:ea typeface="Aptos" pitchFamily="34" charset="-122"/>
                <a:cs typeface="Aptos" pitchFamily="34" charset="-120"/>
              </a:rPr>
              <a:t>2023</a:t>
            </a:r>
            <a:endParaRPr lang="en-US" sz="770" dirty="0"/>
          </a:p>
        </p:txBody>
      </p:sp>
      <p:sp>
        <p:nvSpPr>
          <p:cNvPr id="9" name="Text 7"/>
          <p:cNvSpPr/>
          <p:nvPr/>
        </p:nvSpPr>
        <p:spPr>
          <a:xfrm>
            <a:off x="3822192" y="2121408"/>
            <a:ext cx="1170432" cy="347472"/>
          </a:xfrm>
          <a:prstGeom prst="rect">
            <a:avLst/>
          </a:prstGeom>
          <a:noFill/>
          <a:ln/>
        </p:spPr>
        <p:txBody>
          <a:bodyPr wrap="square" lIns="0" tIns="0" rIns="0" bIns="0" rtlCol="0" anchor="ctr">
            <a:normAutofit/>
          </a:bodyPr>
          <a:lstStyle/>
          <a:p>
            <a:pPr algn="l" indent="0" marL="0">
              <a:buNone/>
            </a:pPr>
            <a:r>
              <a:rPr lang="en-US" sz="770" b="1" dirty="0">
                <a:solidFill>
                  <a:srgbClr val="475467"/>
                </a:solidFill>
                <a:latin typeface="Aptos" pitchFamily="34" charset="0"/>
                <a:ea typeface="Aptos" pitchFamily="34" charset="-122"/>
                <a:cs typeface="Aptos" pitchFamily="34" charset="-120"/>
              </a:rPr>
              <a:t>2024</a:t>
            </a:r>
            <a:endParaRPr lang="en-US" sz="770" dirty="0"/>
          </a:p>
        </p:txBody>
      </p:sp>
      <p:sp>
        <p:nvSpPr>
          <p:cNvPr id="10" name="Text 8"/>
          <p:cNvSpPr/>
          <p:nvPr/>
        </p:nvSpPr>
        <p:spPr>
          <a:xfrm>
            <a:off x="4992624" y="2121408"/>
            <a:ext cx="1170432" cy="347472"/>
          </a:xfrm>
          <a:prstGeom prst="rect">
            <a:avLst/>
          </a:prstGeom>
          <a:noFill/>
          <a:ln/>
        </p:spPr>
        <p:txBody>
          <a:bodyPr wrap="square" lIns="0" tIns="0" rIns="0" bIns="0" rtlCol="0" anchor="ctr">
            <a:normAutofit/>
          </a:bodyPr>
          <a:lstStyle/>
          <a:p>
            <a:pPr algn="l" indent="0" marL="0">
              <a:buNone/>
            </a:pPr>
            <a:r>
              <a:rPr lang="en-US" sz="770" b="1" dirty="0">
                <a:solidFill>
                  <a:srgbClr val="475467"/>
                </a:solidFill>
                <a:latin typeface="Aptos" pitchFamily="34" charset="0"/>
                <a:ea typeface="Aptos" pitchFamily="34" charset="-122"/>
                <a:cs typeface="Aptos" pitchFamily="34" charset="-120"/>
              </a:rPr>
              <a:t>2025</a:t>
            </a:r>
            <a:endParaRPr lang="en-US" sz="770" dirty="0"/>
          </a:p>
        </p:txBody>
      </p:sp>
      <p:sp>
        <p:nvSpPr>
          <p:cNvPr id="11" name="Text 9"/>
          <p:cNvSpPr/>
          <p:nvPr/>
        </p:nvSpPr>
        <p:spPr>
          <a:xfrm>
            <a:off x="6163056" y="2121408"/>
            <a:ext cx="1170432" cy="347472"/>
          </a:xfrm>
          <a:prstGeom prst="rect">
            <a:avLst/>
          </a:prstGeom>
          <a:noFill/>
          <a:ln/>
        </p:spPr>
        <p:txBody>
          <a:bodyPr wrap="square" lIns="0" tIns="0" rIns="0" bIns="0" rtlCol="0" anchor="ctr">
            <a:normAutofit/>
          </a:bodyPr>
          <a:lstStyle/>
          <a:p>
            <a:pPr algn="l" indent="0" marL="0">
              <a:buNone/>
            </a:pPr>
            <a:r>
              <a:rPr lang="en-US" sz="770" b="1" dirty="0">
                <a:solidFill>
                  <a:srgbClr val="475467"/>
                </a:solidFill>
                <a:latin typeface="Aptos" pitchFamily="34" charset="0"/>
                <a:ea typeface="Aptos" pitchFamily="34" charset="-122"/>
                <a:cs typeface="Aptos" pitchFamily="34" charset="-120"/>
              </a:rPr>
              <a:t>2026 YTD</a:t>
            </a:r>
            <a:endParaRPr lang="en-US" sz="770" dirty="0"/>
          </a:p>
        </p:txBody>
      </p:sp>
      <p:sp>
        <p:nvSpPr>
          <p:cNvPr id="12" name="Shape 10"/>
          <p:cNvSpPr/>
          <p:nvPr/>
        </p:nvSpPr>
        <p:spPr>
          <a:xfrm>
            <a:off x="749808" y="2441448"/>
            <a:ext cx="6583680" cy="0"/>
          </a:xfrm>
          <a:prstGeom prst="line">
            <a:avLst/>
          </a:prstGeom>
          <a:noFill/>
          <a:ln w="5080">
            <a:solidFill>
              <a:srgbClr val="D6DCE4"/>
            </a:solidFill>
            <a:prstDash val="solid"/>
          </a:ln>
        </p:spPr>
      </p:sp>
      <p:sp>
        <p:nvSpPr>
          <p:cNvPr id="13" name="Text 11"/>
          <p:cNvSpPr/>
          <p:nvPr/>
        </p:nvSpPr>
        <p:spPr>
          <a:xfrm>
            <a:off x="749808" y="2596896"/>
            <a:ext cx="190195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Customers</a:t>
            </a:r>
            <a:endParaRPr lang="en-US" sz="1400" dirty="0"/>
          </a:p>
        </p:txBody>
      </p:sp>
      <p:sp>
        <p:nvSpPr>
          <p:cNvPr id="14" name="Text 12"/>
          <p:cNvSpPr/>
          <p:nvPr/>
        </p:nvSpPr>
        <p:spPr>
          <a:xfrm>
            <a:off x="2651760" y="259689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311</a:t>
            </a:r>
            <a:endParaRPr lang="en-US" sz="1400" dirty="0"/>
          </a:p>
        </p:txBody>
      </p:sp>
      <p:sp>
        <p:nvSpPr>
          <p:cNvPr id="15" name="Text 13"/>
          <p:cNvSpPr/>
          <p:nvPr/>
        </p:nvSpPr>
        <p:spPr>
          <a:xfrm>
            <a:off x="3822192" y="259689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294</a:t>
            </a:r>
            <a:endParaRPr lang="en-US" sz="1400" dirty="0"/>
          </a:p>
        </p:txBody>
      </p:sp>
      <p:sp>
        <p:nvSpPr>
          <p:cNvPr id="16" name="Text 14"/>
          <p:cNvSpPr/>
          <p:nvPr/>
        </p:nvSpPr>
        <p:spPr>
          <a:xfrm>
            <a:off x="4992624" y="259689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104</a:t>
            </a:r>
            <a:endParaRPr lang="en-US" sz="1400" dirty="0"/>
          </a:p>
        </p:txBody>
      </p:sp>
      <p:sp>
        <p:nvSpPr>
          <p:cNvPr id="17" name="Text 15"/>
          <p:cNvSpPr/>
          <p:nvPr/>
        </p:nvSpPr>
        <p:spPr>
          <a:xfrm>
            <a:off x="6163056" y="259689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55</a:t>
            </a:r>
            <a:endParaRPr lang="en-US" sz="1400" dirty="0"/>
          </a:p>
        </p:txBody>
      </p:sp>
      <p:sp>
        <p:nvSpPr>
          <p:cNvPr id="18" name="Shape 16"/>
          <p:cNvSpPr/>
          <p:nvPr/>
        </p:nvSpPr>
        <p:spPr>
          <a:xfrm>
            <a:off x="749808" y="2990088"/>
            <a:ext cx="6583680" cy="0"/>
          </a:xfrm>
          <a:prstGeom prst="line">
            <a:avLst/>
          </a:prstGeom>
          <a:noFill/>
          <a:ln w="5080">
            <a:solidFill>
              <a:srgbClr val="D6DCE4"/>
            </a:solidFill>
            <a:prstDash val="solid"/>
          </a:ln>
        </p:spPr>
      </p:sp>
      <p:sp>
        <p:nvSpPr>
          <p:cNvPr id="19" name="Text 17"/>
          <p:cNvSpPr/>
          <p:nvPr/>
        </p:nvSpPr>
        <p:spPr>
          <a:xfrm>
            <a:off x="749808" y="3145536"/>
            <a:ext cx="190195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Top-5 share</a:t>
            </a:r>
            <a:endParaRPr lang="en-US" sz="1400" dirty="0"/>
          </a:p>
        </p:txBody>
      </p:sp>
      <p:sp>
        <p:nvSpPr>
          <p:cNvPr id="20" name="Text 18"/>
          <p:cNvSpPr/>
          <p:nvPr/>
        </p:nvSpPr>
        <p:spPr>
          <a:xfrm>
            <a:off x="2651760" y="314553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37%</a:t>
            </a:r>
            <a:endParaRPr lang="en-US" sz="1400" dirty="0"/>
          </a:p>
        </p:txBody>
      </p:sp>
      <p:sp>
        <p:nvSpPr>
          <p:cNvPr id="21" name="Text 19"/>
          <p:cNvSpPr/>
          <p:nvPr/>
        </p:nvSpPr>
        <p:spPr>
          <a:xfrm>
            <a:off x="3822192" y="314553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43%</a:t>
            </a:r>
            <a:endParaRPr lang="en-US" sz="1400" dirty="0"/>
          </a:p>
        </p:txBody>
      </p:sp>
      <p:sp>
        <p:nvSpPr>
          <p:cNvPr id="22" name="Text 20"/>
          <p:cNvSpPr/>
          <p:nvPr/>
        </p:nvSpPr>
        <p:spPr>
          <a:xfrm>
            <a:off x="4992624" y="314553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72%</a:t>
            </a:r>
            <a:endParaRPr lang="en-US" sz="1400" dirty="0"/>
          </a:p>
        </p:txBody>
      </p:sp>
      <p:sp>
        <p:nvSpPr>
          <p:cNvPr id="23" name="Text 21"/>
          <p:cNvSpPr/>
          <p:nvPr/>
        </p:nvSpPr>
        <p:spPr>
          <a:xfrm>
            <a:off x="6163056" y="314553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79%</a:t>
            </a:r>
            <a:endParaRPr lang="en-US" sz="1400" dirty="0"/>
          </a:p>
        </p:txBody>
      </p:sp>
      <p:sp>
        <p:nvSpPr>
          <p:cNvPr id="24" name="Shape 22"/>
          <p:cNvSpPr/>
          <p:nvPr/>
        </p:nvSpPr>
        <p:spPr>
          <a:xfrm>
            <a:off x="749808" y="3538728"/>
            <a:ext cx="6583680" cy="0"/>
          </a:xfrm>
          <a:prstGeom prst="line">
            <a:avLst/>
          </a:prstGeom>
          <a:noFill/>
          <a:ln w="5080">
            <a:solidFill>
              <a:srgbClr val="D6DCE4"/>
            </a:solidFill>
            <a:prstDash val="solid"/>
          </a:ln>
        </p:spPr>
      </p:sp>
      <p:sp>
        <p:nvSpPr>
          <p:cNvPr id="25" name="Text 23"/>
          <p:cNvSpPr/>
          <p:nvPr/>
        </p:nvSpPr>
        <p:spPr>
          <a:xfrm>
            <a:off x="749808" y="3694176"/>
            <a:ext cx="190195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Realized $/gal</a:t>
            </a:r>
            <a:endParaRPr lang="en-US" sz="1400" dirty="0"/>
          </a:p>
        </p:txBody>
      </p:sp>
      <p:sp>
        <p:nvSpPr>
          <p:cNvPr id="26" name="Text 24"/>
          <p:cNvSpPr/>
          <p:nvPr/>
        </p:nvSpPr>
        <p:spPr>
          <a:xfrm>
            <a:off x="2651760" y="369417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$15.55</a:t>
            </a:r>
            <a:endParaRPr lang="en-US" sz="1400" dirty="0"/>
          </a:p>
        </p:txBody>
      </p:sp>
      <p:sp>
        <p:nvSpPr>
          <p:cNvPr id="27" name="Text 25"/>
          <p:cNvSpPr/>
          <p:nvPr/>
        </p:nvSpPr>
        <p:spPr>
          <a:xfrm>
            <a:off x="3822192" y="369417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$15.01</a:t>
            </a:r>
            <a:endParaRPr lang="en-US" sz="1400" dirty="0"/>
          </a:p>
        </p:txBody>
      </p:sp>
      <p:sp>
        <p:nvSpPr>
          <p:cNvPr id="28" name="Text 26"/>
          <p:cNvSpPr/>
          <p:nvPr/>
        </p:nvSpPr>
        <p:spPr>
          <a:xfrm>
            <a:off x="4992624" y="369417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$10.45</a:t>
            </a:r>
            <a:endParaRPr lang="en-US" sz="1400" dirty="0"/>
          </a:p>
        </p:txBody>
      </p:sp>
      <p:sp>
        <p:nvSpPr>
          <p:cNvPr id="29" name="Text 27"/>
          <p:cNvSpPr/>
          <p:nvPr/>
        </p:nvSpPr>
        <p:spPr>
          <a:xfrm>
            <a:off x="6163056" y="369417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$10.36</a:t>
            </a:r>
            <a:endParaRPr lang="en-US" sz="1400" dirty="0"/>
          </a:p>
        </p:txBody>
      </p:sp>
      <p:sp>
        <p:nvSpPr>
          <p:cNvPr id="30" name="Text 28"/>
          <p:cNvSpPr/>
          <p:nvPr/>
        </p:nvSpPr>
        <p:spPr>
          <a:xfrm>
            <a:off x="8156448" y="1847088"/>
            <a:ext cx="137160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WHAT CHANGED</a:t>
            </a:r>
            <a:endParaRPr lang="en-US" sz="630" dirty="0"/>
          </a:p>
        </p:txBody>
      </p:sp>
      <p:sp>
        <p:nvSpPr>
          <p:cNvPr id="31" name="Text 29"/>
          <p:cNvSpPr/>
          <p:nvPr/>
        </p:nvSpPr>
        <p:spPr>
          <a:xfrm>
            <a:off x="8156448" y="2176272"/>
            <a:ext cx="2606040" cy="438912"/>
          </a:xfrm>
          <a:prstGeom prst="rect">
            <a:avLst/>
          </a:prstGeom>
          <a:noFill/>
          <a:ln/>
        </p:spPr>
        <p:txBody>
          <a:bodyPr wrap="square" lIns="0" tIns="0" rIns="0" bIns="0" rtlCol="0" anchor="ctr">
            <a:normAutofit/>
          </a:bodyPr>
          <a:lstStyle/>
          <a:p>
            <a:pPr indent="0" marL="0">
              <a:buNone/>
            </a:pPr>
            <a:r>
              <a:rPr lang="en-US" sz="2800" b="1" dirty="0">
                <a:solidFill>
                  <a:srgbClr val="B42318"/>
                </a:solidFill>
                <a:latin typeface="Aptos Display" pitchFamily="34" charset="0"/>
                <a:ea typeface="Aptos Display" pitchFamily="34" charset="-122"/>
                <a:cs typeface="Aptos Display" pitchFamily="34" charset="-120"/>
              </a:rPr>
              <a:t>−82%</a:t>
            </a:r>
            <a:endParaRPr lang="en-US" sz="2800" dirty="0"/>
          </a:p>
        </p:txBody>
      </p:sp>
      <p:sp>
        <p:nvSpPr>
          <p:cNvPr id="32" name="Text 30"/>
          <p:cNvSpPr/>
          <p:nvPr/>
        </p:nvSpPr>
        <p:spPr>
          <a:xfrm>
            <a:off x="8156448" y="2651760"/>
            <a:ext cx="2606040" cy="256032"/>
          </a:xfrm>
          <a:prstGeom prst="rect">
            <a:avLst/>
          </a:prstGeom>
          <a:noFill/>
          <a:ln/>
        </p:spPr>
        <p:txBody>
          <a:bodyPr wrap="square" lIns="0" tIns="0" rIns="0" bIns="0" rtlCol="0" anchor="ctr">
            <a:normAutofit/>
          </a:bodyPr>
          <a:lstStyle/>
          <a:p>
            <a:pPr indent="0" marL="0">
              <a:buNone/>
            </a:pPr>
            <a:r>
              <a:rPr lang="en-US" sz="850" dirty="0">
                <a:solidFill>
                  <a:srgbClr val="475467"/>
                </a:solidFill>
                <a:latin typeface="Aptos" pitchFamily="34" charset="0"/>
                <a:ea typeface="Aptos" pitchFamily="34" charset="-122"/>
                <a:cs typeface="Aptos" pitchFamily="34" charset="-120"/>
              </a:rPr>
              <a:t>customer count since 2023</a:t>
            </a:r>
            <a:endParaRPr lang="en-US" sz="850" dirty="0"/>
          </a:p>
        </p:txBody>
      </p:sp>
      <p:sp>
        <p:nvSpPr>
          <p:cNvPr id="33" name="Text 31"/>
          <p:cNvSpPr/>
          <p:nvPr/>
        </p:nvSpPr>
        <p:spPr>
          <a:xfrm>
            <a:off x="8156448" y="3218688"/>
            <a:ext cx="2606040" cy="438912"/>
          </a:xfrm>
          <a:prstGeom prst="rect">
            <a:avLst/>
          </a:prstGeom>
          <a:noFill/>
          <a:ln/>
        </p:spPr>
        <p:txBody>
          <a:bodyPr wrap="square" lIns="0" tIns="0" rIns="0" bIns="0" rtlCol="0" anchor="ctr">
            <a:normAutofit/>
          </a:bodyPr>
          <a:lstStyle/>
          <a:p>
            <a:pPr indent="0" marL="0">
              <a:buNone/>
            </a:pPr>
            <a:r>
              <a:rPr lang="en-US" sz="2800" b="1" dirty="0">
                <a:solidFill>
                  <a:srgbClr val="B42318"/>
                </a:solidFill>
                <a:latin typeface="Aptos Display" pitchFamily="34" charset="0"/>
                <a:ea typeface="Aptos Display" pitchFamily="34" charset="-122"/>
                <a:cs typeface="Aptos Display" pitchFamily="34" charset="-120"/>
              </a:rPr>
              <a:t>+42 pts</a:t>
            </a:r>
            <a:endParaRPr lang="en-US" sz="2800" dirty="0"/>
          </a:p>
        </p:txBody>
      </p:sp>
      <p:sp>
        <p:nvSpPr>
          <p:cNvPr id="34" name="Text 32"/>
          <p:cNvSpPr/>
          <p:nvPr/>
        </p:nvSpPr>
        <p:spPr>
          <a:xfrm>
            <a:off x="8156448" y="3694176"/>
            <a:ext cx="2606040" cy="256032"/>
          </a:xfrm>
          <a:prstGeom prst="rect">
            <a:avLst/>
          </a:prstGeom>
          <a:noFill/>
          <a:ln/>
        </p:spPr>
        <p:txBody>
          <a:bodyPr wrap="square" lIns="0" tIns="0" rIns="0" bIns="0" rtlCol="0" anchor="ctr">
            <a:normAutofit/>
          </a:bodyPr>
          <a:lstStyle/>
          <a:p>
            <a:pPr indent="0" marL="0">
              <a:buNone/>
            </a:pPr>
            <a:r>
              <a:rPr lang="en-US" sz="850" dirty="0">
                <a:solidFill>
                  <a:srgbClr val="475467"/>
                </a:solidFill>
                <a:latin typeface="Aptos" pitchFamily="34" charset="0"/>
                <a:ea typeface="Aptos" pitchFamily="34" charset="-122"/>
                <a:cs typeface="Aptos" pitchFamily="34" charset="-120"/>
              </a:rPr>
              <a:t>top-5 concentration since 2023</a:t>
            </a:r>
            <a:endParaRPr lang="en-US" sz="850" dirty="0"/>
          </a:p>
        </p:txBody>
      </p:sp>
      <p:sp>
        <p:nvSpPr>
          <p:cNvPr id="35" name="Text 33"/>
          <p:cNvSpPr/>
          <p:nvPr/>
        </p:nvSpPr>
        <p:spPr>
          <a:xfrm>
            <a:off x="8156448" y="4261104"/>
            <a:ext cx="2743200" cy="438912"/>
          </a:xfrm>
          <a:prstGeom prst="rect">
            <a:avLst/>
          </a:prstGeom>
          <a:noFill/>
          <a:ln/>
        </p:spPr>
        <p:txBody>
          <a:bodyPr wrap="square" lIns="0" tIns="0" rIns="0" bIns="0" rtlCol="0" anchor="ctr">
            <a:normAutofit/>
          </a:bodyPr>
          <a:lstStyle/>
          <a:p>
            <a:pPr indent="0" marL="0">
              <a:buNone/>
            </a:pPr>
            <a:r>
              <a:rPr lang="en-US" sz="2800" b="1" dirty="0">
                <a:solidFill>
                  <a:srgbClr val="B42318"/>
                </a:solidFill>
                <a:latin typeface="Aptos Display" pitchFamily="34" charset="0"/>
                <a:ea typeface="Aptos Display" pitchFamily="34" charset="-122"/>
                <a:cs typeface="Aptos Display" pitchFamily="34" charset="-120"/>
              </a:rPr>
              <a:t>−33%</a:t>
            </a:r>
            <a:endParaRPr lang="en-US" sz="2800" dirty="0"/>
          </a:p>
        </p:txBody>
      </p:sp>
      <p:sp>
        <p:nvSpPr>
          <p:cNvPr id="36" name="Text 34"/>
          <p:cNvSpPr/>
          <p:nvPr/>
        </p:nvSpPr>
        <p:spPr>
          <a:xfrm>
            <a:off x="8156448" y="4736592"/>
            <a:ext cx="2743200" cy="256032"/>
          </a:xfrm>
          <a:prstGeom prst="rect">
            <a:avLst/>
          </a:prstGeom>
          <a:noFill/>
          <a:ln/>
        </p:spPr>
        <p:txBody>
          <a:bodyPr wrap="square" lIns="0" tIns="0" rIns="0" bIns="0" rtlCol="0" anchor="ctr">
            <a:normAutofit/>
          </a:bodyPr>
          <a:lstStyle/>
          <a:p>
            <a:pPr indent="0" marL="0">
              <a:buNone/>
            </a:pPr>
            <a:r>
              <a:rPr lang="en-US" sz="850" dirty="0">
                <a:solidFill>
                  <a:srgbClr val="475467"/>
                </a:solidFill>
                <a:latin typeface="Aptos" pitchFamily="34" charset="0"/>
                <a:ea typeface="Aptos" pitchFamily="34" charset="-122"/>
                <a:cs typeface="Aptos" pitchFamily="34" charset="-120"/>
              </a:rPr>
              <a:t>realized price per gallon since 2023</a:t>
            </a:r>
            <a:endParaRPr lang="en-US" sz="850" dirty="0"/>
          </a:p>
        </p:txBody>
      </p:sp>
      <p:sp>
        <p:nvSpPr>
          <p:cNvPr id="37" name="Shape 35"/>
          <p:cNvSpPr/>
          <p:nvPr/>
        </p:nvSpPr>
        <p:spPr>
          <a:xfrm>
            <a:off x="749808" y="5632704"/>
            <a:ext cx="10588752" cy="475488"/>
          </a:xfrm>
          <a:prstGeom prst="roundRect">
            <a:avLst>
              <a:gd name="adj" fmla="val 11538"/>
            </a:avLst>
          </a:prstGeom>
          <a:solidFill>
            <a:srgbClr val="FFFFFF"/>
          </a:solidFill>
          <a:ln w="6350">
            <a:solidFill>
              <a:srgbClr val="D6DCE4"/>
            </a:solidFill>
            <a:prstDash val="solid"/>
          </a:ln>
        </p:spPr>
      </p:sp>
      <p:sp>
        <p:nvSpPr>
          <p:cNvPr id="38" name="Text 36"/>
          <p:cNvSpPr/>
          <p:nvPr/>
        </p:nvSpPr>
        <p:spPr>
          <a:xfrm>
            <a:off x="868680" y="5724144"/>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39" name="Text 37"/>
          <p:cNvSpPr/>
          <p:nvPr/>
        </p:nvSpPr>
        <p:spPr>
          <a:xfrm>
            <a:off x="2167128" y="5733288"/>
            <a:ext cx="8988552" cy="310896"/>
          </a:xfrm>
          <a:prstGeom prst="rect">
            <a:avLst/>
          </a:prstGeom>
          <a:noFill/>
          <a:ln/>
        </p:spPr>
        <p:txBody>
          <a:bodyPr wrap="square" lIns="0" tIns="0" rIns="0" bIns="0"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Set top-5 ≤60% over four quarters and add external-account growth targets. Concentration at 79% suppresses resilience and enterprise value.</a:t>
            </a:r>
            <a:endParaRPr lang="en-US" sz="820" dirty="0"/>
          </a:p>
        </p:txBody>
      </p:sp>
      <p:sp>
        <p:nvSpPr>
          <p:cNvPr id="40" name="Shape 38"/>
          <p:cNvSpPr/>
          <p:nvPr/>
        </p:nvSpPr>
        <p:spPr>
          <a:xfrm>
            <a:off x="530352" y="6419088"/>
            <a:ext cx="11130991" cy="0"/>
          </a:xfrm>
          <a:prstGeom prst="line">
            <a:avLst/>
          </a:prstGeom>
          <a:noFill/>
          <a:ln w="4445">
            <a:solidFill>
              <a:srgbClr val="D6DCE4"/>
            </a:solidFill>
            <a:prstDash val="solid"/>
          </a:ln>
        </p:spPr>
      </p:sp>
      <p:sp>
        <p:nvSpPr>
          <p:cNvPr id="41" name="Text 39"/>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42" name="Text 40"/>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03</a:t>
            </a:r>
            <a:endParaRPr lang="en-US" sz="6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698480" cy="493776"/>
          </a:xfrm>
          <a:prstGeom prst="rect">
            <a:avLst/>
          </a:prstGeom>
          <a:noFill/>
          <a:ln/>
        </p:spPr>
        <p:txBody>
          <a:bodyPr wrap="square" lIns="0" tIns="0" rIns="0" bIns="0" rtlCol="0" anchor="ctr">
            <a:normAutofit/>
          </a:bodyPr>
          <a:lstStyle/>
          <a:p>
            <a:pPr indent="0" marL="0">
              <a:buNone/>
            </a:pPr>
            <a:r>
              <a:rPr lang="en-US" sz="2420" b="1" dirty="0">
                <a:solidFill>
                  <a:srgbClr val="111827"/>
                </a:solidFill>
                <a:latin typeface="Aptos Display" pitchFamily="34" charset="0"/>
                <a:ea typeface="Aptos Display" pitchFamily="34" charset="-122"/>
                <a:cs typeface="Aptos Display" pitchFamily="34" charset="-120"/>
              </a:rPr>
              <a:t>Margin is recovering, but still below the value-creation line</a:t>
            </a:r>
            <a:endParaRPr lang="en-US" sz="242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At this revenue base, every gross-margin point is roughly $95K of gross profit — the lever is material.</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847088"/>
            <a:ext cx="2423160" cy="841248"/>
          </a:xfrm>
          <a:prstGeom prst="roundRect">
            <a:avLst>
              <a:gd name="adj" fmla="val 6522"/>
            </a:avLst>
          </a:prstGeom>
          <a:solidFill>
            <a:srgbClr val="FFFFFF"/>
          </a:solidFill>
          <a:ln w="6350">
            <a:solidFill>
              <a:srgbClr val="D6DCE4"/>
            </a:solidFill>
            <a:prstDash val="solid"/>
          </a:ln>
        </p:spPr>
      </p:sp>
      <p:sp>
        <p:nvSpPr>
          <p:cNvPr id="7" name="Text 5"/>
          <p:cNvSpPr/>
          <p:nvPr/>
        </p:nvSpPr>
        <p:spPr>
          <a:xfrm>
            <a:off x="859536" y="1956816"/>
            <a:ext cx="220370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TTM GROSS MARGIN</a:t>
            </a:r>
            <a:endParaRPr lang="en-US" sz="540" dirty="0"/>
          </a:p>
        </p:txBody>
      </p:sp>
      <p:sp>
        <p:nvSpPr>
          <p:cNvPr id="8" name="Text 6"/>
          <p:cNvSpPr/>
          <p:nvPr/>
        </p:nvSpPr>
        <p:spPr>
          <a:xfrm>
            <a:off x="859536" y="2121408"/>
            <a:ext cx="2203704" cy="329184"/>
          </a:xfrm>
          <a:prstGeom prst="rect">
            <a:avLst/>
          </a:prstGeom>
          <a:noFill/>
          <a:ln/>
        </p:spPr>
        <p:txBody>
          <a:bodyPr wrap="square" lIns="0" tIns="0" rIns="0" bIns="0" rtlCol="0" anchor="ctr">
            <a:normAutofit/>
          </a:bodyPr>
          <a:lstStyle/>
          <a:p>
            <a:pPr indent="0" marL="0">
              <a:buNone/>
            </a:pPr>
            <a:r>
              <a:rPr lang="en-US" sz="2600" b="1" dirty="0">
                <a:solidFill>
                  <a:srgbClr val="B42318"/>
                </a:solidFill>
                <a:latin typeface="Aptos Display" pitchFamily="34" charset="0"/>
                <a:ea typeface="Aptos Display" pitchFamily="34" charset="-122"/>
                <a:cs typeface="Aptos Display" pitchFamily="34" charset="-120"/>
              </a:rPr>
              <a:t>18.2%</a:t>
            </a:r>
            <a:endParaRPr lang="en-US" sz="2600" dirty="0"/>
          </a:p>
        </p:txBody>
      </p:sp>
      <p:sp>
        <p:nvSpPr>
          <p:cNvPr id="9" name="Text 7"/>
          <p:cNvSpPr/>
          <p:nvPr/>
        </p:nvSpPr>
        <p:spPr>
          <a:xfrm>
            <a:off x="859536" y="2459736"/>
            <a:ext cx="220370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vs 25% reference</a:t>
            </a:r>
            <a:endParaRPr lang="en-US" sz="650" dirty="0"/>
          </a:p>
        </p:txBody>
      </p:sp>
      <p:sp>
        <p:nvSpPr>
          <p:cNvPr id="10" name="Shape 8"/>
          <p:cNvSpPr/>
          <p:nvPr/>
        </p:nvSpPr>
        <p:spPr>
          <a:xfrm>
            <a:off x="3401568" y="1847088"/>
            <a:ext cx="2423160" cy="841248"/>
          </a:xfrm>
          <a:prstGeom prst="roundRect">
            <a:avLst>
              <a:gd name="adj" fmla="val 6522"/>
            </a:avLst>
          </a:prstGeom>
          <a:solidFill>
            <a:srgbClr val="FFFFFF"/>
          </a:solidFill>
          <a:ln w="6350">
            <a:solidFill>
              <a:srgbClr val="D6DCE4"/>
            </a:solidFill>
            <a:prstDash val="solid"/>
          </a:ln>
        </p:spPr>
      </p:sp>
      <p:sp>
        <p:nvSpPr>
          <p:cNvPr id="11" name="Text 9"/>
          <p:cNvSpPr/>
          <p:nvPr/>
        </p:nvSpPr>
        <p:spPr>
          <a:xfrm>
            <a:off x="3511296" y="1956816"/>
            <a:ext cx="220370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APRIL MARGIN</a:t>
            </a:r>
            <a:endParaRPr lang="en-US" sz="540" dirty="0"/>
          </a:p>
        </p:txBody>
      </p:sp>
      <p:sp>
        <p:nvSpPr>
          <p:cNvPr id="12" name="Text 10"/>
          <p:cNvSpPr/>
          <p:nvPr/>
        </p:nvSpPr>
        <p:spPr>
          <a:xfrm>
            <a:off x="3511296" y="2121408"/>
            <a:ext cx="2203704" cy="329184"/>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19.6%</a:t>
            </a:r>
            <a:endParaRPr lang="en-US" sz="2600" dirty="0"/>
          </a:p>
        </p:txBody>
      </p:sp>
      <p:sp>
        <p:nvSpPr>
          <p:cNvPr id="13" name="Text 11"/>
          <p:cNvSpPr/>
          <p:nvPr/>
        </p:nvSpPr>
        <p:spPr>
          <a:xfrm>
            <a:off x="3511296" y="2459736"/>
            <a:ext cx="220370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recovered from 14.6% in March</a:t>
            </a:r>
            <a:endParaRPr lang="en-US" sz="650" dirty="0"/>
          </a:p>
        </p:txBody>
      </p:sp>
      <p:sp>
        <p:nvSpPr>
          <p:cNvPr id="14" name="Shape 12"/>
          <p:cNvSpPr/>
          <p:nvPr/>
        </p:nvSpPr>
        <p:spPr>
          <a:xfrm>
            <a:off x="6053328" y="1847088"/>
            <a:ext cx="2423160" cy="841248"/>
          </a:xfrm>
          <a:prstGeom prst="roundRect">
            <a:avLst>
              <a:gd name="adj" fmla="val 6522"/>
            </a:avLst>
          </a:prstGeom>
          <a:solidFill>
            <a:srgbClr val="FFFFFF"/>
          </a:solidFill>
          <a:ln w="6350">
            <a:solidFill>
              <a:srgbClr val="D6DCE4"/>
            </a:solidFill>
            <a:prstDash val="solid"/>
          </a:ln>
        </p:spPr>
      </p:sp>
      <p:sp>
        <p:nvSpPr>
          <p:cNvPr id="15" name="Text 13"/>
          <p:cNvSpPr/>
          <p:nvPr/>
        </p:nvSpPr>
        <p:spPr>
          <a:xfrm>
            <a:off x="6163056" y="1956816"/>
            <a:ext cx="220370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GROSS PROFIT SENSITIVITY</a:t>
            </a:r>
            <a:endParaRPr lang="en-US" sz="540" dirty="0"/>
          </a:p>
        </p:txBody>
      </p:sp>
      <p:sp>
        <p:nvSpPr>
          <p:cNvPr id="16" name="Text 14"/>
          <p:cNvSpPr/>
          <p:nvPr/>
        </p:nvSpPr>
        <p:spPr>
          <a:xfrm>
            <a:off x="6163056" y="2121408"/>
            <a:ext cx="2203704" cy="329184"/>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≈$95K</a:t>
            </a:r>
            <a:endParaRPr lang="en-US" sz="2600" dirty="0"/>
          </a:p>
        </p:txBody>
      </p:sp>
      <p:sp>
        <p:nvSpPr>
          <p:cNvPr id="17" name="Text 15"/>
          <p:cNvSpPr/>
          <p:nvPr/>
        </p:nvSpPr>
        <p:spPr>
          <a:xfrm>
            <a:off x="6163056" y="2459736"/>
            <a:ext cx="220370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per 1pt of GM</a:t>
            </a:r>
            <a:endParaRPr lang="en-US" sz="650" dirty="0"/>
          </a:p>
        </p:txBody>
      </p:sp>
      <p:sp>
        <p:nvSpPr>
          <p:cNvPr id="18" name="Shape 16"/>
          <p:cNvSpPr/>
          <p:nvPr/>
        </p:nvSpPr>
        <p:spPr>
          <a:xfrm>
            <a:off x="8705088" y="1847088"/>
            <a:ext cx="2423160" cy="841248"/>
          </a:xfrm>
          <a:prstGeom prst="roundRect">
            <a:avLst>
              <a:gd name="adj" fmla="val 6522"/>
            </a:avLst>
          </a:prstGeom>
          <a:solidFill>
            <a:srgbClr val="FFFFFF"/>
          </a:solidFill>
          <a:ln w="6350">
            <a:solidFill>
              <a:srgbClr val="D6DCE4"/>
            </a:solidFill>
            <a:prstDash val="solid"/>
          </a:ln>
        </p:spPr>
      </p:sp>
      <p:sp>
        <p:nvSpPr>
          <p:cNvPr id="19" name="Text 17"/>
          <p:cNvSpPr/>
          <p:nvPr/>
        </p:nvSpPr>
        <p:spPr>
          <a:xfrm>
            <a:off x="8814816" y="1956816"/>
            <a:ext cx="220370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TWO-QUARTER TARGET</a:t>
            </a:r>
            <a:endParaRPr lang="en-US" sz="540" dirty="0"/>
          </a:p>
        </p:txBody>
      </p:sp>
      <p:sp>
        <p:nvSpPr>
          <p:cNvPr id="20" name="Text 18"/>
          <p:cNvSpPr/>
          <p:nvPr/>
        </p:nvSpPr>
        <p:spPr>
          <a:xfrm>
            <a:off x="8814816" y="2121408"/>
            <a:ext cx="2203704" cy="329184"/>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≥22%</a:t>
            </a:r>
            <a:endParaRPr lang="en-US" sz="2600" dirty="0"/>
          </a:p>
        </p:txBody>
      </p:sp>
      <p:sp>
        <p:nvSpPr>
          <p:cNvPr id="21" name="Text 19"/>
          <p:cNvSpPr/>
          <p:nvPr/>
        </p:nvSpPr>
        <p:spPr>
          <a:xfrm>
            <a:off x="8814816" y="2459736"/>
            <a:ext cx="220370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monthly review cadence</a:t>
            </a:r>
            <a:endParaRPr lang="en-US" sz="650" dirty="0"/>
          </a:p>
        </p:txBody>
      </p:sp>
      <p:sp>
        <p:nvSpPr>
          <p:cNvPr id="22" name="Text 20"/>
          <p:cNvSpPr/>
          <p:nvPr/>
        </p:nvSpPr>
        <p:spPr>
          <a:xfrm>
            <a:off x="749808" y="3246120"/>
            <a:ext cx="182880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GROSS MARGIN BRIDGE</a:t>
            </a:r>
            <a:endParaRPr lang="en-US" sz="630" dirty="0"/>
          </a:p>
        </p:txBody>
      </p:sp>
      <p:sp>
        <p:nvSpPr>
          <p:cNvPr id="23" name="Text 21"/>
          <p:cNvSpPr/>
          <p:nvPr/>
        </p:nvSpPr>
        <p:spPr>
          <a:xfrm>
            <a:off x="749808" y="3593592"/>
            <a:ext cx="7863840" cy="164592"/>
          </a:xfrm>
          <a:prstGeom prst="rect">
            <a:avLst/>
          </a:prstGeom>
          <a:noFill/>
          <a:ln/>
        </p:spPr>
        <p:txBody>
          <a:bodyPr wrap="square" lIns="0" tIns="0" rIns="0" bIns="0" rtlCol="0" anchor="ctr">
            <a:normAutofit/>
          </a:bodyPr>
          <a:lstStyle/>
          <a:p>
            <a:pPr indent="0" marL="0">
              <a:buNone/>
            </a:pPr>
            <a:r>
              <a:rPr lang="en-US" sz="620" b="1" dirty="0">
                <a:solidFill>
                  <a:srgbClr val="475467"/>
                </a:solidFill>
                <a:latin typeface="Aptos" pitchFamily="34" charset="0"/>
                <a:ea typeface="Aptos" pitchFamily="34" charset="-122"/>
                <a:cs typeface="Aptos" pitchFamily="34" charset="-120"/>
              </a:rPr>
              <a:t>TTM gross margin vs reference</a:t>
            </a:r>
            <a:endParaRPr lang="en-US" sz="620" dirty="0"/>
          </a:p>
        </p:txBody>
      </p:sp>
      <p:sp>
        <p:nvSpPr>
          <p:cNvPr id="24" name="Shape 22"/>
          <p:cNvSpPr/>
          <p:nvPr/>
        </p:nvSpPr>
        <p:spPr>
          <a:xfrm>
            <a:off x="749808" y="3822192"/>
            <a:ext cx="7863840" cy="292608"/>
          </a:xfrm>
          <a:prstGeom prst="rect">
            <a:avLst/>
          </a:prstGeom>
          <a:solidFill>
            <a:srgbClr val="F2F4F7"/>
          </a:solidFill>
          <a:ln w="2540">
            <a:solidFill>
              <a:srgbClr val="D6DCE4"/>
            </a:solidFill>
            <a:prstDash val="solid"/>
          </a:ln>
        </p:spPr>
      </p:sp>
      <p:sp>
        <p:nvSpPr>
          <p:cNvPr id="25" name="Shape 23"/>
          <p:cNvSpPr/>
          <p:nvPr/>
        </p:nvSpPr>
        <p:spPr>
          <a:xfrm>
            <a:off x="749808" y="3822192"/>
            <a:ext cx="5724876" cy="292608"/>
          </a:xfrm>
          <a:prstGeom prst="rect">
            <a:avLst/>
          </a:prstGeom>
          <a:solidFill>
            <a:srgbClr val="B42318"/>
          </a:solidFill>
          <a:ln w="2540">
            <a:solidFill>
              <a:srgbClr val="B42318"/>
            </a:solidFill>
            <a:prstDash val="solid"/>
          </a:ln>
        </p:spPr>
      </p:sp>
      <p:sp>
        <p:nvSpPr>
          <p:cNvPr id="26" name="Text 24"/>
          <p:cNvSpPr/>
          <p:nvPr/>
        </p:nvSpPr>
        <p:spPr>
          <a:xfrm>
            <a:off x="6063204" y="3858768"/>
            <a:ext cx="365760" cy="137160"/>
          </a:xfrm>
          <a:prstGeom prst="rect">
            <a:avLst/>
          </a:prstGeom>
          <a:noFill/>
          <a:ln/>
        </p:spPr>
        <p:txBody>
          <a:bodyPr wrap="square" lIns="0" tIns="0" rIns="0" bIns="0" rtlCol="0" anchor="ctr">
            <a:normAutofit/>
          </a:bodyPr>
          <a:lstStyle/>
          <a:p>
            <a:pPr algn="r" indent="0" marL="0">
              <a:buNone/>
            </a:pPr>
            <a:r>
              <a:rPr lang="en-US" sz="580" b="1" dirty="0">
                <a:solidFill>
                  <a:srgbClr val="FFFFFF"/>
                </a:solidFill>
                <a:latin typeface="Aptos" pitchFamily="34" charset="0"/>
                <a:ea typeface="Aptos" pitchFamily="34" charset="-122"/>
                <a:cs typeface="Aptos" pitchFamily="34" charset="-120"/>
              </a:rPr>
              <a:t>18.2%</a:t>
            </a:r>
            <a:endParaRPr lang="en-US" sz="580" dirty="0"/>
          </a:p>
        </p:txBody>
      </p:sp>
      <p:sp>
        <p:nvSpPr>
          <p:cNvPr id="27" name="Shape 25"/>
          <p:cNvSpPr/>
          <p:nvPr/>
        </p:nvSpPr>
        <p:spPr>
          <a:xfrm>
            <a:off x="8613648" y="3794760"/>
            <a:ext cx="0" cy="347472"/>
          </a:xfrm>
          <a:prstGeom prst="line">
            <a:avLst/>
          </a:prstGeom>
          <a:noFill/>
          <a:ln w="12700">
            <a:solidFill>
              <a:srgbClr val="111827"/>
            </a:solidFill>
            <a:prstDash val="solid"/>
          </a:ln>
        </p:spPr>
      </p:sp>
      <p:sp>
        <p:nvSpPr>
          <p:cNvPr id="28" name="Text 26"/>
          <p:cNvSpPr/>
          <p:nvPr/>
        </p:nvSpPr>
        <p:spPr>
          <a:xfrm>
            <a:off x="8110728" y="4123944"/>
            <a:ext cx="594360" cy="137160"/>
          </a:xfrm>
          <a:prstGeom prst="rect">
            <a:avLst/>
          </a:prstGeom>
          <a:noFill/>
          <a:ln/>
        </p:spPr>
        <p:txBody>
          <a:bodyPr wrap="square" lIns="0" tIns="0" rIns="0" bIns="0" rtlCol="0" anchor="ctr">
            <a:normAutofit/>
          </a:bodyPr>
          <a:lstStyle/>
          <a:p>
            <a:pPr algn="ctr" indent="0" marL="0">
              <a:buNone/>
            </a:pPr>
            <a:r>
              <a:rPr lang="en-US" sz="550" dirty="0">
                <a:solidFill>
                  <a:srgbClr val="475467"/>
                </a:solidFill>
                <a:latin typeface="Aptos" pitchFamily="34" charset="0"/>
                <a:ea typeface="Aptos" pitchFamily="34" charset="-122"/>
                <a:cs typeface="Aptos" pitchFamily="34" charset="-120"/>
              </a:rPr>
              <a:t>25% ref</a:t>
            </a:r>
            <a:endParaRPr lang="en-US" sz="550" dirty="0"/>
          </a:p>
        </p:txBody>
      </p:sp>
      <p:sp>
        <p:nvSpPr>
          <p:cNvPr id="29" name="Text 27"/>
          <p:cNvSpPr/>
          <p:nvPr/>
        </p:nvSpPr>
        <p:spPr>
          <a:xfrm>
            <a:off x="749808" y="4608576"/>
            <a:ext cx="7863840" cy="420624"/>
          </a:xfrm>
          <a:prstGeom prst="rect">
            <a:avLst/>
          </a:prstGeom>
          <a:noFill/>
          <a:ln/>
        </p:spPr>
        <p:txBody>
          <a:bodyPr wrap="square" lIns="0" tIns="0" rIns="0" bIns="0" rtlCol="0" anchor="ctr">
            <a:normAutofit/>
          </a:bodyPr>
          <a:lstStyle/>
          <a:p>
            <a:pPr indent="0" marL="0">
              <a:buNone/>
            </a:pPr>
            <a:r>
              <a:rPr lang="en-US" sz="1500" b="1" dirty="0">
                <a:solidFill>
                  <a:srgbClr val="111827"/>
                </a:solidFill>
                <a:latin typeface="Aptos Display" pitchFamily="34" charset="0"/>
                <a:ea typeface="Aptos Display" pitchFamily="34" charset="-122"/>
                <a:cs typeface="Aptos Display" pitchFamily="34" charset="-120"/>
              </a:rPr>
              <a:t>The margin gap is a price / mix and classification problem until proven otherwise — not a plant-capability problem.</a:t>
            </a:r>
            <a:endParaRPr lang="en-US" sz="1500" dirty="0"/>
          </a:p>
        </p:txBody>
      </p:sp>
      <p:sp>
        <p:nvSpPr>
          <p:cNvPr id="30" name="Text 28"/>
          <p:cNvSpPr/>
          <p:nvPr/>
        </p:nvSpPr>
        <p:spPr>
          <a:xfrm>
            <a:off x="749808" y="5102352"/>
            <a:ext cx="8046720" cy="310896"/>
          </a:xfrm>
          <a:prstGeom prst="rect">
            <a:avLst/>
          </a:prstGeom>
          <a:noFill/>
          <a:ln/>
        </p:spPr>
        <p:txBody>
          <a:bodyPr wrap="square" lIns="0" tIns="0" rIns="0" bIns="0" rtlCol="0" anchor="ctr">
            <a:normAutofit/>
          </a:bodyPr>
          <a:lstStyle/>
          <a:p>
            <a:pPr indent="0" marL="0">
              <a:buNone/>
            </a:pPr>
            <a:r>
              <a:rPr lang="en-US" sz="860" dirty="0">
                <a:solidFill>
                  <a:srgbClr val="475467"/>
                </a:solidFill>
                <a:latin typeface="Aptos" pitchFamily="34" charset="0"/>
                <a:ea typeface="Aptos" pitchFamily="34" charset="-122"/>
                <a:cs typeface="Aptos" pitchFamily="34" charset="-120"/>
              </a:rPr>
              <a:t>Required management work: SKU/customer margin bridge, intercompany pricing treatment, batch-size economics, and external-account price discipline.</a:t>
            </a:r>
            <a:endParaRPr lang="en-US" sz="860" dirty="0"/>
          </a:p>
        </p:txBody>
      </p:sp>
      <p:sp>
        <p:nvSpPr>
          <p:cNvPr id="31" name="Shape 29"/>
          <p:cNvSpPr/>
          <p:nvPr/>
        </p:nvSpPr>
        <p:spPr>
          <a:xfrm>
            <a:off x="9144000" y="3520440"/>
            <a:ext cx="2212848" cy="1938528"/>
          </a:xfrm>
          <a:prstGeom prst="roundRect">
            <a:avLst>
              <a:gd name="adj" fmla="val 2830"/>
            </a:avLst>
          </a:prstGeom>
          <a:solidFill>
            <a:srgbClr val="071326"/>
          </a:solidFill>
          <a:ln w="12700">
            <a:solidFill>
              <a:srgbClr val="071326">
                <a:alpha val="0"/>
              </a:srgbClr>
            </a:solidFill>
            <a:prstDash val="solid"/>
          </a:ln>
        </p:spPr>
      </p:sp>
      <p:sp>
        <p:nvSpPr>
          <p:cNvPr id="32" name="Text 30"/>
          <p:cNvSpPr/>
          <p:nvPr/>
        </p:nvSpPr>
        <p:spPr>
          <a:xfrm>
            <a:off x="9290304" y="3621024"/>
            <a:ext cx="1920240"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33" name="Text 31"/>
          <p:cNvSpPr/>
          <p:nvPr/>
        </p:nvSpPr>
        <p:spPr>
          <a:xfrm>
            <a:off x="9290304" y="3794760"/>
            <a:ext cx="1920240" cy="1627632"/>
          </a:xfrm>
          <a:prstGeom prst="rect">
            <a:avLst/>
          </a:prstGeom>
          <a:noFill/>
          <a:ln/>
        </p:spPr>
        <p:txBody>
          <a:bodyPr wrap="square" lIns="0" tIns="0" rIns="0" bIns="0" rtlCol="0" anchor="ctr">
            <a:normAutofit/>
          </a:bodyPr>
          <a:lstStyle/>
          <a:p>
            <a:pPr indent="0" marL="0">
              <a:buNone/>
            </a:pPr>
            <a:r>
              <a:rPr lang="en-US" sz="930" b="1" dirty="0">
                <a:solidFill>
                  <a:srgbClr val="FFFFFF"/>
                </a:solidFill>
                <a:latin typeface="Aptos" pitchFamily="34" charset="0"/>
                <a:ea typeface="Aptos" pitchFamily="34" charset="-122"/>
                <a:cs typeface="Aptos" pitchFamily="34" charset="-120"/>
              </a:rPr>
              <a:t>Near-break-even earnings will persist until margin is managed as a board-level value driver, not an accounting outcome.</a:t>
            </a:r>
            <a:endParaRPr lang="en-US" sz="930" dirty="0"/>
          </a:p>
        </p:txBody>
      </p:sp>
      <p:sp>
        <p:nvSpPr>
          <p:cNvPr id="34" name="Shape 32"/>
          <p:cNvSpPr/>
          <p:nvPr/>
        </p:nvSpPr>
        <p:spPr>
          <a:xfrm>
            <a:off x="749808" y="5724144"/>
            <a:ext cx="10588752" cy="475488"/>
          </a:xfrm>
          <a:prstGeom prst="roundRect">
            <a:avLst>
              <a:gd name="adj" fmla="val 11538"/>
            </a:avLst>
          </a:prstGeom>
          <a:solidFill>
            <a:srgbClr val="FFFFFF"/>
          </a:solidFill>
          <a:ln w="6350">
            <a:solidFill>
              <a:srgbClr val="D6DCE4"/>
            </a:solidFill>
            <a:prstDash val="solid"/>
          </a:ln>
        </p:spPr>
      </p:sp>
      <p:sp>
        <p:nvSpPr>
          <p:cNvPr id="35" name="Text 33"/>
          <p:cNvSpPr/>
          <p:nvPr/>
        </p:nvSpPr>
        <p:spPr>
          <a:xfrm>
            <a:off x="868680" y="5815584"/>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36" name="Text 34"/>
          <p:cNvSpPr/>
          <p:nvPr/>
        </p:nvSpPr>
        <p:spPr>
          <a:xfrm>
            <a:off x="2167128" y="5824728"/>
            <a:ext cx="8988552" cy="310896"/>
          </a:xfrm>
          <a:prstGeom prst="rect">
            <a:avLst/>
          </a:prstGeom>
          <a:noFill/>
          <a:ln/>
        </p:spPr>
        <p:txBody>
          <a:bodyPr wrap="square" lIns="0" tIns="0" rIns="0" bIns="0" rtlCol="0" anchor="ctr">
            <a:normAutofit/>
          </a:bodyPr>
          <a:lstStyle/>
          <a:p>
            <a:pPr indent="0" marL="0">
              <a:buNone/>
            </a:pPr>
            <a:r>
              <a:rPr lang="en-US" sz="840" dirty="0">
                <a:solidFill>
                  <a:srgbClr val="111827"/>
                </a:solidFill>
                <a:latin typeface="Aptos" pitchFamily="34" charset="0"/>
                <a:ea typeface="Aptos" pitchFamily="34" charset="-122"/>
                <a:cs typeface="Aptos" pitchFamily="34" charset="-120"/>
              </a:rPr>
              <a:t>Approve Commercial / Finance price-mix program. Target GM ≥22% within two quarters; report monthly by SKU, customer, and channel.</a:t>
            </a:r>
            <a:endParaRPr lang="en-US" sz="840" dirty="0"/>
          </a:p>
        </p:txBody>
      </p:sp>
      <p:sp>
        <p:nvSpPr>
          <p:cNvPr id="37" name="Shape 35"/>
          <p:cNvSpPr/>
          <p:nvPr/>
        </p:nvSpPr>
        <p:spPr>
          <a:xfrm>
            <a:off x="530352" y="6419088"/>
            <a:ext cx="11130991" cy="0"/>
          </a:xfrm>
          <a:prstGeom prst="line">
            <a:avLst/>
          </a:prstGeom>
          <a:noFill/>
          <a:ln w="4445">
            <a:solidFill>
              <a:srgbClr val="D6DCE4"/>
            </a:solidFill>
            <a:prstDash val="solid"/>
          </a:ln>
        </p:spPr>
      </p:sp>
      <p:sp>
        <p:nvSpPr>
          <p:cNvPr id="38" name="Text 36"/>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39" name="Text 37"/>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04</a:t>
            </a:r>
            <a:endParaRPr lang="en-US" sz="6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698480" cy="493776"/>
          </a:xfrm>
          <a:prstGeom prst="rect">
            <a:avLst/>
          </a:prstGeom>
          <a:noFill/>
          <a:ln/>
        </p:spPr>
        <p:txBody>
          <a:bodyPr wrap="square" lIns="0" tIns="0" rIns="0" bIns="0" rtlCol="0" anchor="ctr">
            <a:normAutofit/>
          </a:bodyPr>
          <a:lstStyle/>
          <a:p>
            <a:pPr indent="0" marL="0">
              <a:buNone/>
            </a:pPr>
            <a:r>
              <a:rPr lang="en-US" sz="2420" b="1" dirty="0">
                <a:solidFill>
                  <a:srgbClr val="111827"/>
                </a:solidFill>
                <a:latin typeface="Aptos Display" pitchFamily="34" charset="0"/>
                <a:ea typeface="Aptos Display" pitchFamily="34" charset="-122"/>
                <a:cs typeface="Aptos Display" pitchFamily="34" charset="-120"/>
              </a:rPr>
              <a:t>Vendor credit is carrying part of the operating cycle</a:t>
            </a:r>
            <a:endParaRPr lang="en-US" sz="242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AP exceeds AR by roughly $202K; the plan makes vendor reliance a managed choice, not a default.</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Text 4"/>
          <p:cNvSpPr/>
          <p:nvPr/>
        </p:nvSpPr>
        <p:spPr>
          <a:xfrm>
            <a:off x="777240" y="1920240"/>
            <a:ext cx="2926080" cy="438912"/>
          </a:xfrm>
          <a:prstGeom prst="rect">
            <a:avLst/>
          </a:prstGeom>
          <a:noFill/>
          <a:ln/>
        </p:spPr>
        <p:txBody>
          <a:bodyPr wrap="square" lIns="0" tIns="0" rIns="0" bIns="0" rtlCol="0" anchor="ctr">
            <a:normAutofit/>
          </a:bodyPr>
          <a:lstStyle/>
          <a:p>
            <a:pPr indent="0" marL="0">
              <a:buNone/>
            </a:pPr>
            <a:r>
              <a:rPr lang="en-US" sz="3400" b="1" dirty="0">
                <a:solidFill>
                  <a:srgbClr val="B42318"/>
                </a:solidFill>
                <a:latin typeface="Aptos Display" pitchFamily="34" charset="0"/>
                <a:ea typeface="Aptos Display" pitchFamily="34" charset="-122"/>
                <a:cs typeface="Aptos Display" pitchFamily="34" charset="-120"/>
              </a:rPr>
              <a:t>−$201,816</a:t>
            </a:r>
            <a:endParaRPr lang="en-US" sz="3400" dirty="0"/>
          </a:p>
        </p:txBody>
      </p:sp>
      <p:sp>
        <p:nvSpPr>
          <p:cNvPr id="7" name="Text 5"/>
          <p:cNvSpPr/>
          <p:nvPr/>
        </p:nvSpPr>
        <p:spPr>
          <a:xfrm>
            <a:off x="777240" y="2395728"/>
            <a:ext cx="2926080" cy="256032"/>
          </a:xfrm>
          <a:prstGeom prst="rect">
            <a:avLst/>
          </a:prstGeom>
          <a:noFill/>
          <a:ln/>
        </p:spPr>
        <p:txBody>
          <a:bodyPr wrap="square" lIns="0" tIns="0" rIns="0" bIns="0" rtlCol="0" anchor="ctr">
            <a:normAutofit/>
          </a:bodyPr>
          <a:lstStyle/>
          <a:p>
            <a:pPr indent="0" marL="0">
              <a:buNone/>
            </a:pPr>
            <a:r>
              <a:rPr lang="en-US" sz="920" dirty="0">
                <a:solidFill>
                  <a:srgbClr val="475467"/>
                </a:solidFill>
                <a:latin typeface="Aptos" pitchFamily="34" charset="0"/>
                <a:ea typeface="Aptos" pitchFamily="34" charset="-122"/>
                <a:cs typeface="Aptos" pitchFamily="34" charset="-120"/>
              </a:rPr>
              <a:t>net working capital</a:t>
            </a:r>
            <a:endParaRPr lang="en-US" sz="920" dirty="0"/>
          </a:p>
        </p:txBody>
      </p:sp>
      <p:sp>
        <p:nvSpPr>
          <p:cNvPr id="8" name="Text 6"/>
          <p:cNvSpPr/>
          <p:nvPr/>
        </p:nvSpPr>
        <p:spPr>
          <a:xfrm>
            <a:off x="804672" y="3035808"/>
            <a:ext cx="2514600" cy="658368"/>
          </a:xfrm>
          <a:prstGeom prst="rect">
            <a:avLst/>
          </a:prstGeom>
          <a:noFill/>
          <a:ln/>
        </p:spPr>
        <p:txBody>
          <a:bodyPr wrap="square" lIns="0" tIns="0" rIns="0" bIns="0" rtlCol="0" anchor="ctr">
            <a:normAutofit/>
          </a:bodyPr>
          <a:lstStyle/>
          <a:p>
            <a:pPr indent="0" marL="0">
              <a:buNone/>
            </a:pPr>
            <a:r>
              <a:rPr lang="en-US" sz="1380" b="1" dirty="0">
                <a:solidFill>
                  <a:srgbClr val="111827"/>
                </a:solidFill>
                <a:latin typeface="Aptos" pitchFamily="34" charset="0"/>
                <a:ea typeface="Aptos" pitchFamily="34" charset="-122"/>
                <a:cs typeface="Aptos" pitchFamily="34" charset="-120"/>
              </a:rPr>
              <a:t>AR $731,611</a:t>
            </a:r>
            <a:endParaRPr lang="en-US" sz="1380" dirty="0"/>
          </a:p>
          <a:p>
            <a:pPr indent="0" marL="0">
              <a:buNone/>
            </a:pPr>
            <a:r>
              <a:rPr lang="en-US" sz="1380" b="1" dirty="0">
                <a:solidFill>
                  <a:srgbClr val="111827"/>
                </a:solidFill>
                <a:latin typeface="Aptos" pitchFamily="34" charset="0"/>
                <a:ea typeface="Aptos" pitchFamily="34" charset="-122"/>
                <a:cs typeface="Aptos" pitchFamily="34" charset="-120"/>
              </a:rPr>
              <a:t>AP $933,427</a:t>
            </a:r>
            <a:endParaRPr lang="en-US" sz="1380" dirty="0"/>
          </a:p>
          <a:p>
            <a:pPr indent="0" marL="0">
              <a:buNone/>
            </a:pPr>
            <a:r>
              <a:rPr lang="en-US" sz="1380" b="1" dirty="0">
                <a:solidFill>
                  <a:srgbClr val="111827"/>
                </a:solidFill>
                <a:latin typeface="Aptos" pitchFamily="34" charset="0"/>
                <a:ea typeface="Aptos" pitchFamily="34" charset="-122"/>
                <a:cs typeface="Aptos" pitchFamily="34" charset="-120"/>
              </a:rPr>
              <a:t>AP / AR = 1.3×</a:t>
            </a:r>
            <a:endParaRPr lang="en-US" sz="1380" dirty="0"/>
          </a:p>
        </p:txBody>
      </p:sp>
      <p:sp>
        <p:nvSpPr>
          <p:cNvPr id="9" name="Text 7"/>
          <p:cNvSpPr/>
          <p:nvPr/>
        </p:nvSpPr>
        <p:spPr>
          <a:xfrm>
            <a:off x="804672" y="3977640"/>
            <a:ext cx="3154680" cy="502920"/>
          </a:xfrm>
          <a:prstGeom prst="rect">
            <a:avLst/>
          </a:prstGeom>
          <a:noFill/>
          <a:ln/>
        </p:spPr>
        <p:txBody>
          <a:bodyPr wrap="square" lIns="0" tIns="0" rIns="0" bIns="0" rtlCol="0" anchor="ctr">
            <a:normAutofit/>
          </a:bodyPr>
          <a:lstStyle/>
          <a:p>
            <a:pPr indent="0" marL="0">
              <a:buNone/>
            </a:pPr>
            <a:r>
              <a:rPr lang="en-US" sz="930" dirty="0">
                <a:solidFill>
                  <a:srgbClr val="475467"/>
                </a:solidFill>
                <a:latin typeface="Aptos" pitchFamily="34" charset="0"/>
                <a:ea typeface="Aptos" pitchFamily="34" charset="-122"/>
                <a:cs typeface="Aptos" pitchFamily="34" charset="-120"/>
              </a:rPr>
              <a:t>This works only while vendor terms hold. If terms tighten before collections improve, liquidity pressure increases.</a:t>
            </a:r>
            <a:endParaRPr lang="en-US" sz="930" dirty="0"/>
          </a:p>
        </p:txBody>
      </p:sp>
      <p:graphicFrame>
        <p:nvGraphicFramePr>
          <p:cNvPr id="10" name="Chart 0" descr=""/>
          <p:cNvGraphicFramePr/>
          <p:nvPr/>
        </p:nvGraphicFramePr>
        <p:xfrm>
          <a:off x="4160520" y="2011680"/>
          <a:ext cx="3063240" cy="251460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p:nvPr/>
        </p:nvSpPr>
        <p:spPr>
          <a:xfrm>
            <a:off x="7735824" y="1901952"/>
            <a:ext cx="146304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30 / 60 / 90 PLAN</a:t>
            </a:r>
            <a:endParaRPr lang="en-US" sz="630" dirty="0"/>
          </a:p>
        </p:txBody>
      </p:sp>
      <p:sp>
        <p:nvSpPr>
          <p:cNvPr id="12" name="Shape 9"/>
          <p:cNvSpPr/>
          <p:nvPr/>
        </p:nvSpPr>
        <p:spPr>
          <a:xfrm>
            <a:off x="7699248" y="2194560"/>
            <a:ext cx="3346704" cy="768096"/>
          </a:xfrm>
          <a:prstGeom prst="roundRect">
            <a:avLst>
              <a:gd name="adj" fmla="val 7143"/>
            </a:avLst>
          </a:prstGeom>
          <a:solidFill>
            <a:srgbClr val="FFFFFF"/>
          </a:solidFill>
          <a:ln w="6985">
            <a:solidFill>
              <a:srgbClr val="D6DCE4"/>
            </a:solidFill>
            <a:prstDash val="solid"/>
          </a:ln>
        </p:spPr>
      </p:sp>
      <p:sp>
        <p:nvSpPr>
          <p:cNvPr id="13" name="Text 10"/>
          <p:cNvSpPr/>
          <p:nvPr/>
        </p:nvSpPr>
        <p:spPr>
          <a:xfrm>
            <a:off x="7827264" y="2304288"/>
            <a:ext cx="320040" cy="182880"/>
          </a:xfrm>
          <a:prstGeom prst="rect">
            <a:avLst/>
          </a:prstGeom>
          <a:noFill/>
          <a:ln/>
        </p:spPr>
        <p:txBody>
          <a:bodyPr wrap="square" lIns="0" tIns="0" rIns="0" bIns="0" rtlCol="0" anchor="ctr">
            <a:normAutofit/>
          </a:bodyPr>
          <a:lstStyle/>
          <a:p>
            <a:pPr indent="0" marL="0">
              <a:buNone/>
            </a:pPr>
            <a:r>
              <a:rPr lang="en-US" sz="900" b="1" dirty="0">
                <a:solidFill>
                  <a:srgbClr val="B42318"/>
                </a:solidFill>
                <a:latin typeface="Aptos Display" pitchFamily="34" charset="0"/>
                <a:ea typeface="Aptos Display" pitchFamily="34" charset="-122"/>
                <a:cs typeface="Aptos Display" pitchFamily="34" charset="-120"/>
              </a:rPr>
              <a:t>30</a:t>
            </a:r>
            <a:endParaRPr lang="en-US" sz="900" dirty="0"/>
          </a:p>
        </p:txBody>
      </p:sp>
      <p:sp>
        <p:nvSpPr>
          <p:cNvPr id="14" name="Text 11"/>
          <p:cNvSpPr/>
          <p:nvPr/>
        </p:nvSpPr>
        <p:spPr>
          <a:xfrm>
            <a:off x="8211312" y="2286000"/>
            <a:ext cx="2688336" cy="228600"/>
          </a:xfrm>
          <a:prstGeom prst="rect">
            <a:avLst/>
          </a:prstGeom>
          <a:noFill/>
          <a:ln/>
        </p:spPr>
        <p:txBody>
          <a:bodyPr wrap="square" lIns="0" tIns="0" rIns="0" bIns="0" rtlCol="0" anchor="ctr">
            <a:normAutofit/>
          </a:bodyPr>
          <a:lstStyle/>
          <a:p>
            <a:pPr indent="0" marL="0">
              <a:buNone/>
            </a:pPr>
            <a:r>
              <a:rPr lang="en-US" sz="1040" b="1" dirty="0">
                <a:solidFill>
                  <a:srgbClr val="111827"/>
                </a:solidFill>
                <a:latin typeface="Aptos Display" pitchFamily="34" charset="0"/>
                <a:ea typeface="Aptos Display" pitchFamily="34" charset="-122"/>
                <a:cs typeface="Aptos Display" pitchFamily="34" charset="-120"/>
              </a:rPr>
              <a:t>Collections sprint</a:t>
            </a:r>
            <a:endParaRPr lang="en-US" sz="1040" dirty="0"/>
          </a:p>
        </p:txBody>
      </p:sp>
      <p:sp>
        <p:nvSpPr>
          <p:cNvPr id="15" name="Text 12"/>
          <p:cNvSpPr/>
          <p:nvPr/>
        </p:nvSpPr>
        <p:spPr>
          <a:xfrm>
            <a:off x="8211312" y="2578608"/>
            <a:ext cx="2688336" cy="292608"/>
          </a:xfrm>
          <a:prstGeom prst="rect">
            <a:avLst/>
          </a:prstGeom>
          <a:noFill/>
          <a:ln/>
        </p:spPr>
        <p:txBody>
          <a:bodyPr wrap="square" lIns="0" tIns="0" rIns="0" bIns="0" rtlCol="0" anchor="ctr">
            <a:normAutofit/>
          </a:bodyPr>
          <a:lstStyle/>
          <a:p>
            <a:pPr indent="0" marL="0">
              <a:buNone/>
            </a:pPr>
            <a:r>
              <a:rPr lang="en-US" sz="710" dirty="0">
                <a:solidFill>
                  <a:srgbClr val="475467"/>
                </a:solidFill>
                <a:latin typeface="Aptos" pitchFamily="34" charset="0"/>
                <a:ea typeface="Aptos" pitchFamily="34" charset="-122"/>
                <a:cs typeface="Aptos" pitchFamily="34" charset="-120"/>
              </a:rPr>
              <a:t>Prioritize aged AR and largest accounts. Weekly cash huddle with Finance owner.</a:t>
            </a:r>
            <a:endParaRPr lang="en-US" sz="710" dirty="0"/>
          </a:p>
        </p:txBody>
      </p:sp>
      <p:sp>
        <p:nvSpPr>
          <p:cNvPr id="16" name="Shape 13"/>
          <p:cNvSpPr/>
          <p:nvPr/>
        </p:nvSpPr>
        <p:spPr>
          <a:xfrm>
            <a:off x="7699248" y="3072384"/>
            <a:ext cx="3346704" cy="768096"/>
          </a:xfrm>
          <a:prstGeom prst="roundRect">
            <a:avLst>
              <a:gd name="adj" fmla="val 7143"/>
            </a:avLst>
          </a:prstGeom>
          <a:solidFill>
            <a:srgbClr val="FFFFFF"/>
          </a:solidFill>
          <a:ln w="6985">
            <a:solidFill>
              <a:srgbClr val="D6DCE4"/>
            </a:solidFill>
            <a:prstDash val="solid"/>
          </a:ln>
        </p:spPr>
      </p:sp>
      <p:sp>
        <p:nvSpPr>
          <p:cNvPr id="17" name="Text 14"/>
          <p:cNvSpPr/>
          <p:nvPr/>
        </p:nvSpPr>
        <p:spPr>
          <a:xfrm>
            <a:off x="7827264" y="3182112"/>
            <a:ext cx="320040" cy="182880"/>
          </a:xfrm>
          <a:prstGeom prst="rect">
            <a:avLst/>
          </a:prstGeom>
          <a:noFill/>
          <a:ln/>
        </p:spPr>
        <p:txBody>
          <a:bodyPr wrap="square" lIns="0" tIns="0" rIns="0" bIns="0" rtlCol="0" anchor="ctr">
            <a:normAutofit/>
          </a:bodyPr>
          <a:lstStyle/>
          <a:p>
            <a:pPr indent="0" marL="0">
              <a:buNone/>
            </a:pPr>
            <a:r>
              <a:rPr lang="en-US" sz="900" b="1" dirty="0">
                <a:solidFill>
                  <a:srgbClr val="B42318"/>
                </a:solidFill>
                <a:latin typeface="Aptos Display" pitchFamily="34" charset="0"/>
                <a:ea typeface="Aptos Display" pitchFamily="34" charset="-122"/>
                <a:cs typeface="Aptos Display" pitchFamily="34" charset="-120"/>
              </a:rPr>
              <a:t>60</a:t>
            </a:r>
            <a:endParaRPr lang="en-US" sz="900" dirty="0"/>
          </a:p>
        </p:txBody>
      </p:sp>
      <p:sp>
        <p:nvSpPr>
          <p:cNvPr id="18" name="Text 15"/>
          <p:cNvSpPr/>
          <p:nvPr/>
        </p:nvSpPr>
        <p:spPr>
          <a:xfrm>
            <a:off x="8211312" y="3163824"/>
            <a:ext cx="2688336" cy="228600"/>
          </a:xfrm>
          <a:prstGeom prst="rect">
            <a:avLst/>
          </a:prstGeom>
          <a:noFill/>
          <a:ln/>
        </p:spPr>
        <p:txBody>
          <a:bodyPr wrap="square" lIns="0" tIns="0" rIns="0" bIns="0" rtlCol="0" anchor="ctr">
            <a:normAutofit/>
          </a:bodyPr>
          <a:lstStyle/>
          <a:p>
            <a:pPr indent="0" marL="0">
              <a:buNone/>
            </a:pPr>
            <a:r>
              <a:rPr lang="en-US" sz="1040" b="1" dirty="0">
                <a:solidFill>
                  <a:srgbClr val="111827"/>
                </a:solidFill>
                <a:latin typeface="Aptos Display" pitchFamily="34" charset="0"/>
                <a:ea typeface="Aptos Display" pitchFamily="34" charset="-122"/>
                <a:cs typeface="Aptos Display" pitchFamily="34" charset="-120"/>
              </a:rPr>
              <a:t>Vendor terms posture</a:t>
            </a:r>
            <a:endParaRPr lang="en-US" sz="1040" dirty="0"/>
          </a:p>
        </p:txBody>
      </p:sp>
      <p:sp>
        <p:nvSpPr>
          <p:cNvPr id="19" name="Text 16"/>
          <p:cNvSpPr/>
          <p:nvPr/>
        </p:nvSpPr>
        <p:spPr>
          <a:xfrm>
            <a:off x="8211312" y="3456432"/>
            <a:ext cx="2688336" cy="292608"/>
          </a:xfrm>
          <a:prstGeom prst="rect">
            <a:avLst/>
          </a:prstGeom>
          <a:noFill/>
          <a:ln/>
        </p:spPr>
        <p:txBody>
          <a:bodyPr wrap="square" lIns="0" tIns="0" rIns="0" bIns="0" rtlCol="0" anchor="ctr">
            <a:normAutofit/>
          </a:bodyPr>
          <a:lstStyle/>
          <a:p>
            <a:pPr indent="0" marL="0">
              <a:buNone/>
            </a:pPr>
            <a:r>
              <a:rPr lang="en-US" sz="710" dirty="0">
                <a:solidFill>
                  <a:srgbClr val="475467"/>
                </a:solidFill>
                <a:latin typeface="Aptos" pitchFamily="34" charset="0"/>
                <a:ea typeface="Aptos" pitchFamily="34" charset="-122"/>
                <a:cs typeface="Aptos" pitchFamily="34" charset="-120"/>
              </a:rPr>
              <a:t>Renegotiate critical terms before pressure appears; avoid reactive stretching.</a:t>
            </a:r>
            <a:endParaRPr lang="en-US" sz="710" dirty="0"/>
          </a:p>
        </p:txBody>
      </p:sp>
      <p:sp>
        <p:nvSpPr>
          <p:cNvPr id="20" name="Shape 17"/>
          <p:cNvSpPr/>
          <p:nvPr/>
        </p:nvSpPr>
        <p:spPr>
          <a:xfrm>
            <a:off x="7699248" y="3950208"/>
            <a:ext cx="3346704" cy="768096"/>
          </a:xfrm>
          <a:prstGeom prst="roundRect">
            <a:avLst>
              <a:gd name="adj" fmla="val 7143"/>
            </a:avLst>
          </a:prstGeom>
          <a:solidFill>
            <a:srgbClr val="FFFFFF"/>
          </a:solidFill>
          <a:ln w="6985">
            <a:solidFill>
              <a:srgbClr val="D6DCE4"/>
            </a:solidFill>
            <a:prstDash val="solid"/>
          </a:ln>
        </p:spPr>
      </p:sp>
      <p:sp>
        <p:nvSpPr>
          <p:cNvPr id="21" name="Text 18"/>
          <p:cNvSpPr/>
          <p:nvPr/>
        </p:nvSpPr>
        <p:spPr>
          <a:xfrm>
            <a:off x="7827264" y="4059936"/>
            <a:ext cx="320040" cy="182880"/>
          </a:xfrm>
          <a:prstGeom prst="rect">
            <a:avLst/>
          </a:prstGeom>
          <a:noFill/>
          <a:ln/>
        </p:spPr>
        <p:txBody>
          <a:bodyPr wrap="square" lIns="0" tIns="0" rIns="0" bIns="0" rtlCol="0" anchor="ctr">
            <a:normAutofit/>
          </a:bodyPr>
          <a:lstStyle/>
          <a:p>
            <a:pPr indent="0" marL="0">
              <a:buNone/>
            </a:pPr>
            <a:r>
              <a:rPr lang="en-US" sz="900" b="1" dirty="0">
                <a:solidFill>
                  <a:srgbClr val="B42318"/>
                </a:solidFill>
                <a:latin typeface="Aptos Display" pitchFamily="34" charset="0"/>
                <a:ea typeface="Aptos Display" pitchFamily="34" charset="-122"/>
                <a:cs typeface="Aptos Display" pitchFamily="34" charset="-120"/>
              </a:rPr>
              <a:t>90</a:t>
            </a:r>
            <a:endParaRPr lang="en-US" sz="900" dirty="0"/>
          </a:p>
        </p:txBody>
      </p:sp>
      <p:sp>
        <p:nvSpPr>
          <p:cNvPr id="22" name="Text 19"/>
          <p:cNvSpPr/>
          <p:nvPr/>
        </p:nvSpPr>
        <p:spPr>
          <a:xfrm>
            <a:off x="8211312" y="4041648"/>
            <a:ext cx="2688336" cy="228600"/>
          </a:xfrm>
          <a:prstGeom prst="rect">
            <a:avLst/>
          </a:prstGeom>
          <a:noFill/>
          <a:ln/>
        </p:spPr>
        <p:txBody>
          <a:bodyPr wrap="square" lIns="0" tIns="0" rIns="0" bIns="0" rtlCol="0" anchor="ctr">
            <a:normAutofit/>
          </a:bodyPr>
          <a:lstStyle/>
          <a:p>
            <a:pPr indent="0" marL="0">
              <a:buNone/>
            </a:pPr>
            <a:r>
              <a:rPr lang="en-US" sz="1040" b="1" dirty="0">
                <a:solidFill>
                  <a:srgbClr val="111827"/>
                </a:solidFill>
                <a:latin typeface="Aptos Display" pitchFamily="34" charset="0"/>
                <a:ea typeface="Aptos Display" pitchFamily="34" charset="-122"/>
                <a:cs typeface="Aptos Display" pitchFamily="34" charset="-120"/>
              </a:rPr>
              <a:t>Cash coverage policy</a:t>
            </a:r>
            <a:endParaRPr lang="en-US" sz="1040" dirty="0"/>
          </a:p>
        </p:txBody>
      </p:sp>
      <p:sp>
        <p:nvSpPr>
          <p:cNvPr id="23" name="Text 20"/>
          <p:cNvSpPr/>
          <p:nvPr/>
        </p:nvSpPr>
        <p:spPr>
          <a:xfrm>
            <a:off x="8211312" y="4334256"/>
            <a:ext cx="2688336" cy="292608"/>
          </a:xfrm>
          <a:prstGeom prst="rect">
            <a:avLst/>
          </a:prstGeom>
          <a:noFill/>
          <a:ln/>
        </p:spPr>
        <p:txBody>
          <a:bodyPr wrap="square" lIns="0" tIns="0" rIns="0" bIns="0" rtlCol="0" anchor="ctr">
            <a:normAutofit/>
          </a:bodyPr>
          <a:lstStyle/>
          <a:p>
            <a:pPr indent="0" marL="0">
              <a:buNone/>
            </a:pPr>
            <a:r>
              <a:rPr lang="en-US" sz="710" dirty="0">
                <a:solidFill>
                  <a:srgbClr val="475467"/>
                </a:solidFill>
                <a:latin typeface="Aptos" pitchFamily="34" charset="0"/>
                <a:ea typeface="Aptos" pitchFamily="34" charset="-122"/>
                <a:cs typeface="Aptos" pitchFamily="34" charset="-120"/>
              </a:rPr>
              <a:t>Minimum cash-coverage threshold plus NWC dashboard. Target NWC ≥$0.</a:t>
            </a:r>
            <a:endParaRPr lang="en-US" sz="710" dirty="0"/>
          </a:p>
        </p:txBody>
      </p:sp>
      <p:sp>
        <p:nvSpPr>
          <p:cNvPr id="24" name="Shape 21"/>
          <p:cNvSpPr/>
          <p:nvPr/>
        </p:nvSpPr>
        <p:spPr>
          <a:xfrm>
            <a:off x="749808" y="5724144"/>
            <a:ext cx="10588752" cy="475488"/>
          </a:xfrm>
          <a:prstGeom prst="roundRect">
            <a:avLst>
              <a:gd name="adj" fmla="val 11538"/>
            </a:avLst>
          </a:prstGeom>
          <a:solidFill>
            <a:srgbClr val="FFFFFF"/>
          </a:solidFill>
          <a:ln w="6350">
            <a:solidFill>
              <a:srgbClr val="D6DCE4"/>
            </a:solidFill>
            <a:prstDash val="solid"/>
          </a:ln>
        </p:spPr>
      </p:sp>
      <p:sp>
        <p:nvSpPr>
          <p:cNvPr id="25" name="Text 22"/>
          <p:cNvSpPr/>
          <p:nvPr/>
        </p:nvSpPr>
        <p:spPr>
          <a:xfrm>
            <a:off x="868680" y="5815584"/>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26" name="Text 23"/>
          <p:cNvSpPr/>
          <p:nvPr/>
        </p:nvSpPr>
        <p:spPr>
          <a:xfrm>
            <a:off x="2167128" y="5824728"/>
            <a:ext cx="8988552" cy="310896"/>
          </a:xfrm>
          <a:prstGeom prst="rect">
            <a:avLst/>
          </a:prstGeom>
          <a:noFill/>
          <a:ln/>
        </p:spPr>
        <p:txBody>
          <a:bodyPr wrap="square" lIns="0" tIns="0" rIns="0" bIns="0" rtlCol="0" anchor="ctr">
            <a:normAutofit/>
          </a:bodyPr>
          <a:lstStyle/>
          <a:p>
            <a:pPr indent="0" marL="0">
              <a:buNone/>
            </a:pPr>
            <a:r>
              <a:rPr lang="en-US" sz="840" dirty="0">
                <a:solidFill>
                  <a:srgbClr val="111827"/>
                </a:solidFill>
                <a:latin typeface="Aptos" pitchFamily="34" charset="0"/>
                <a:ea typeface="Aptos" pitchFamily="34" charset="-122"/>
                <a:cs typeface="Aptos" pitchFamily="34" charset="-120"/>
              </a:rPr>
              <a:t>Approve Finance-owned 30/60/90 plan; report AR, AP, AP/AR, and net working capital weekly until NWC ≥$0.</a:t>
            </a:r>
            <a:endParaRPr lang="en-US" sz="840" dirty="0"/>
          </a:p>
        </p:txBody>
      </p:sp>
      <p:sp>
        <p:nvSpPr>
          <p:cNvPr id="27" name="Shape 24"/>
          <p:cNvSpPr/>
          <p:nvPr/>
        </p:nvSpPr>
        <p:spPr>
          <a:xfrm>
            <a:off x="530352" y="6419088"/>
            <a:ext cx="11130991" cy="0"/>
          </a:xfrm>
          <a:prstGeom prst="line">
            <a:avLst/>
          </a:prstGeom>
          <a:noFill/>
          <a:ln w="4445">
            <a:solidFill>
              <a:srgbClr val="D6DCE4"/>
            </a:solidFill>
            <a:prstDash val="solid"/>
          </a:ln>
        </p:spPr>
      </p:sp>
      <p:sp>
        <p:nvSpPr>
          <p:cNvPr id="28" name="Text 25"/>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29" name="Text 26"/>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05</a:t>
            </a:r>
            <a:endParaRPr lang="en-US" sz="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789920" cy="493776"/>
          </a:xfrm>
          <a:prstGeom prst="rect">
            <a:avLst/>
          </a:prstGeom>
          <a:noFill/>
          <a:ln/>
        </p:spPr>
        <p:txBody>
          <a:bodyPr wrap="square" lIns="0" tIns="0" rIns="0" bIns="0" rtlCol="0" anchor="ctr">
            <a:normAutofit/>
          </a:bodyPr>
          <a:lstStyle/>
          <a:p>
            <a:pPr indent="0" marL="0">
              <a:buNone/>
            </a:pPr>
            <a:r>
              <a:rPr lang="en-US" sz="2320" b="1" dirty="0">
                <a:solidFill>
                  <a:srgbClr val="111827"/>
                </a:solidFill>
                <a:latin typeface="Aptos Display" pitchFamily="34" charset="0"/>
                <a:ea typeface="Aptos Display" pitchFamily="34" charset="-122"/>
                <a:cs typeface="Aptos Display" pitchFamily="34" charset="-120"/>
              </a:rPr>
              <a:t>One intercompany-weighted account is now a strategic classification issue</a:t>
            </a:r>
            <a:endParaRPr lang="en-US" sz="232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Until classification is settled, exposure, price, and revenue quality are partly blurred.</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Text 4"/>
          <p:cNvSpPr/>
          <p:nvPr/>
        </p:nvSpPr>
        <p:spPr>
          <a:xfrm>
            <a:off x="749808" y="1847088"/>
            <a:ext cx="320040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2026 YTD TOP ACCOUNTS · SHARE OF GALLONS</a:t>
            </a:r>
            <a:endParaRPr lang="en-US" sz="630" dirty="0"/>
          </a:p>
        </p:txBody>
      </p:sp>
      <p:sp>
        <p:nvSpPr>
          <p:cNvPr id="7" name="Text 5"/>
          <p:cNvSpPr/>
          <p:nvPr/>
        </p:nvSpPr>
        <p:spPr>
          <a:xfrm>
            <a:off x="777240" y="2240280"/>
            <a:ext cx="2423160" cy="164592"/>
          </a:xfrm>
          <a:prstGeom prst="rect">
            <a:avLst/>
          </a:prstGeom>
          <a:noFill/>
          <a:ln/>
        </p:spPr>
        <p:txBody>
          <a:bodyPr wrap="square" lIns="0" tIns="0" rIns="0" bIns="0" rtlCol="0" anchor="ctr">
            <a:normAutofit/>
          </a:bodyPr>
          <a:lstStyle/>
          <a:p>
            <a:pPr indent="0" marL="0">
              <a:buNone/>
            </a:pPr>
            <a:r>
              <a:rPr lang="en-US" sz="800" b="1" dirty="0">
                <a:solidFill>
                  <a:srgbClr val="111827"/>
                </a:solidFill>
                <a:latin typeface="Aptos" pitchFamily="34" charset="0"/>
                <a:ea typeface="Aptos" pitchFamily="34" charset="-122"/>
                <a:cs typeface="Aptos" pitchFamily="34" charset="-120"/>
              </a:rPr>
              <a:t>U1Dynamics Mfg · intercompany</a:t>
            </a:r>
            <a:endParaRPr lang="en-US" sz="800" dirty="0"/>
          </a:p>
        </p:txBody>
      </p:sp>
      <p:sp>
        <p:nvSpPr>
          <p:cNvPr id="8" name="Shape 6"/>
          <p:cNvSpPr/>
          <p:nvPr/>
        </p:nvSpPr>
        <p:spPr>
          <a:xfrm>
            <a:off x="3410712" y="2258568"/>
            <a:ext cx="3108960" cy="164592"/>
          </a:xfrm>
          <a:prstGeom prst="rect">
            <a:avLst/>
          </a:prstGeom>
          <a:solidFill>
            <a:srgbClr val="F2F4F7"/>
          </a:solidFill>
          <a:ln w="2540">
            <a:solidFill>
              <a:srgbClr val="D6DCE4"/>
            </a:solidFill>
            <a:prstDash val="solid"/>
          </a:ln>
        </p:spPr>
      </p:sp>
      <p:sp>
        <p:nvSpPr>
          <p:cNvPr id="9" name="Shape 7"/>
          <p:cNvSpPr/>
          <p:nvPr/>
        </p:nvSpPr>
        <p:spPr>
          <a:xfrm>
            <a:off x="3410712" y="2258568"/>
            <a:ext cx="2915514" cy="164592"/>
          </a:xfrm>
          <a:prstGeom prst="rect">
            <a:avLst/>
          </a:prstGeom>
          <a:solidFill>
            <a:srgbClr val="B42318"/>
          </a:solidFill>
          <a:ln w="2540">
            <a:solidFill>
              <a:srgbClr val="B42318"/>
            </a:solidFill>
            <a:prstDash val="solid"/>
          </a:ln>
        </p:spPr>
      </p:sp>
      <p:sp>
        <p:nvSpPr>
          <p:cNvPr id="10" name="Text 8"/>
          <p:cNvSpPr/>
          <p:nvPr/>
        </p:nvSpPr>
        <p:spPr>
          <a:xfrm>
            <a:off x="6675120" y="2231136"/>
            <a:ext cx="548640" cy="182880"/>
          </a:xfrm>
          <a:prstGeom prst="rect">
            <a:avLst/>
          </a:prstGeom>
          <a:noFill/>
          <a:ln/>
        </p:spPr>
        <p:txBody>
          <a:bodyPr wrap="square" lIns="0" tIns="0" rIns="0" bIns="0" rtlCol="0" anchor="ctr">
            <a:normAutofit/>
          </a:bodyPr>
          <a:lstStyle/>
          <a:p>
            <a:pPr algn="r" indent="0" marL="0">
              <a:buNone/>
            </a:pPr>
            <a:r>
              <a:rPr lang="en-US" sz="770" b="1" dirty="0">
                <a:solidFill>
                  <a:srgbClr val="B42318"/>
                </a:solidFill>
                <a:latin typeface="Aptos" pitchFamily="34" charset="0"/>
                <a:ea typeface="Aptos" pitchFamily="34" charset="-122"/>
                <a:cs typeface="Aptos" pitchFamily="34" charset="-120"/>
              </a:rPr>
              <a:t>42.2%</a:t>
            </a:r>
            <a:endParaRPr lang="en-US" sz="770" dirty="0"/>
          </a:p>
        </p:txBody>
      </p:sp>
      <p:sp>
        <p:nvSpPr>
          <p:cNvPr id="11" name="Text 9"/>
          <p:cNvSpPr/>
          <p:nvPr/>
        </p:nvSpPr>
        <p:spPr>
          <a:xfrm>
            <a:off x="777240" y="2807208"/>
            <a:ext cx="2423160" cy="164592"/>
          </a:xfrm>
          <a:prstGeom prst="rect">
            <a:avLst/>
          </a:prstGeom>
          <a:noFill/>
          <a:ln/>
        </p:spPr>
        <p:txBody>
          <a:bodyPr wrap="square" lIns="0" tIns="0" rIns="0" bIns="0" rtlCol="0" anchor="ctr">
            <a:normAutofit/>
          </a:bodyPr>
          <a:lstStyle/>
          <a:p>
            <a:pPr indent="0" marL="0">
              <a:buNone/>
            </a:pPr>
            <a:r>
              <a:rPr lang="en-US" sz="800" dirty="0">
                <a:solidFill>
                  <a:srgbClr val="475467"/>
                </a:solidFill>
                <a:latin typeface="Aptos" pitchFamily="34" charset="0"/>
                <a:ea typeface="Aptos" pitchFamily="34" charset="-122"/>
                <a:cs typeface="Aptos" pitchFamily="34" charset="-120"/>
              </a:rPr>
              <a:t>8A Dominus Inc.</a:t>
            </a:r>
            <a:endParaRPr lang="en-US" sz="800" dirty="0"/>
          </a:p>
        </p:txBody>
      </p:sp>
      <p:sp>
        <p:nvSpPr>
          <p:cNvPr id="12" name="Shape 10"/>
          <p:cNvSpPr/>
          <p:nvPr/>
        </p:nvSpPr>
        <p:spPr>
          <a:xfrm>
            <a:off x="3410712" y="2825496"/>
            <a:ext cx="3108960" cy="164592"/>
          </a:xfrm>
          <a:prstGeom prst="rect">
            <a:avLst/>
          </a:prstGeom>
          <a:solidFill>
            <a:srgbClr val="F2F4F7"/>
          </a:solidFill>
          <a:ln w="2540">
            <a:solidFill>
              <a:srgbClr val="D6DCE4"/>
            </a:solidFill>
            <a:prstDash val="solid"/>
          </a:ln>
        </p:spPr>
      </p:sp>
      <p:sp>
        <p:nvSpPr>
          <p:cNvPr id="13" name="Shape 11"/>
          <p:cNvSpPr/>
          <p:nvPr/>
        </p:nvSpPr>
        <p:spPr>
          <a:xfrm>
            <a:off x="3410712" y="2825496"/>
            <a:ext cx="911962" cy="164592"/>
          </a:xfrm>
          <a:prstGeom prst="rect">
            <a:avLst/>
          </a:prstGeom>
          <a:solidFill>
            <a:srgbClr val="071326"/>
          </a:solidFill>
          <a:ln w="2540">
            <a:solidFill>
              <a:srgbClr val="071326"/>
            </a:solidFill>
            <a:prstDash val="solid"/>
          </a:ln>
        </p:spPr>
      </p:sp>
      <p:sp>
        <p:nvSpPr>
          <p:cNvPr id="14" name="Text 12"/>
          <p:cNvSpPr/>
          <p:nvPr/>
        </p:nvSpPr>
        <p:spPr>
          <a:xfrm>
            <a:off x="6675120" y="2798064"/>
            <a:ext cx="548640" cy="182880"/>
          </a:xfrm>
          <a:prstGeom prst="rect">
            <a:avLst/>
          </a:prstGeom>
          <a:noFill/>
          <a:ln/>
        </p:spPr>
        <p:txBody>
          <a:bodyPr wrap="square" lIns="0" tIns="0" rIns="0" bIns="0" rtlCol="0" anchor="ctr">
            <a:normAutofit/>
          </a:bodyPr>
          <a:lstStyle/>
          <a:p>
            <a:pPr algn="r" indent="0" marL="0">
              <a:buNone/>
            </a:pPr>
            <a:r>
              <a:rPr lang="en-US" sz="770" b="1" dirty="0">
                <a:solidFill>
                  <a:srgbClr val="111827"/>
                </a:solidFill>
                <a:latin typeface="Aptos" pitchFamily="34" charset="0"/>
                <a:ea typeface="Aptos" pitchFamily="34" charset="-122"/>
                <a:cs typeface="Aptos" pitchFamily="34" charset="-120"/>
              </a:rPr>
              <a:t>13.2%</a:t>
            </a:r>
            <a:endParaRPr lang="en-US" sz="770" dirty="0"/>
          </a:p>
        </p:txBody>
      </p:sp>
      <p:sp>
        <p:nvSpPr>
          <p:cNvPr id="15" name="Text 13"/>
          <p:cNvSpPr/>
          <p:nvPr/>
        </p:nvSpPr>
        <p:spPr>
          <a:xfrm>
            <a:off x="777240" y="3374136"/>
            <a:ext cx="2423160" cy="164592"/>
          </a:xfrm>
          <a:prstGeom prst="rect">
            <a:avLst/>
          </a:prstGeom>
          <a:noFill/>
          <a:ln/>
        </p:spPr>
        <p:txBody>
          <a:bodyPr wrap="square" lIns="0" tIns="0" rIns="0" bIns="0" rtlCol="0" anchor="ctr">
            <a:normAutofit/>
          </a:bodyPr>
          <a:lstStyle/>
          <a:p>
            <a:pPr indent="0" marL="0">
              <a:buNone/>
            </a:pPr>
            <a:r>
              <a:rPr lang="en-US" sz="800" dirty="0">
                <a:solidFill>
                  <a:srgbClr val="475467"/>
                </a:solidFill>
                <a:latin typeface="Aptos" pitchFamily="34" charset="0"/>
                <a:ea typeface="Aptos" pitchFamily="34" charset="-122"/>
                <a:cs typeface="Aptos" pitchFamily="34" charset="-120"/>
              </a:rPr>
              <a:t>Competitive Edge Dist.</a:t>
            </a:r>
            <a:endParaRPr lang="en-US" sz="800" dirty="0"/>
          </a:p>
        </p:txBody>
      </p:sp>
      <p:sp>
        <p:nvSpPr>
          <p:cNvPr id="16" name="Shape 14"/>
          <p:cNvSpPr/>
          <p:nvPr/>
        </p:nvSpPr>
        <p:spPr>
          <a:xfrm>
            <a:off x="3410712" y="3392424"/>
            <a:ext cx="3108960" cy="164592"/>
          </a:xfrm>
          <a:prstGeom prst="rect">
            <a:avLst/>
          </a:prstGeom>
          <a:solidFill>
            <a:srgbClr val="F2F4F7"/>
          </a:solidFill>
          <a:ln w="2540">
            <a:solidFill>
              <a:srgbClr val="D6DCE4"/>
            </a:solidFill>
            <a:prstDash val="solid"/>
          </a:ln>
        </p:spPr>
      </p:sp>
      <p:sp>
        <p:nvSpPr>
          <p:cNvPr id="17" name="Shape 15"/>
          <p:cNvSpPr/>
          <p:nvPr/>
        </p:nvSpPr>
        <p:spPr>
          <a:xfrm>
            <a:off x="3410712" y="3392424"/>
            <a:ext cx="670154" cy="164592"/>
          </a:xfrm>
          <a:prstGeom prst="rect">
            <a:avLst/>
          </a:prstGeom>
          <a:solidFill>
            <a:srgbClr val="071326"/>
          </a:solidFill>
          <a:ln w="2540">
            <a:solidFill>
              <a:srgbClr val="071326"/>
            </a:solidFill>
            <a:prstDash val="solid"/>
          </a:ln>
        </p:spPr>
      </p:sp>
      <p:sp>
        <p:nvSpPr>
          <p:cNvPr id="18" name="Text 16"/>
          <p:cNvSpPr/>
          <p:nvPr/>
        </p:nvSpPr>
        <p:spPr>
          <a:xfrm>
            <a:off x="6675120" y="3364992"/>
            <a:ext cx="548640" cy="182880"/>
          </a:xfrm>
          <a:prstGeom prst="rect">
            <a:avLst/>
          </a:prstGeom>
          <a:noFill/>
          <a:ln/>
        </p:spPr>
        <p:txBody>
          <a:bodyPr wrap="square" lIns="0" tIns="0" rIns="0" bIns="0" rtlCol="0" anchor="ctr">
            <a:normAutofit/>
          </a:bodyPr>
          <a:lstStyle/>
          <a:p>
            <a:pPr algn="r" indent="0" marL="0">
              <a:buNone/>
            </a:pPr>
            <a:r>
              <a:rPr lang="en-US" sz="770" b="1" dirty="0">
                <a:solidFill>
                  <a:srgbClr val="111827"/>
                </a:solidFill>
                <a:latin typeface="Aptos" pitchFamily="34" charset="0"/>
                <a:ea typeface="Aptos" pitchFamily="34" charset="-122"/>
                <a:cs typeface="Aptos" pitchFamily="34" charset="-120"/>
              </a:rPr>
              <a:t>9.7%</a:t>
            </a:r>
            <a:endParaRPr lang="en-US" sz="770" dirty="0"/>
          </a:p>
        </p:txBody>
      </p:sp>
      <p:sp>
        <p:nvSpPr>
          <p:cNvPr id="19" name="Text 17"/>
          <p:cNvSpPr/>
          <p:nvPr/>
        </p:nvSpPr>
        <p:spPr>
          <a:xfrm>
            <a:off x="777240" y="3941064"/>
            <a:ext cx="2423160" cy="164592"/>
          </a:xfrm>
          <a:prstGeom prst="rect">
            <a:avLst/>
          </a:prstGeom>
          <a:noFill/>
          <a:ln/>
        </p:spPr>
        <p:txBody>
          <a:bodyPr wrap="square" lIns="0" tIns="0" rIns="0" bIns="0" rtlCol="0" anchor="ctr">
            <a:normAutofit/>
          </a:bodyPr>
          <a:lstStyle/>
          <a:p>
            <a:pPr indent="0" marL="0">
              <a:buNone/>
            </a:pPr>
            <a:r>
              <a:rPr lang="en-US" sz="800" dirty="0">
                <a:solidFill>
                  <a:srgbClr val="475467"/>
                </a:solidFill>
                <a:latin typeface="Aptos" pitchFamily="34" charset="0"/>
                <a:ea typeface="Aptos" pitchFamily="34" charset="-122"/>
                <a:cs typeface="Aptos" pitchFamily="34" charset="-120"/>
              </a:rPr>
              <a:t>Maxilub LLC</a:t>
            </a:r>
            <a:endParaRPr lang="en-US" sz="800" dirty="0"/>
          </a:p>
        </p:txBody>
      </p:sp>
      <p:sp>
        <p:nvSpPr>
          <p:cNvPr id="20" name="Shape 18"/>
          <p:cNvSpPr/>
          <p:nvPr/>
        </p:nvSpPr>
        <p:spPr>
          <a:xfrm>
            <a:off x="3410712" y="3959352"/>
            <a:ext cx="3108960" cy="164592"/>
          </a:xfrm>
          <a:prstGeom prst="rect">
            <a:avLst/>
          </a:prstGeom>
          <a:solidFill>
            <a:srgbClr val="F2F4F7"/>
          </a:solidFill>
          <a:ln w="2540">
            <a:solidFill>
              <a:srgbClr val="D6DCE4"/>
            </a:solidFill>
            <a:prstDash val="solid"/>
          </a:ln>
        </p:spPr>
      </p:sp>
      <p:sp>
        <p:nvSpPr>
          <p:cNvPr id="21" name="Shape 19"/>
          <p:cNvSpPr/>
          <p:nvPr/>
        </p:nvSpPr>
        <p:spPr>
          <a:xfrm>
            <a:off x="3410712" y="3959352"/>
            <a:ext cx="531978" cy="164592"/>
          </a:xfrm>
          <a:prstGeom prst="rect">
            <a:avLst/>
          </a:prstGeom>
          <a:solidFill>
            <a:srgbClr val="071326"/>
          </a:solidFill>
          <a:ln w="2540">
            <a:solidFill>
              <a:srgbClr val="071326"/>
            </a:solidFill>
            <a:prstDash val="solid"/>
          </a:ln>
        </p:spPr>
      </p:sp>
      <p:sp>
        <p:nvSpPr>
          <p:cNvPr id="22" name="Text 20"/>
          <p:cNvSpPr/>
          <p:nvPr/>
        </p:nvSpPr>
        <p:spPr>
          <a:xfrm>
            <a:off x="6675120" y="3931920"/>
            <a:ext cx="548640" cy="182880"/>
          </a:xfrm>
          <a:prstGeom prst="rect">
            <a:avLst/>
          </a:prstGeom>
          <a:noFill/>
          <a:ln/>
        </p:spPr>
        <p:txBody>
          <a:bodyPr wrap="square" lIns="0" tIns="0" rIns="0" bIns="0" rtlCol="0" anchor="ctr">
            <a:normAutofit/>
          </a:bodyPr>
          <a:lstStyle/>
          <a:p>
            <a:pPr algn="r" indent="0" marL="0">
              <a:buNone/>
            </a:pPr>
            <a:r>
              <a:rPr lang="en-US" sz="770" b="1" dirty="0">
                <a:solidFill>
                  <a:srgbClr val="111827"/>
                </a:solidFill>
                <a:latin typeface="Aptos" pitchFamily="34" charset="0"/>
                <a:ea typeface="Aptos" pitchFamily="34" charset="-122"/>
                <a:cs typeface="Aptos" pitchFamily="34" charset="-120"/>
              </a:rPr>
              <a:t>7.7%</a:t>
            </a:r>
            <a:endParaRPr lang="en-US" sz="770" dirty="0"/>
          </a:p>
        </p:txBody>
      </p:sp>
      <p:sp>
        <p:nvSpPr>
          <p:cNvPr id="23" name="Text 21"/>
          <p:cNvSpPr/>
          <p:nvPr/>
        </p:nvSpPr>
        <p:spPr>
          <a:xfrm>
            <a:off x="777240" y="4507992"/>
            <a:ext cx="2423160" cy="164592"/>
          </a:xfrm>
          <a:prstGeom prst="rect">
            <a:avLst/>
          </a:prstGeom>
          <a:noFill/>
          <a:ln/>
        </p:spPr>
        <p:txBody>
          <a:bodyPr wrap="square" lIns="0" tIns="0" rIns="0" bIns="0" rtlCol="0" anchor="ctr">
            <a:normAutofit/>
          </a:bodyPr>
          <a:lstStyle/>
          <a:p>
            <a:pPr indent="0" marL="0">
              <a:buNone/>
            </a:pPr>
            <a:r>
              <a:rPr lang="en-US" sz="800" dirty="0">
                <a:solidFill>
                  <a:srgbClr val="475467"/>
                </a:solidFill>
                <a:latin typeface="Aptos" pitchFamily="34" charset="0"/>
                <a:ea typeface="Aptos" pitchFamily="34" charset="-122"/>
                <a:cs typeface="Aptos" pitchFamily="34" charset="-120"/>
              </a:rPr>
              <a:t>Amazon</a:t>
            </a:r>
            <a:endParaRPr lang="en-US" sz="800" dirty="0"/>
          </a:p>
        </p:txBody>
      </p:sp>
      <p:sp>
        <p:nvSpPr>
          <p:cNvPr id="24" name="Shape 22"/>
          <p:cNvSpPr/>
          <p:nvPr/>
        </p:nvSpPr>
        <p:spPr>
          <a:xfrm>
            <a:off x="3410712" y="4526280"/>
            <a:ext cx="3108960" cy="164592"/>
          </a:xfrm>
          <a:prstGeom prst="rect">
            <a:avLst/>
          </a:prstGeom>
          <a:solidFill>
            <a:srgbClr val="F2F4F7"/>
          </a:solidFill>
          <a:ln w="2540">
            <a:solidFill>
              <a:srgbClr val="D6DCE4"/>
            </a:solidFill>
            <a:prstDash val="solid"/>
          </a:ln>
        </p:spPr>
      </p:sp>
      <p:sp>
        <p:nvSpPr>
          <p:cNvPr id="25" name="Shape 23"/>
          <p:cNvSpPr/>
          <p:nvPr/>
        </p:nvSpPr>
        <p:spPr>
          <a:xfrm>
            <a:off x="3410712" y="4526280"/>
            <a:ext cx="455981" cy="164592"/>
          </a:xfrm>
          <a:prstGeom prst="rect">
            <a:avLst/>
          </a:prstGeom>
          <a:solidFill>
            <a:srgbClr val="071326"/>
          </a:solidFill>
          <a:ln w="2540">
            <a:solidFill>
              <a:srgbClr val="071326"/>
            </a:solidFill>
            <a:prstDash val="solid"/>
          </a:ln>
        </p:spPr>
      </p:sp>
      <p:sp>
        <p:nvSpPr>
          <p:cNvPr id="26" name="Text 24"/>
          <p:cNvSpPr/>
          <p:nvPr/>
        </p:nvSpPr>
        <p:spPr>
          <a:xfrm>
            <a:off x="6675120" y="4498848"/>
            <a:ext cx="548640" cy="182880"/>
          </a:xfrm>
          <a:prstGeom prst="rect">
            <a:avLst/>
          </a:prstGeom>
          <a:noFill/>
          <a:ln/>
        </p:spPr>
        <p:txBody>
          <a:bodyPr wrap="square" lIns="0" tIns="0" rIns="0" bIns="0" rtlCol="0" anchor="ctr">
            <a:normAutofit/>
          </a:bodyPr>
          <a:lstStyle/>
          <a:p>
            <a:pPr algn="r" indent="0" marL="0">
              <a:buNone/>
            </a:pPr>
            <a:r>
              <a:rPr lang="en-US" sz="770" b="1" dirty="0">
                <a:solidFill>
                  <a:srgbClr val="111827"/>
                </a:solidFill>
                <a:latin typeface="Aptos" pitchFamily="34" charset="0"/>
                <a:ea typeface="Aptos" pitchFamily="34" charset="-122"/>
                <a:cs typeface="Aptos" pitchFamily="34" charset="-120"/>
              </a:rPr>
              <a:t>6.6%</a:t>
            </a:r>
            <a:endParaRPr lang="en-US" sz="770" dirty="0"/>
          </a:p>
        </p:txBody>
      </p:sp>
      <p:sp>
        <p:nvSpPr>
          <p:cNvPr id="27" name="Shape 25"/>
          <p:cNvSpPr/>
          <p:nvPr/>
        </p:nvSpPr>
        <p:spPr>
          <a:xfrm>
            <a:off x="7680960" y="2148840"/>
            <a:ext cx="3310128" cy="2194560"/>
          </a:xfrm>
          <a:prstGeom prst="roundRect">
            <a:avLst>
              <a:gd name="adj" fmla="val 2500"/>
            </a:avLst>
          </a:prstGeom>
          <a:solidFill>
            <a:srgbClr val="071326"/>
          </a:solidFill>
          <a:ln w="12700">
            <a:solidFill>
              <a:srgbClr val="071326">
                <a:alpha val="0"/>
              </a:srgbClr>
            </a:solidFill>
            <a:prstDash val="solid"/>
          </a:ln>
        </p:spPr>
      </p:sp>
      <p:sp>
        <p:nvSpPr>
          <p:cNvPr id="28" name="Text 26"/>
          <p:cNvSpPr/>
          <p:nvPr/>
        </p:nvSpPr>
        <p:spPr>
          <a:xfrm>
            <a:off x="7909560" y="2395728"/>
            <a:ext cx="2103120" cy="164592"/>
          </a:xfrm>
          <a:prstGeom prst="rect">
            <a:avLst/>
          </a:prstGeom>
          <a:noFill/>
          <a:ln/>
        </p:spPr>
        <p:txBody>
          <a:bodyPr wrap="square" lIns="0" tIns="0" rIns="0" bIns="0" rtlCol="0" anchor="ctr">
            <a:normAutofit/>
          </a:bodyPr>
          <a:lstStyle/>
          <a:p>
            <a:pPr indent="0" marL="0">
              <a:buNone/>
            </a:pPr>
            <a:r>
              <a:rPr lang="en-US" sz="650" b="1" dirty="0">
                <a:solidFill>
                  <a:srgbClr val="F6D0CB"/>
                </a:solidFill>
                <a:latin typeface="Aptos" pitchFamily="34" charset="0"/>
                <a:ea typeface="Aptos" pitchFamily="34" charset="-122"/>
                <a:cs typeface="Aptos" pitchFamily="34" charset="-120"/>
              </a:rPr>
              <a:t>CHOICE BEFORE MANAGEMENT</a:t>
            </a:r>
            <a:endParaRPr lang="en-US" sz="650" dirty="0"/>
          </a:p>
        </p:txBody>
      </p:sp>
      <p:sp>
        <p:nvSpPr>
          <p:cNvPr id="29" name="Text 27"/>
          <p:cNvSpPr/>
          <p:nvPr/>
        </p:nvSpPr>
        <p:spPr>
          <a:xfrm>
            <a:off x="7909560" y="2743200"/>
            <a:ext cx="2560320" cy="749808"/>
          </a:xfrm>
          <a:prstGeom prst="rect">
            <a:avLst/>
          </a:prstGeom>
          <a:noFill/>
          <a:ln/>
        </p:spPr>
        <p:txBody>
          <a:bodyPr wrap="square" lIns="0" tIns="0" rIns="0" bIns="0" rtlCol="0" anchor="ctr">
            <a:normAutofit/>
          </a:bodyPr>
          <a:lstStyle/>
          <a:p>
            <a:pPr indent="0" marL="0">
              <a:buNone/>
            </a:pPr>
            <a:r>
              <a:rPr lang="en-US" sz="1950" b="1" dirty="0">
                <a:solidFill>
                  <a:srgbClr val="FFFFFF"/>
                </a:solidFill>
                <a:latin typeface="Aptos Display" pitchFamily="34" charset="0"/>
                <a:ea typeface="Aptos Display" pitchFamily="34" charset="-122"/>
                <a:cs typeface="Aptos Display" pitchFamily="34" charset="-120"/>
              </a:rPr>
              <a:t>Customer</a:t>
            </a:r>
            <a:endParaRPr lang="en-US" sz="1950" dirty="0"/>
          </a:p>
          <a:p>
            <a:pPr indent="0" marL="0">
              <a:buNone/>
            </a:pPr>
            <a:r>
              <a:rPr lang="en-US" sz="1950" b="1" dirty="0">
                <a:solidFill>
                  <a:srgbClr val="FFFFFF"/>
                </a:solidFill>
                <a:latin typeface="Aptos Display" pitchFamily="34" charset="0"/>
                <a:ea typeface="Aptos Display" pitchFamily="34" charset="-122"/>
                <a:cs typeface="Aptos Display" pitchFamily="34" charset="-120"/>
              </a:rPr>
              <a:t>Intercompany</a:t>
            </a:r>
            <a:endParaRPr lang="en-US" sz="1950" dirty="0"/>
          </a:p>
          <a:p>
            <a:pPr indent="0" marL="0">
              <a:buNone/>
            </a:pPr>
            <a:r>
              <a:rPr lang="en-US" sz="1950" b="1" dirty="0">
                <a:solidFill>
                  <a:srgbClr val="FFFFFF"/>
                </a:solidFill>
                <a:latin typeface="Aptos Display" pitchFamily="34" charset="0"/>
                <a:ea typeface="Aptos Display" pitchFamily="34" charset="-122"/>
                <a:cs typeface="Aptos Display" pitchFamily="34" charset="-120"/>
              </a:rPr>
              <a:t>Internal transfer</a:t>
            </a:r>
            <a:endParaRPr lang="en-US" sz="1950" dirty="0"/>
          </a:p>
        </p:txBody>
      </p:sp>
      <p:sp>
        <p:nvSpPr>
          <p:cNvPr id="30" name="Text 28"/>
          <p:cNvSpPr/>
          <p:nvPr/>
        </p:nvSpPr>
        <p:spPr>
          <a:xfrm>
            <a:off x="7909560" y="3703320"/>
            <a:ext cx="2514600" cy="384048"/>
          </a:xfrm>
          <a:prstGeom prst="rect">
            <a:avLst/>
          </a:prstGeom>
          <a:noFill/>
          <a:ln/>
        </p:spPr>
        <p:txBody>
          <a:bodyPr wrap="square" lIns="0" tIns="0" rIns="0" bIns="0" rtlCol="0" anchor="ctr">
            <a:normAutofit/>
          </a:bodyPr>
          <a:lstStyle/>
          <a:p>
            <a:pPr indent="0" marL="0">
              <a:buNone/>
            </a:pPr>
            <a:r>
              <a:rPr lang="en-US" sz="840" dirty="0">
                <a:solidFill>
                  <a:srgbClr val="D7DCE6"/>
                </a:solidFill>
                <a:latin typeface="Aptos" pitchFamily="34" charset="0"/>
                <a:ea typeface="Aptos" pitchFamily="34" charset="-122"/>
                <a:cs typeface="Aptos" pitchFamily="34" charset="-120"/>
              </a:rPr>
              <a:t>The answer changes how the board should read concentration, pricing, revenue quality, and strategic risk.</a:t>
            </a:r>
            <a:endParaRPr lang="en-US" sz="840" dirty="0"/>
          </a:p>
        </p:txBody>
      </p:sp>
      <p:sp>
        <p:nvSpPr>
          <p:cNvPr id="31" name="Shape 29"/>
          <p:cNvSpPr/>
          <p:nvPr/>
        </p:nvSpPr>
        <p:spPr>
          <a:xfrm>
            <a:off x="777240" y="4956048"/>
            <a:ext cx="6309360" cy="621792"/>
          </a:xfrm>
          <a:prstGeom prst="roundRect">
            <a:avLst>
              <a:gd name="adj" fmla="val 8824"/>
            </a:avLst>
          </a:prstGeom>
          <a:solidFill>
            <a:srgbClr val="071326"/>
          </a:solidFill>
          <a:ln w="12700">
            <a:solidFill>
              <a:srgbClr val="071326">
                <a:alpha val="0"/>
              </a:srgbClr>
            </a:solidFill>
            <a:prstDash val="solid"/>
          </a:ln>
        </p:spPr>
      </p:sp>
      <p:sp>
        <p:nvSpPr>
          <p:cNvPr id="32" name="Text 30"/>
          <p:cNvSpPr/>
          <p:nvPr/>
        </p:nvSpPr>
        <p:spPr>
          <a:xfrm>
            <a:off x="923544" y="5056632"/>
            <a:ext cx="6016752"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33" name="Text 31"/>
          <p:cNvSpPr/>
          <p:nvPr/>
        </p:nvSpPr>
        <p:spPr>
          <a:xfrm>
            <a:off x="923544" y="5230368"/>
            <a:ext cx="6016752" cy="310896"/>
          </a:xfrm>
          <a:prstGeom prst="rect">
            <a:avLst/>
          </a:prstGeom>
          <a:noFill/>
          <a:ln/>
        </p:spPr>
        <p:txBody>
          <a:bodyPr wrap="square" lIns="0" tIns="0" rIns="0" bIns="0" rtlCol="0" anchor="ctr">
            <a:normAutofit/>
          </a:bodyPr>
          <a:lstStyle/>
          <a:p>
            <a:pPr indent="0" marL="0">
              <a:buNone/>
            </a:pPr>
            <a:r>
              <a:rPr lang="en-US" sz="920" b="1" dirty="0">
                <a:solidFill>
                  <a:srgbClr val="FFFFFF"/>
                </a:solidFill>
                <a:latin typeface="Aptos" pitchFamily="34" charset="0"/>
                <a:ea typeface="Aptos" pitchFamily="34" charset="-122"/>
                <a:cs typeface="Aptos" pitchFamily="34" charset="-120"/>
              </a:rPr>
              <a:t>Customer concentration is already high. A 42% intercompany-weighted account makes the exposure harder to interpret and harder to underwrite.</a:t>
            </a:r>
            <a:endParaRPr lang="en-US" sz="920" dirty="0"/>
          </a:p>
        </p:txBody>
      </p:sp>
      <p:sp>
        <p:nvSpPr>
          <p:cNvPr id="34" name="Shape 32"/>
          <p:cNvSpPr/>
          <p:nvPr/>
        </p:nvSpPr>
        <p:spPr>
          <a:xfrm>
            <a:off x="7680960" y="4956048"/>
            <a:ext cx="3310128" cy="621792"/>
          </a:xfrm>
          <a:prstGeom prst="roundRect">
            <a:avLst>
              <a:gd name="adj" fmla="val 8824"/>
            </a:avLst>
          </a:prstGeom>
          <a:solidFill>
            <a:srgbClr val="FFFFFF"/>
          </a:solidFill>
          <a:ln w="6350">
            <a:solidFill>
              <a:srgbClr val="D6DCE4"/>
            </a:solidFill>
            <a:prstDash val="solid"/>
          </a:ln>
        </p:spPr>
      </p:sp>
      <p:sp>
        <p:nvSpPr>
          <p:cNvPr id="35" name="Text 33"/>
          <p:cNvSpPr/>
          <p:nvPr/>
        </p:nvSpPr>
        <p:spPr>
          <a:xfrm>
            <a:off x="7799832" y="5047488"/>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36" name="Text 34"/>
          <p:cNvSpPr/>
          <p:nvPr/>
        </p:nvSpPr>
        <p:spPr>
          <a:xfrm>
            <a:off x="9098280" y="5056632"/>
            <a:ext cx="1709928" cy="457200"/>
          </a:xfrm>
          <a:prstGeom prst="rect">
            <a:avLst/>
          </a:prstGeom>
          <a:noFill/>
          <a:ln/>
        </p:spPr>
        <p:txBody>
          <a:bodyPr wrap="square" lIns="0" tIns="0" rIns="0" bIns="0" rtlCol="0" anchor="ctr">
            <a:normAutofit/>
          </a:bodyPr>
          <a:lstStyle/>
          <a:p>
            <a:pPr indent="0" marL="0">
              <a:buNone/>
            </a:pPr>
            <a:r>
              <a:rPr lang="en-US" sz="800" dirty="0">
                <a:solidFill>
                  <a:srgbClr val="111827"/>
                </a:solidFill>
                <a:latin typeface="Aptos" pitchFamily="34" charset="0"/>
                <a:ea typeface="Aptos" pitchFamily="34" charset="-122"/>
                <a:cs typeface="Aptos" pitchFamily="34" charset="-120"/>
              </a:rPr>
              <a:t>Finance to finalize treatment before the next close; Commercial to report external-account growth and top-5 path to ≤60%.</a:t>
            </a:r>
            <a:endParaRPr lang="en-US" sz="800" dirty="0"/>
          </a:p>
        </p:txBody>
      </p:sp>
      <p:sp>
        <p:nvSpPr>
          <p:cNvPr id="37" name="Shape 35"/>
          <p:cNvSpPr/>
          <p:nvPr/>
        </p:nvSpPr>
        <p:spPr>
          <a:xfrm>
            <a:off x="530352" y="6419088"/>
            <a:ext cx="11130991" cy="0"/>
          </a:xfrm>
          <a:prstGeom prst="line">
            <a:avLst/>
          </a:prstGeom>
          <a:noFill/>
          <a:ln w="4445">
            <a:solidFill>
              <a:srgbClr val="D6DCE4"/>
            </a:solidFill>
            <a:prstDash val="solid"/>
          </a:ln>
        </p:spPr>
      </p:sp>
      <p:sp>
        <p:nvSpPr>
          <p:cNvPr id="38" name="Text 36"/>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39" name="Text 37"/>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06</a:t>
            </a:r>
            <a:endParaRPr lang="en-US" sz="6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698480" cy="493776"/>
          </a:xfrm>
          <a:prstGeom prst="rect">
            <a:avLst/>
          </a:prstGeom>
          <a:noFill/>
          <a:ln/>
        </p:spPr>
        <p:txBody>
          <a:bodyPr wrap="square" lIns="0" tIns="0" rIns="0" bIns="0" rtlCol="0" anchor="ctr">
            <a:normAutofit/>
          </a:bodyPr>
          <a:lstStyle/>
          <a:p>
            <a:pPr indent="0" marL="0">
              <a:buNone/>
            </a:pPr>
            <a:r>
              <a:rPr lang="en-US" sz="2400" b="1" dirty="0">
                <a:solidFill>
                  <a:srgbClr val="111827"/>
                </a:solidFill>
                <a:latin typeface="Aptos Display" pitchFamily="34" charset="0"/>
                <a:ea typeface="Aptos Display" pitchFamily="34" charset="-122"/>
                <a:cs typeface="Aptos Display" pitchFamily="34" charset="-120"/>
              </a:rPr>
              <a:t>The plant is not the bottleneck; inventory visibility is the open item</a:t>
            </a:r>
            <a:endParaRPr lang="en-US" sz="24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April production ran ahead of billing, supply was stable, and quality was clean.</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874520"/>
            <a:ext cx="2697480" cy="841248"/>
          </a:xfrm>
          <a:prstGeom prst="roundRect">
            <a:avLst>
              <a:gd name="adj" fmla="val 6522"/>
            </a:avLst>
          </a:prstGeom>
          <a:solidFill>
            <a:srgbClr val="FFFFFF"/>
          </a:solidFill>
          <a:ln w="6350">
            <a:solidFill>
              <a:srgbClr val="D6DCE4"/>
            </a:solidFill>
            <a:prstDash val="solid"/>
          </a:ln>
        </p:spPr>
      </p:sp>
      <p:sp>
        <p:nvSpPr>
          <p:cNvPr id="7" name="Text 5"/>
          <p:cNvSpPr/>
          <p:nvPr/>
        </p:nvSpPr>
        <p:spPr>
          <a:xfrm>
            <a:off x="859536" y="1984248"/>
            <a:ext cx="247802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PRODUCED · APRIL</a:t>
            </a:r>
            <a:endParaRPr lang="en-US" sz="540" dirty="0"/>
          </a:p>
        </p:txBody>
      </p:sp>
      <p:sp>
        <p:nvSpPr>
          <p:cNvPr id="8" name="Text 6"/>
          <p:cNvSpPr/>
          <p:nvPr/>
        </p:nvSpPr>
        <p:spPr>
          <a:xfrm>
            <a:off x="859536" y="2148840"/>
            <a:ext cx="2478024" cy="329184"/>
          </a:xfrm>
          <a:prstGeom prst="rect">
            <a:avLst/>
          </a:prstGeom>
          <a:noFill/>
          <a:ln/>
        </p:spPr>
        <p:txBody>
          <a:bodyPr wrap="square" lIns="0" tIns="0" rIns="0" bIns="0" rtlCol="0" anchor="ctr">
            <a:normAutofit/>
          </a:bodyPr>
          <a:lstStyle/>
          <a:p>
            <a:pPr indent="0" marL="0">
              <a:buNone/>
            </a:pPr>
            <a:r>
              <a:rPr lang="en-US" sz="2400" b="1" dirty="0">
                <a:solidFill>
                  <a:srgbClr val="111827"/>
                </a:solidFill>
                <a:latin typeface="Aptos Display" pitchFamily="34" charset="0"/>
                <a:ea typeface="Aptos Display" pitchFamily="34" charset="-122"/>
                <a:cs typeface="Aptos Display" pitchFamily="34" charset="-120"/>
              </a:rPr>
              <a:t>134,620</a:t>
            </a:r>
            <a:endParaRPr lang="en-US" sz="2400" dirty="0"/>
          </a:p>
        </p:txBody>
      </p:sp>
      <p:sp>
        <p:nvSpPr>
          <p:cNvPr id="9" name="Text 7"/>
          <p:cNvSpPr/>
          <p:nvPr/>
        </p:nvSpPr>
        <p:spPr>
          <a:xfrm>
            <a:off x="859536" y="2487168"/>
            <a:ext cx="247802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gallons across 22 workdays</a:t>
            </a:r>
            <a:endParaRPr lang="en-US" sz="650" dirty="0"/>
          </a:p>
        </p:txBody>
      </p:sp>
      <p:sp>
        <p:nvSpPr>
          <p:cNvPr id="10" name="Shape 8"/>
          <p:cNvSpPr/>
          <p:nvPr/>
        </p:nvSpPr>
        <p:spPr>
          <a:xfrm>
            <a:off x="3675888" y="1874520"/>
            <a:ext cx="2697480" cy="841248"/>
          </a:xfrm>
          <a:prstGeom prst="roundRect">
            <a:avLst>
              <a:gd name="adj" fmla="val 6522"/>
            </a:avLst>
          </a:prstGeom>
          <a:solidFill>
            <a:srgbClr val="FFFFFF"/>
          </a:solidFill>
          <a:ln w="6350">
            <a:solidFill>
              <a:srgbClr val="D6DCE4"/>
            </a:solidFill>
            <a:prstDash val="solid"/>
          </a:ln>
        </p:spPr>
      </p:sp>
      <p:sp>
        <p:nvSpPr>
          <p:cNvPr id="11" name="Text 9"/>
          <p:cNvSpPr/>
          <p:nvPr/>
        </p:nvSpPr>
        <p:spPr>
          <a:xfrm>
            <a:off x="3785616" y="1984248"/>
            <a:ext cx="247802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BILLED · APRIL</a:t>
            </a:r>
            <a:endParaRPr lang="en-US" sz="540" dirty="0"/>
          </a:p>
        </p:txBody>
      </p:sp>
      <p:sp>
        <p:nvSpPr>
          <p:cNvPr id="12" name="Text 10"/>
          <p:cNvSpPr/>
          <p:nvPr/>
        </p:nvSpPr>
        <p:spPr>
          <a:xfrm>
            <a:off x="3785616" y="2148840"/>
            <a:ext cx="2478024" cy="329184"/>
          </a:xfrm>
          <a:prstGeom prst="rect">
            <a:avLst/>
          </a:prstGeom>
          <a:noFill/>
          <a:ln/>
        </p:spPr>
        <p:txBody>
          <a:bodyPr wrap="square" lIns="0" tIns="0" rIns="0" bIns="0" rtlCol="0" anchor="ctr">
            <a:normAutofit/>
          </a:bodyPr>
          <a:lstStyle/>
          <a:p>
            <a:pPr indent="0" marL="0">
              <a:buNone/>
            </a:pPr>
            <a:r>
              <a:rPr lang="en-US" sz="2400" b="1" dirty="0">
                <a:solidFill>
                  <a:srgbClr val="111827"/>
                </a:solidFill>
                <a:latin typeface="Aptos Display" pitchFamily="34" charset="0"/>
                <a:ea typeface="Aptos Display" pitchFamily="34" charset="-122"/>
                <a:cs typeface="Aptos Display" pitchFamily="34" charset="-120"/>
              </a:rPr>
              <a:t>103,453</a:t>
            </a:r>
            <a:endParaRPr lang="en-US" sz="2400" dirty="0"/>
          </a:p>
        </p:txBody>
      </p:sp>
      <p:sp>
        <p:nvSpPr>
          <p:cNvPr id="13" name="Text 11"/>
          <p:cNvSpPr/>
          <p:nvPr/>
        </p:nvSpPr>
        <p:spPr>
          <a:xfrm>
            <a:off x="3785616" y="2487168"/>
            <a:ext cx="247802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gallons</a:t>
            </a:r>
            <a:endParaRPr lang="en-US" sz="650" dirty="0"/>
          </a:p>
        </p:txBody>
      </p:sp>
      <p:sp>
        <p:nvSpPr>
          <p:cNvPr id="14" name="Shape 12"/>
          <p:cNvSpPr/>
          <p:nvPr/>
        </p:nvSpPr>
        <p:spPr>
          <a:xfrm>
            <a:off x="6601968" y="1874520"/>
            <a:ext cx="2697480" cy="841248"/>
          </a:xfrm>
          <a:prstGeom prst="roundRect">
            <a:avLst>
              <a:gd name="adj" fmla="val 6522"/>
            </a:avLst>
          </a:prstGeom>
          <a:solidFill>
            <a:srgbClr val="FFFFFF"/>
          </a:solidFill>
          <a:ln w="6350">
            <a:solidFill>
              <a:srgbClr val="D6DCE4"/>
            </a:solidFill>
            <a:prstDash val="solid"/>
          </a:ln>
        </p:spPr>
      </p:sp>
      <p:sp>
        <p:nvSpPr>
          <p:cNvPr id="15" name="Text 13"/>
          <p:cNvSpPr/>
          <p:nvPr/>
        </p:nvSpPr>
        <p:spPr>
          <a:xfrm>
            <a:off x="6711696" y="1984248"/>
            <a:ext cx="247802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INVENTORY BUILD</a:t>
            </a:r>
            <a:endParaRPr lang="en-US" sz="540" dirty="0"/>
          </a:p>
        </p:txBody>
      </p:sp>
      <p:sp>
        <p:nvSpPr>
          <p:cNvPr id="16" name="Text 14"/>
          <p:cNvSpPr/>
          <p:nvPr/>
        </p:nvSpPr>
        <p:spPr>
          <a:xfrm>
            <a:off x="6711696" y="2148840"/>
            <a:ext cx="2478024" cy="329184"/>
          </a:xfrm>
          <a:prstGeom prst="rect">
            <a:avLst/>
          </a:prstGeom>
          <a:noFill/>
          <a:ln/>
        </p:spPr>
        <p:txBody>
          <a:bodyPr wrap="square" lIns="0" tIns="0" rIns="0" bIns="0" rtlCol="0" anchor="ctr">
            <a:normAutofit/>
          </a:bodyPr>
          <a:lstStyle/>
          <a:p>
            <a:pPr indent="0" marL="0">
              <a:buNone/>
            </a:pPr>
            <a:r>
              <a:rPr lang="en-US" sz="2400" b="1" dirty="0">
                <a:solidFill>
                  <a:srgbClr val="071326"/>
                </a:solidFill>
                <a:latin typeface="Aptos Display" pitchFamily="34" charset="0"/>
                <a:ea typeface="Aptos Display" pitchFamily="34" charset="-122"/>
                <a:cs typeface="Aptos Display" pitchFamily="34" charset="-120"/>
              </a:rPr>
              <a:t>≈31K</a:t>
            </a:r>
            <a:endParaRPr lang="en-US" sz="2400" dirty="0"/>
          </a:p>
        </p:txBody>
      </p:sp>
      <p:sp>
        <p:nvSpPr>
          <p:cNvPr id="17" name="Text 15"/>
          <p:cNvSpPr/>
          <p:nvPr/>
        </p:nvSpPr>
        <p:spPr>
          <a:xfrm>
            <a:off x="6711696" y="2487168"/>
            <a:ext cx="247802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gallons in April</a:t>
            </a:r>
            <a:endParaRPr lang="en-US" sz="650" dirty="0"/>
          </a:p>
        </p:txBody>
      </p:sp>
      <p:sp>
        <p:nvSpPr>
          <p:cNvPr id="18" name="Shape 16"/>
          <p:cNvSpPr/>
          <p:nvPr/>
        </p:nvSpPr>
        <p:spPr>
          <a:xfrm>
            <a:off x="9528048" y="1874520"/>
            <a:ext cx="1600200" cy="841248"/>
          </a:xfrm>
          <a:prstGeom prst="roundRect">
            <a:avLst>
              <a:gd name="adj" fmla="val 6522"/>
            </a:avLst>
          </a:prstGeom>
          <a:solidFill>
            <a:srgbClr val="FFFFFF"/>
          </a:solidFill>
          <a:ln w="6350">
            <a:solidFill>
              <a:srgbClr val="D6DCE4"/>
            </a:solidFill>
            <a:prstDash val="solid"/>
          </a:ln>
        </p:spPr>
      </p:sp>
      <p:sp>
        <p:nvSpPr>
          <p:cNvPr id="19" name="Text 17"/>
          <p:cNvSpPr/>
          <p:nvPr/>
        </p:nvSpPr>
        <p:spPr>
          <a:xfrm>
            <a:off x="9637776" y="1984248"/>
            <a:ext cx="138074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INCIDENTS</a:t>
            </a:r>
            <a:endParaRPr lang="en-US" sz="540" dirty="0"/>
          </a:p>
        </p:txBody>
      </p:sp>
      <p:sp>
        <p:nvSpPr>
          <p:cNvPr id="20" name="Text 18"/>
          <p:cNvSpPr/>
          <p:nvPr/>
        </p:nvSpPr>
        <p:spPr>
          <a:xfrm>
            <a:off x="9637776" y="2148840"/>
            <a:ext cx="1380744" cy="329184"/>
          </a:xfrm>
          <a:prstGeom prst="rect">
            <a:avLst/>
          </a:prstGeom>
          <a:noFill/>
          <a:ln/>
        </p:spPr>
        <p:txBody>
          <a:bodyPr wrap="square" lIns="0" tIns="0" rIns="0" bIns="0" rtlCol="0" anchor="ctr">
            <a:normAutofit/>
          </a:bodyPr>
          <a:lstStyle/>
          <a:p>
            <a:pPr indent="0" marL="0">
              <a:buNone/>
            </a:pPr>
            <a:r>
              <a:rPr lang="en-US" sz="2400" b="1" dirty="0">
                <a:solidFill>
                  <a:srgbClr val="027A48"/>
                </a:solidFill>
                <a:latin typeface="Aptos Display" pitchFamily="34" charset="0"/>
                <a:ea typeface="Aptos Display" pitchFamily="34" charset="-122"/>
                <a:cs typeface="Aptos Display" pitchFamily="34" charset="-120"/>
              </a:rPr>
              <a:t>0</a:t>
            </a:r>
            <a:endParaRPr lang="en-US" sz="2400" dirty="0"/>
          </a:p>
        </p:txBody>
      </p:sp>
      <p:sp>
        <p:nvSpPr>
          <p:cNvPr id="21" name="Text 19"/>
          <p:cNvSpPr/>
          <p:nvPr/>
        </p:nvSpPr>
        <p:spPr>
          <a:xfrm>
            <a:off x="9637776" y="2487168"/>
            <a:ext cx="138074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quality, supply, or line-down</a:t>
            </a:r>
            <a:endParaRPr lang="en-US" sz="650" dirty="0"/>
          </a:p>
        </p:txBody>
      </p:sp>
      <p:sp>
        <p:nvSpPr>
          <p:cNvPr id="22" name="Shape 20"/>
          <p:cNvSpPr/>
          <p:nvPr/>
        </p:nvSpPr>
        <p:spPr>
          <a:xfrm>
            <a:off x="749808" y="3438144"/>
            <a:ext cx="3236976" cy="1005840"/>
          </a:xfrm>
          <a:prstGeom prst="roundRect">
            <a:avLst>
              <a:gd name="adj" fmla="val 5455"/>
            </a:avLst>
          </a:prstGeom>
          <a:solidFill>
            <a:srgbClr val="FFFFFF"/>
          </a:solidFill>
          <a:ln w="6350">
            <a:solidFill>
              <a:srgbClr val="D6DCE4"/>
            </a:solidFill>
            <a:prstDash val="solid"/>
          </a:ln>
        </p:spPr>
      </p:sp>
      <p:sp>
        <p:nvSpPr>
          <p:cNvPr id="23" name="Text 21"/>
          <p:cNvSpPr/>
          <p:nvPr/>
        </p:nvSpPr>
        <p:spPr>
          <a:xfrm>
            <a:off x="914400" y="3584448"/>
            <a:ext cx="2907792" cy="201168"/>
          </a:xfrm>
          <a:prstGeom prst="rect">
            <a:avLst/>
          </a:prstGeom>
          <a:noFill/>
          <a:ln/>
        </p:spPr>
        <p:txBody>
          <a:bodyPr wrap="square" lIns="0" tIns="0" rIns="0" bIns="0" rtlCol="0" anchor="ctr">
            <a:normAutofit/>
          </a:bodyPr>
          <a:lstStyle/>
          <a:p>
            <a:pPr indent="0" marL="0">
              <a:buNone/>
            </a:pPr>
            <a:r>
              <a:rPr lang="en-US" sz="1100" b="1" dirty="0">
                <a:solidFill>
                  <a:srgbClr val="111827"/>
                </a:solidFill>
                <a:latin typeface="Aptos Display" pitchFamily="34" charset="0"/>
                <a:ea typeface="Aptos Display" pitchFamily="34" charset="-122"/>
                <a:cs typeface="Aptos Display" pitchFamily="34" charset="-120"/>
              </a:rPr>
              <a:t>Capacity</a:t>
            </a:r>
            <a:endParaRPr lang="en-US" sz="1100" dirty="0"/>
          </a:p>
        </p:txBody>
      </p:sp>
      <p:sp>
        <p:nvSpPr>
          <p:cNvPr id="24" name="Text 22"/>
          <p:cNvSpPr/>
          <p:nvPr/>
        </p:nvSpPr>
        <p:spPr>
          <a:xfrm>
            <a:off x="914400" y="3867912"/>
            <a:ext cx="2907792" cy="475488"/>
          </a:xfrm>
          <a:prstGeom prst="rect">
            <a:avLst/>
          </a:prstGeom>
          <a:noFill/>
          <a:ln/>
        </p:spPr>
        <p:txBody>
          <a:bodyPr wrap="square" lIns="0" tIns="0" rIns="0" bIns="0" rtlCol="0" anchor="t">
            <a:normAutofit/>
          </a:bodyPr>
          <a:lstStyle/>
          <a:p>
            <a:pPr indent="0" marL="0">
              <a:buNone/>
            </a:pPr>
            <a:r>
              <a:rPr lang="en-US" sz="840" dirty="0">
                <a:solidFill>
                  <a:srgbClr val="475467"/>
                </a:solidFill>
                <a:latin typeface="Aptos" pitchFamily="34" charset="0"/>
                <a:ea typeface="Aptos" pitchFamily="34" charset="-122"/>
                <a:cs typeface="Aptos" pitchFamily="34" charset="-120"/>
              </a:rPr>
              <a:t>Production exceeded billed volume. Plant capacity was not the constraint.</a:t>
            </a:r>
            <a:endParaRPr lang="en-US" sz="840" dirty="0"/>
          </a:p>
        </p:txBody>
      </p:sp>
      <p:sp>
        <p:nvSpPr>
          <p:cNvPr id="25" name="Shape 23"/>
          <p:cNvSpPr/>
          <p:nvPr/>
        </p:nvSpPr>
        <p:spPr>
          <a:xfrm>
            <a:off x="4224528" y="3438144"/>
            <a:ext cx="3236976" cy="1005840"/>
          </a:xfrm>
          <a:prstGeom prst="roundRect">
            <a:avLst>
              <a:gd name="adj" fmla="val 5455"/>
            </a:avLst>
          </a:prstGeom>
          <a:solidFill>
            <a:srgbClr val="FFFFFF"/>
          </a:solidFill>
          <a:ln w="6350">
            <a:solidFill>
              <a:srgbClr val="D6DCE4"/>
            </a:solidFill>
            <a:prstDash val="solid"/>
          </a:ln>
        </p:spPr>
      </p:sp>
      <p:sp>
        <p:nvSpPr>
          <p:cNvPr id="26" name="Text 24"/>
          <p:cNvSpPr/>
          <p:nvPr/>
        </p:nvSpPr>
        <p:spPr>
          <a:xfrm>
            <a:off x="4389120" y="3584448"/>
            <a:ext cx="2907792" cy="201168"/>
          </a:xfrm>
          <a:prstGeom prst="rect">
            <a:avLst/>
          </a:prstGeom>
          <a:noFill/>
          <a:ln/>
        </p:spPr>
        <p:txBody>
          <a:bodyPr wrap="square" lIns="0" tIns="0" rIns="0" bIns="0" rtlCol="0" anchor="ctr">
            <a:normAutofit/>
          </a:bodyPr>
          <a:lstStyle/>
          <a:p>
            <a:pPr indent="0" marL="0">
              <a:buNone/>
            </a:pPr>
            <a:r>
              <a:rPr lang="en-US" sz="1100" b="1" dirty="0">
                <a:solidFill>
                  <a:srgbClr val="111827"/>
                </a:solidFill>
                <a:latin typeface="Aptos Display" pitchFamily="34" charset="0"/>
                <a:ea typeface="Aptos Display" pitchFamily="34" charset="-122"/>
                <a:cs typeface="Aptos Display" pitchFamily="34" charset="-120"/>
              </a:rPr>
              <a:t>Supply chain</a:t>
            </a:r>
            <a:endParaRPr lang="en-US" sz="1100" dirty="0"/>
          </a:p>
        </p:txBody>
      </p:sp>
      <p:sp>
        <p:nvSpPr>
          <p:cNvPr id="27" name="Text 25"/>
          <p:cNvSpPr/>
          <p:nvPr/>
        </p:nvSpPr>
        <p:spPr>
          <a:xfrm>
            <a:off x="4389120" y="3867912"/>
            <a:ext cx="2907792" cy="475488"/>
          </a:xfrm>
          <a:prstGeom prst="rect">
            <a:avLst/>
          </a:prstGeom>
          <a:noFill/>
          <a:ln/>
        </p:spPr>
        <p:txBody>
          <a:bodyPr wrap="square" lIns="0" tIns="0" rIns="0" bIns="0" rtlCol="0" anchor="t">
            <a:normAutofit/>
          </a:bodyPr>
          <a:lstStyle/>
          <a:p>
            <a:pPr indent="0" marL="0">
              <a:buNone/>
            </a:pPr>
            <a:r>
              <a:rPr lang="en-US" sz="840" dirty="0">
                <a:solidFill>
                  <a:srgbClr val="475467"/>
                </a:solidFill>
                <a:latin typeface="Aptos" pitchFamily="34" charset="0"/>
                <a:ea typeface="Aptos" pitchFamily="34" charset="-122"/>
                <a:cs typeface="Aptos" pitchFamily="34" charset="-120"/>
              </a:rPr>
              <a:t>No material raw-material, additive, packaging, or freight disruption affected the period.</a:t>
            </a:r>
            <a:endParaRPr lang="en-US" sz="840" dirty="0"/>
          </a:p>
        </p:txBody>
      </p:sp>
      <p:sp>
        <p:nvSpPr>
          <p:cNvPr id="28" name="Shape 26"/>
          <p:cNvSpPr/>
          <p:nvPr/>
        </p:nvSpPr>
        <p:spPr>
          <a:xfrm>
            <a:off x="7699248" y="3438144"/>
            <a:ext cx="3236976" cy="1005840"/>
          </a:xfrm>
          <a:prstGeom prst="roundRect">
            <a:avLst>
              <a:gd name="adj" fmla="val 5455"/>
            </a:avLst>
          </a:prstGeom>
          <a:solidFill>
            <a:srgbClr val="FFFFFF"/>
          </a:solidFill>
          <a:ln w="6350">
            <a:solidFill>
              <a:srgbClr val="D6DCE4"/>
            </a:solidFill>
            <a:prstDash val="solid"/>
          </a:ln>
        </p:spPr>
      </p:sp>
      <p:sp>
        <p:nvSpPr>
          <p:cNvPr id="29" name="Text 27"/>
          <p:cNvSpPr/>
          <p:nvPr/>
        </p:nvSpPr>
        <p:spPr>
          <a:xfrm>
            <a:off x="7863840" y="3584448"/>
            <a:ext cx="2907792" cy="201168"/>
          </a:xfrm>
          <a:prstGeom prst="rect">
            <a:avLst/>
          </a:prstGeom>
          <a:noFill/>
          <a:ln/>
        </p:spPr>
        <p:txBody>
          <a:bodyPr wrap="square" lIns="0" tIns="0" rIns="0" bIns="0" rtlCol="0" anchor="ctr">
            <a:normAutofit/>
          </a:bodyPr>
          <a:lstStyle/>
          <a:p>
            <a:pPr indent="0" marL="0">
              <a:buNone/>
            </a:pPr>
            <a:r>
              <a:rPr lang="en-US" sz="1100" b="1" dirty="0">
                <a:solidFill>
                  <a:srgbClr val="111827"/>
                </a:solidFill>
                <a:latin typeface="Aptos Display" pitchFamily="34" charset="0"/>
                <a:ea typeface="Aptos Display" pitchFamily="34" charset="-122"/>
                <a:cs typeface="Aptos Display" pitchFamily="34" charset="-120"/>
              </a:rPr>
              <a:t>Quality</a:t>
            </a:r>
            <a:endParaRPr lang="en-US" sz="1100" dirty="0"/>
          </a:p>
        </p:txBody>
      </p:sp>
      <p:sp>
        <p:nvSpPr>
          <p:cNvPr id="30" name="Text 28"/>
          <p:cNvSpPr/>
          <p:nvPr/>
        </p:nvSpPr>
        <p:spPr>
          <a:xfrm>
            <a:off x="7863840" y="3867912"/>
            <a:ext cx="2907792" cy="475488"/>
          </a:xfrm>
          <a:prstGeom prst="rect">
            <a:avLst/>
          </a:prstGeom>
          <a:noFill/>
          <a:ln/>
        </p:spPr>
        <p:txBody>
          <a:bodyPr wrap="square" lIns="0" tIns="0" rIns="0" bIns="0" rtlCol="0" anchor="t">
            <a:normAutofit/>
          </a:bodyPr>
          <a:lstStyle/>
          <a:p>
            <a:pPr indent="0" marL="0">
              <a:buNone/>
            </a:pPr>
            <a:r>
              <a:rPr lang="en-US" sz="840" dirty="0">
                <a:solidFill>
                  <a:srgbClr val="475467"/>
                </a:solidFill>
                <a:latin typeface="Aptos" pitchFamily="34" charset="0"/>
                <a:ea typeface="Aptos" pitchFamily="34" charset="-122"/>
                <a:cs typeface="Aptos" pitchFamily="34" charset="-120"/>
              </a:rPr>
              <a:t>No quality incidents, batch holds, non-conformances, or customer quality complaints were recorded.</a:t>
            </a:r>
            <a:endParaRPr lang="en-US" sz="840" dirty="0"/>
          </a:p>
        </p:txBody>
      </p:sp>
      <p:sp>
        <p:nvSpPr>
          <p:cNvPr id="31" name="Shape 29"/>
          <p:cNvSpPr/>
          <p:nvPr/>
        </p:nvSpPr>
        <p:spPr>
          <a:xfrm>
            <a:off x="749808" y="4956048"/>
            <a:ext cx="6565392" cy="621792"/>
          </a:xfrm>
          <a:prstGeom prst="roundRect">
            <a:avLst>
              <a:gd name="adj" fmla="val 8824"/>
            </a:avLst>
          </a:prstGeom>
          <a:solidFill>
            <a:srgbClr val="071326"/>
          </a:solidFill>
          <a:ln w="12700">
            <a:solidFill>
              <a:srgbClr val="071326">
                <a:alpha val="0"/>
              </a:srgbClr>
            </a:solidFill>
            <a:prstDash val="solid"/>
          </a:ln>
        </p:spPr>
      </p:sp>
      <p:sp>
        <p:nvSpPr>
          <p:cNvPr id="32" name="Text 30"/>
          <p:cNvSpPr/>
          <p:nvPr/>
        </p:nvSpPr>
        <p:spPr>
          <a:xfrm>
            <a:off x="896112" y="5056632"/>
            <a:ext cx="6272784"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33" name="Text 31"/>
          <p:cNvSpPr/>
          <p:nvPr/>
        </p:nvSpPr>
        <p:spPr>
          <a:xfrm>
            <a:off x="896112" y="5230368"/>
            <a:ext cx="6272784" cy="310896"/>
          </a:xfrm>
          <a:prstGeom prst="rect">
            <a:avLst/>
          </a:prstGeom>
          <a:noFill/>
          <a:ln/>
        </p:spPr>
        <p:txBody>
          <a:bodyPr wrap="square" lIns="0" tIns="0" rIns="0" bIns="0" rtlCol="0" anchor="ctr">
            <a:normAutofit/>
          </a:bodyPr>
          <a:lstStyle/>
          <a:p>
            <a:pPr indent="0" marL="0">
              <a:buNone/>
            </a:pPr>
            <a:r>
              <a:rPr lang="en-US" sz="870" b="1" dirty="0">
                <a:solidFill>
                  <a:srgbClr val="FFFFFF"/>
                </a:solidFill>
                <a:latin typeface="Aptos" pitchFamily="34" charset="0"/>
                <a:ea typeface="Aptos" pitchFamily="34" charset="-122"/>
                <a:cs typeface="Aptos" pitchFamily="34" charset="-120"/>
              </a:rPr>
              <a:t>The board should not over-invest time in plant execution. The open operational item is inventory value, days of cover, and production-vs-billing clarity.</a:t>
            </a:r>
            <a:endParaRPr lang="en-US" sz="870" dirty="0"/>
          </a:p>
        </p:txBody>
      </p:sp>
      <p:sp>
        <p:nvSpPr>
          <p:cNvPr id="34" name="Shape 32"/>
          <p:cNvSpPr/>
          <p:nvPr/>
        </p:nvSpPr>
        <p:spPr>
          <a:xfrm>
            <a:off x="7662672" y="4956048"/>
            <a:ext cx="3310128" cy="621792"/>
          </a:xfrm>
          <a:prstGeom prst="roundRect">
            <a:avLst>
              <a:gd name="adj" fmla="val 8824"/>
            </a:avLst>
          </a:prstGeom>
          <a:solidFill>
            <a:srgbClr val="FFFFFF"/>
          </a:solidFill>
          <a:ln w="6350">
            <a:solidFill>
              <a:srgbClr val="D6DCE4"/>
            </a:solidFill>
            <a:prstDash val="solid"/>
          </a:ln>
        </p:spPr>
      </p:sp>
      <p:sp>
        <p:nvSpPr>
          <p:cNvPr id="35" name="Text 33"/>
          <p:cNvSpPr/>
          <p:nvPr/>
        </p:nvSpPr>
        <p:spPr>
          <a:xfrm>
            <a:off x="7781544" y="5047488"/>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36" name="Text 34"/>
          <p:cNvSpPr/>
          <p:nvPr/>
        </p:nvSpPr>
        <p:spPr>
          <a:xfrm>
            <a:off x="9079992" y="5056632"/>
            <a:ext cx="1709928" cy="457200"/>
          </a:xfrm>
          <a:prstGeom prst="rect">
            <a:avLst/>
          </a:prstGeom>
          <a:noFill/>
          <a:ln/>
        </p:spPr>
        <p:txBody>
          <a:bodyPr wrap="square" lIns="0" tIns="0" rIns="0" bIns="0" rtlCol="0" anchor="ctr">
            <a:normAutofit/>
          </a:bodyPr>
          <a:lstStyle/>
          <a:p>
            <a:pPr indent="0" marL="0">
              <a:buNone/>
            </a:pPr>
            <a:r>
              <a:rPr lang="en-US" sz="770" dirty="0">
                <a:solidFill>
                  <a:srgbClr val="111827"/>
                </a:solidFill>
                <a:latin typeface="Aptos" pitchFamily="34" charset="0"/>
                <a:ea typeface="Aptos" pitchFamily="34" charset="-122"/>
                <a:cs typeface="Aptos" pitchFamily="34" charset="-120"/>
              </a:rPr>
              <a:t>Ops / Finance to add beginning inventory, ending inventory, days of cover, and $ value of movement before next distribution.</a:t>
            </a:r>
            <a:endParaRPr lang="en-US" sz="770" dirty="0"/>
          </a:p>
        </p:txBody>
      </p:sp>
      <p:sp>
        <p:nvSpPr>
          <p:cNvPr id="37" name="Shape 35"/>
          <p:cNvSpPr/>
          <p:nvPr/>
        </p:nvSpPr>
        <p:spPr>
          <a:xfrm>
            <a:off x="530352" y="6419088"/>
            <a:ext cx="11130991" cy="0"/>
          </a:xfrm>
          <a:prstGeom prst="line">
            <a:avLst/>
          </a:prstGeom>
          <a:noFill/>
          <a:ln w="4445">
            <a:solidFill>
              <a:srgbClr val="D6DCE4"/>
            </a:solidFill>
            <a:prstDash val="solid"/>
          </a:ln>
        </p:spPr>
      </p:sp>
      <p:sp>
        <p:nvSpPr>
          <p:cNvPr id="38" name="Text 36"/>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39" name="Text 37"/>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07</a:t>
            </a:r>
            <a:endParaRPr lang="en-US" sz="6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972800" cy="493776"/>
          </a:xfrm>
          <a:prstGeom prst="rect">
            <a:avLst/>
          </a:prstGeom>
          <a:noFill/>
          <a:ln/>
        </p:spPr>
        <p:txBody>
          <a:bodyPr wrap="square" lIns="0" tIns="0" rIns="0" bIns="0" rtlCol="0" anchor="ctr">
            <a:normAutofit/>
          </a:bodyPr>
          <a:lstStyle/>
          <a:p>
            <a:pPr indent="0" marL="0">
              <a:buNone/>
            </a:pPr>
            <a:r>
              <a:rPr lang="en-US" sz="2370" b="1" dirty="0">
                <a:solidFill>
                  <a:srgbClr val="111827"/>
                </a:solidFill>
                <a:latin typeface="Aptos Display" pitchFamily="34" charset="0"/>
                <a:ea typeface="Aptos Display" pitchFamily="34" charset="-122"/>
                <a:cs typeface="Aptos Display" pitchFamily="34" charset="-120"/>
              </a:rPr>
              <a:t>We will not ask the board to decide on numbers that are not board-grade</a:t>
            </a:r>
            <a:endParaRPr lang="en-US" sz="237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The strongest move is to separate authoritative facts from unresolved data before the board asks.</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Text 4"/>
          <p:cNvSpPr/>
          <p:nvPr/>
        </p:nvSpPr>
        <p:spPr>
          <a:xfrm>
            <a:off x="749808" y="1847088"/>
            <a:ext cx="2560320" cy="164592"/>
          </a:xfrm>
          <a:prstGeom prst="rect">
            <a:avLst/>
          </a:prstGeom>
          <a:noFill/>
          <a:ln/>
        </p:spPr>
        <p:txBody>
          <a:bodyPr wrap="square" lIns="0" tIns="0" rIns="0" bIns="0" rtlCol="0" anchor="ctr">
            <a:normAutofit/>
          </a:bodyPr>
          <a:lstStyle/>
          <a:p>
            <a:pPr indent="0" marL="0">
              <a:buNone/>
            </a:pPr>
            <a:r>
              <a:rPr lang="en-US" sz="630" b="1" dirty="0">
                <a:solidFill>
                  <a:srgbClr val="027A48"/>
                </a:solidFill>
                <a:latin typeface="Aptos" pitchFamily="34" charset="0"/>
                <a:ea typeface="Aptos" pitchFamily="34" charset="-122"/>
                <a:cs typeface="Aptos" pitchFamily="34" charset="-120"/>
              </a:rPr>
              <a:t>AUTHORITATIVE · DECIDE ON THIS</a:t>
            </a:r>
            <a:endParaRPr lang="en-US" sz="630" dirty="0"/>
          </a:p>
        </p:txBody>
      </p:sp>
      <p:sp>
        <p:nvSpPr>
          <p:cNvPr id="7" name="Shape 5"/>
          <p:cNvSpPr/>
          <p:nvPr/>
        </p:nvSpPr>
        <p:spPr>
          <a:xfrm>
            <a:off x="749808" y="2139696"/>
            <a:ext cx="5047488" cy="2962656"/>
          </a:xfrm>
          <a:prstGeom prst="roundRect">
            <a:avLst>
              <a:gd name="adj" fmla="val 1852"/>
            </a:avLst>
          </a:prstGeom>
          <a:solidFill>
            <a:srgbClr val="FFFFFF"/>
          </a:solidFill>
          <a:ln w="6350">
            <a:solidFill>
              <a:srgbClr val="D6DCE4"/>
            </a:solidFill>
            <a:prstDash val="solid"/>
          </a:ln>
        </p:spPr>
      </p:sp>
      <p:sp>
        <p:nvSpPr>
          <p:cNvPr id="8" name="Text 6"/>
          <p:cNvSpPr/>
          <p:nvPr/>
        </p:nvSpPr>
        <p:spPr>
          <a:xfrm>
            <a:off x="987552" y="2450592"/>
            <a:ext cx="228600" cy="201168"/>
          </a:xfrm>
          <a:prstGeom prst="rect">
            <a:avLst/>
          </a:prstGeom>
          <a:noFill/>
          <a:ln/>
        </p:spPr>
        <p:txBody>
          <a:bodyPr wrap="square" lIns="0" tIns="0" rIns="0" bIns="0" rtlCol="0" anchor="ctr"/>
          <a:lstStyle/>
          <a:p>
            <a:pPr indent="0" marL="0">
              <a:buNone/>
            </a:pPr>
            <a:r>
              <a:rPr lang="en-US" sz="1000" b="1" dirty="0">
                <a:solidFill>
                  <a:srgbClr val="027A48"/>
                </a:solidFill>
                <a:latin typeface="Aptos" pitchFamily="34" charset="0"/>
                <a:ea typeface="Aptos" pitchFamily="34" charset="-122"/>
                <a:cs typeface="Aptos" pitchFamily="34" charset="-120"/>
              </a:rPr>
              <a:t>✓</a:t>
            </a:r>
            <a:endParaRPr lang="en-US" sz="1000" dirty="0"/>
          </a:p>
        </p:txBody>
      </p:sp>
      <p:sp>
        <p:nvSpPr>
          <p:cNvPr id="9" name="Text 7"/>
          <p:cNvSpPr/>
          <p:nvPr/>
        </p:nvSpPr>
        <p:spPr>
          <a:xfrm>
            <a:off x="1298448" y="2450592"/>
            <a:ext cx="4069080" cy="219456"/>
          </a:xfrm>
          <a:prstGeom prst="rect">
            <a:avLst/>
          </a:prstGeom>
          <a:noFill/>
          <a:ln/>
        </p:spPr>
        <p:txBody>
          <a:bodyPr wrap="square" lIns="0" tIns="0" rIns="0" bIns="0" rtlCol="0" anchor="ctr">
            <a:normAutofit/>
          </a:bodyPr>
          <a:lstStyle/>
          <a:p>
            <a:pPr indent="0" marL="0">
              <a:buNone/>
            </a:pPr>
            <a:r>
              <a:rPr lang="en-US" sz="900" dirty="0">
                <a:solidFill>
                  <a:srgbClr val="111827"/>
                </a:solidFill>
                <a:latin typeface="Aptos" pitchFamily="34" charset="0"/>
                <a:ea typeface="Aptos" pitchFamily="34" charset="-122"/>
                <a:cs typeface="Aptos" pitchFamily="34" charset="-120"/>
              </a:rPr>
              <a:t>QuickBooks P&amp;L: revenue, COGS, margin, net income</a:t>
            </a:r>
            <a:endParaRPr lang="en-US" sz="900" dirty="0"/>
          </a:p>
        </p:txBody>
      </p:sp>
      <p:sp>
        <p:nvSpPr>
          <p:cNvPr id="10" name="Text 8"/>
          <p:cNvSpPr/>
          <p:nvPr/>
        </p:nvSpPr>
        <p:spPr>
          <a:xfrm>
            <a:off x="987552" y="2999232"/>
            <a:ext cx="228600" cy="201168"/>
          </a:xfrm>
          <a:prstGeom prst="rect">
            <a:avLst/>
          </a:prstGeom>
          <a:noFill/>
          <a:ln/>
        </p:spPr>
        <p:txBody>
          <a:bodyPr wrap="square" lIns="0" tIns="0" rIns="0" bIns="0" rtlCol="0" anchor="ctr"/>
          <a:lstStyle/>
          <a:p>
            <a:pPr indent="0" marL="0">
              <a:buNone/>
            </a:pPr>
            <a:r>
              <a:rPr lang="en-US" sz="1000" b="1" dirty="0">
                <a:solidFill>
                  <a:srgbClr val="027A48"/>
                </a:solidFill>
                <a:latin typeface="Aptos" pitchFamily="34" charset="0"/>
                <a:ea typeface="Aptos" pitchFamily="34" charset="-122"/>
                <a:cs typeface="Aptos" pitchFamily="34" charset="-120"/>
              </a:rPr>
              <a:t>✓</a:t>
            </a:r>
            <a:endParaRPr lang="en-US" sz="1000" dirty="0"/>
          </a:p>
        </p:txBody>
      </p:sp>
      <p:sp>
        <p:nvSpPr>
          <p:cNvPr id="11" name="Text 9"/>
          <p:cNvSpPr/>
          <p:nvPr/>
        </p:nvSpPr>
        <p:spPr>
          <a:xfrm>
            <a:off x="1298448" y="2999232"/>
            <a:ext cx="4069080" cy="219456"/>
          </a:xfrm>
          <a:prstGeom prst="rect">
            <a:avLst/>
          </a:prstGeom>
          <a:noFill/>
          <a:ln/>
        </p:spPr>
        <p:txBody>
          <a:bodyPr wrap="square" lIns="0" tIns="0" rIns="0" bIns="0" rtlCol="0" anchor="ctr">
            <a:normAutofit/>
          </a:bodyPr>
          <a:lstStyle/>
          <a:p>
            <a:pPr indent="0" marL="0">
              <a:buNone/>
            </a:pPr>
            <a:r>
              <a:rPr lang="en-US" sz="900" dirty="0">
                <a:solidFill>
                  <a:srgbClr val="111827"/>
                </a:solidFill>
                <a:latin typeface="Aptos" pitchFamily="34" charset="0"/>
                <a:ea typeface="Aptos" pitchFamily="34" charset="-122"/>
                <a:cs typeface="Aptos" pitchFamily="34" charset="-120"/>
              </a:rPr>
              <a:t>Locked April volume close</a:t>
            </a:r>
            <a:endParaRPr lang="en-US" sz="900" dirty="0"/>
          </a:p>
        </p:txBody>
      </p:sp>
      <p:sp>
        <p:nvSpPr>
          <p:cNvPr id="12" name="Text 10"/>
          <p:cNvSpPr/>
          <p:nvPr/>
        </p:nvSpPr>
        <p:spPr>
          <a:xfrm>
            <a:off x="987552" y="3547872"/>
            <a:ext cx="228600" cy="201168"/>
          </a:xfrm>
          <a:prstGeom prst="rect">
            <a:avLst/>
          </a:prstGeom>
          <a:noFill/>
          <a:ln/>
        </p:spPr>
        <p:txBody>
          <a:bodyPr wrap="square" lIns="0" tIns="0" rIns="0" bIns="0" rtlCol="0" anchor="ctr"/>
          <a:lstStyle/>
          <a:p>
            <a:pPr indent="0" marL="0">
              <a:buNone/>
            </a:pPr>
            <a:r>
              <a:rPr lang="en-US" sz="1000" b="1" dirty="0">
                <a:solidFill>
                  <a:srgbClr val="027A48"/>
                </a:solidFill>
                <a:latin typeface="Aptos" pitchFamily="34" charset="0"/>
                <a:ea typeface="Aptos" pitchFamily="34" charset="-122"/>
                <a:cs typeface="Aptos" pitchFamily="34" charset="-120"/>
              </a:rPr>
              <a:t>✓</a:t>
            </a:r>
            <a:endParaRPr lang="en-US" sz="1000" dirty="0"/>
          </a:p>
        </p:txBody>
      </p:sp>
      <p:sp>
        <p:nvSpPr>
          <p:cNvPr id="13" name="Text 11"/>
          <p:cNvSpPr/>
          <p:nvPr/>
        </p:nvSpPr>
        <p:spPr>
          <a:xfrm>
            <a:off x="1298448" y="3547872"/>
            <a:ext cx="4069080" cy="219456"/>
          </a:xfrm>
          <a:prstGeom prst="rect">
            <a:avLst/>
          </a:prstGeom>
          <a:noFill/>
          <a:ln/>
        </p:spPr>
        <p:txBody>
          <a:bodyPr wrap="square" lIns="0" tIns="0" rIns="0" bIns="0" rtlCol="0" anchor="ctr">
            <a:normAutofit/>
          </a:bodyPr>
          <a:lstStyle/>
          <a:p>
            <a:pPr indent="0" marL="0">
              <a:buNone/>
            </a:pPr>
            <a:r>
              <a:rPr lang="en-US" sz="900" dirty="0">
                <a:solidFill>
                  <a:srgbClr val="111827"/>
                </a:solidFill>
                <a:latin typeface="Aptos" pitchFamily="34" charset="0"/>
                <a:ea typeface="Aptos" pitchFamily="34" charset="-122"/>
                <a:cs typeface="Aptos" pitchFamily="34" charset="-120"/>
              </a:rPr>
              <a:t>AR / AP aging</a:t>
            </a:r>
            <a:endParaRPr lang="en-US" sz="900" dirty="0"/>
          </a:p>
        </p:txBody>
      </p:sp>
      <p:sp>
        <p:nvSpPr>
          <p:cNvPr id="14" name="Text 12"/>
          <p:cNvSpPr/>
          <p:nvPr/>
        </p:nvSpPr>
        <p:spPr>
          <a:xfrm>
            <a:off x="987552" y="4096512"/>
            <a:ext cx="228600" cy="201168"/>
          </a:xfrm>
          <a:prstGeom prst="rect">
            <a:avLst/>
          </a:prstGeom>
          <a:noFill/>
          <a:ln/>
        </p:spPr>
        <p:txBody>
          <a:bodyPr wrap="square" lIns="0" tIns="0" rIns="0" bIns="0" rtlCol="0" anchor="ctr"/>
          <a:lstStyle/>
          <a:p>
            <a:pPr indent="0" marL="0">
              <a:buNone/>
            </a:pPr>
            <a:r>
              <a:rPr lang="en-US" sz="1000" b="1" dirty="0">
                <a:solidFill>
                  <a:srgbClr val="027A48"/>
                </a:solidFill>
                <a:latin typeface="Aptos" pitchFamily="34" charset="0"/>
                <a:ea typeface="Aptos" pitchFamily="34" charset="-122"/>
                <a:cs typeface="Aptos" pitchFamily="34" charset="-120"/>
              </a:rPr>
              <a:t>✓</a:t>
            </a:r>
            <a:endParaRPr lang="en-US" sz="1000" dirty="0"/>
          </a:p>
        </p:txBody>
      </p:sp>
      <p:sp>
        <p:nvSpPr>
          <p:cNvPr id="15" name="Text 13"/>
          <p:cNvSpPr/>
          <p:nvPr/>
        </p:nvSpPr>
        <p:spPr>
          <a:xfrm>
            <a:off x="1298448" y="4096512"/>
            <a:ext cx="4069080" cy="219456"/>
          </a:xfrm>
          <a:prstGeom prst="rect">
            <a:avLst/>
          </a:prstGeom>
          <a:noFill/>
          <a:ln/>
        </p:spPr>
        <p:txBody>
          <a:bodyPr wrap="square" lIns="0" tIns="0" rIns="0" bIns="0" rtlCol="0" anchor="ctr">
            <a:normAutofit/>
          </a:bodyPr>
          <a:lstStyle/>
          <a:p>
            <a:pPr indent="0" marL="0">
              <a:buNone/>
            </a:pPr>
            <a:r>
              <a:rPr lang="en-US" sz="900" dirty="0">
                <a:solidFill>
                  <a:srgbClr val="111827"/>
                </a:solidFill>
                <a:latin typeface="Aptos" pitchFamily="34" charset="0"/>
                <a:ea typeface="Aptos" pitchFamily="34" charset="-122"/>
                <a:cs typeface="Aptos" pitchFamily="34" charset="-120"/>
              </a:rPr>
              <a:t>Production vs billing in gallons</a:t>
            </a:r>
            <a:endParaRPr lang="en-US" sz="900" dirty="0"/>
          </a:p>
        </p:txBody>
      </p:sp>
      <p:sp>
        <p:nvSpPr>
          <p:cNvPr id="16" name="Text 14"/>
          <p:cNvSpPr/>
          <p:nvPr/>
        </p:nvSpPr>
        <p:spPr>
          <a:xfrm>
            <a:off x="6382512" y="1847088"/>
            <a:ext cx="301752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PENDING · DO NOT DECIDE ON THIS YET</a:t>
            </a:r>
            <a:endParaRPr lang="en-US" sz="630" dirty="0"/>
          </a:p>
        </p:txBody>
      </p:sp>
      <p:sp>
        <p:nvSpPr>
          <p:cNvPr id="17" name="Shape 15"/>
          <p:cNvSpPr/>
          <p:nvPr/>
        </p:nvSpPr>
        <p:spPr>
          <a:xfrm>
            <a:off x="6382512" y="2139696"/>
            <a:ext cx="4846320" cy="2962656"/>
          </a:xfrm>
          <a:prstGeom prst="roundRect">
            <a:avLst>
              <a:gd name="adj" fmla="val 1852"/>
            </a:avLst>
          </a:prstGeom>
          <a:solidFill>
            <a:srgbClr val="FFFFFF"/>
          </a:solidFill>
          <a:ln w="6350">
            <a:solidFill>
              <a:srgbClr val="D6DCE4"/>
            </a:solidFill>
            <a:prstDash val="solid"/>
          </a:ln>
        </p:spPr>
      </p:sp>
      <p:sp>
        <p:nvSpPr>
          <p:cNvPr id="18" name="Text 16"/>
          <p:cNvSpPr/>
          <p:nvPr/>
        </p:nvSpPr>
        <p:spPr>
          <a:xfrm>
            <a:off x="6629400" y="2450592"/>
            <a:ext cx="201168" cy="201168"/>
          </a:xfrm>
          <a:prstGeom prst="rect">
            <a:avLst/>
          </a:prstGeom>
          <a:noFill/>
          <a:ln/>
        </p:spPr>
        <p:txBody>
          <a:bodyPr wrap="square" lIns="0" tIns="0" rIns="0" bIns="0" rtlCol="0" anchor="ctr"/>
          <a:lstStyle/>
          <a:p>
            <a:pPr indent="0" marL="0">
              <a:buNone/>
            </a:pPr>
            <a:r>
              <a:rPr lang="en-US" sz="1000" b="1" dirty="0">
                <a:solidFill>
                  <a:srgbClr val="B42318"/>
                </a:solidFill>
                <a:latin typeface="Aptos" pitchFamily="34" charset="0"/>
                <a:ea typeface="Aptos" pitchFamily="34" charset="-122"/>
                <a:cs typeface="Aptos" pitchFamily="34" charset="-120"/>
              </a:rPr>
              <a:t>!</a:t>
            </a:r>
            <a:endParaRPr lang="en-US" sz="1000" dirty="0"/>
          </a:p>
        </p:txBody>
      </p:sp>
      <p:sp>
        <p:nvSpPr>
          <p:cNvPr id="19" name="Text 17"/>
          <p:cNvSpPr/>
          <p:nvPr/>
        </p:nvSpPr>
        <p:spPr>
          <a:xfrm>
            <a:off x="6903720" y="2450592"/>
            <a:ext cx="3794760" cy="219456"/>
          </a:xfrm>
          <a:prstGeom prst="rect">
            <a:avLst/>
          </a:prstGeom>
          <a:noFill/>
          <a:ln/>
        </p:spPr>
        <p:txBody>
          <a:bodyPr wrap="square" lIns="0" tIns="0" rIns="0" bIns="0" rtlCol="0" anchor="ctr">
            <a:normAutofit/>
          </a:bodyPr>
          <a:lstStyle/>
          <a:p>
            <a:pPr indent="0" marL="0">
              <a:buNone/>
            </a:pPr>
            <a:r>
              <a:rPr lang="en-US" sz="870" dirty="0">
                <a:solidFill>
                  <a:srgbClr val="111827"/>
                </a:solidFill>
                <a:latin typeface="Aptos" pitchFamily="34" charset="0"/>
                <a:ea typeface="Aptos" pitchFamily="34" charset="-122"/>
                <a:cs typeface="Aptos" pitchFamily="34" charset="-120"/>
              </a:rPr>
              <a:t>Customer-file revenue ≈$19.7M vs QB P&amp;L ≈$9.5M</a:t>
            </a:r>
            <a:endParaRPr lang="en-US" sz="870" dirty="0"/>
          </a:p>
        </p:txBody>
      </p:sp>
      <p:sp>
        <p:nvSpPr>
          <p:cNvPr id="20" name="Text 18"/>
          <p:cNvSpPr/>
          <p:nvPr/>
        </p:nvSpPr>
        <p:spPr>
          <a:xfrm>
            <a:off x="6629400" y="2999232"/>
            <a:ext cx="201168" cy="201168"/>
          </a:xfrm>
          <a:prstGeom prst="rect">
            <a:avLst/>
          </a:prstGeom>
          <a:noFill/>
          <a:ln/>
        </p:spPr>
        <p:txBody>
          <a:bodyPr wrap="square" lIns="0" tIns="0" rIns="0" bIns="0" rtlCol="0" anchor="ctr"/>
          <a:lstStyle/>
          <a:p>
            <a:pPr indent="0" marL="0">
              <a:buNone/>
            </a:pPr>
            <a:r>
              <a:rPr lang="en-US" sz="1000" b="1" dirty="0">
                <a:solidFill>
                  <a:srgbClr val="B42318"/>
                </a:solidFill>
                <a:latin typeface="Aptos" pitchFamily="34" charset="0"/>
                <a:ea typeface="Aptos" pitchFamily="34" charset="-122"/>
                <a:cs typeface="Aptos" pitchFamily="34" charset="-120"/>
              </a:rPr>
              <a:t>!</a:t>
            </a:r>
            <a:endParaRPr lang="en-US" sz="1000" dirty="0"/>
          </a:p>
        </p:txBody>
      </p:sp>
      <p:sp>
        <p:nvSpPr>
          <p:cNvPr id="21" name="Text 19"/>
          <p:cNvSpPr/>
          <p:nvPr/>
        </p:nvSpPr>
        <p:spPr>
          <a:xfrm>
            <a:off x="6903720" y="2999232"/>
            <a:ext cx="3794760" cy="219456"/>
          </a:xfrm>
          <a:prstGeom prst="rect">
            <a:avLst/>
          </a:prstGeom>
          <a:noFill/>
          <a:ln/>
        </p:spPr>
        <p:txBody>
          <a:bodyPr wrap="square" lIns="0" tIns="0" rIns="0" bIns="0" rtlCol="0" anchor="ctr">
            <a:normAutofit/>
          </a:bodyPr>
          <a:lstStyle/>
          <a:p>
            <a:pPr indent="0" marL="0">
              <a:buNone/>
            </a:pPr>
            <a:r>
              <a:rPr lang="en-US" sz="870" dirty="0">
                <a:solidFill>
                  <a:srgbClr val="111827"/>
                </a:solidFill>
                <a:latin typeface="Aptos" pitchFamily="34" charset="0"/>
                <a:ea typeface="Aptos" pitchFamily="34" charset="-122"/>
                <a:cs typeface="Aptos" pitchFamily="34" charset="-120"/>
              </a:rPr>
              <a:t>Inventory anchor: opening / closing / days of cover / $ value</a:t>
            </a:r>
            <a:endParaRPr lang="en-US" sz="870" dirty="0"/>
          </a:p>
        </p:txBody>
      </p:sp>
      <p:sp>
        <p:nvSpPr>
          <p:cNvPr id="22" name="Text 20"/>
          <p:cNvSpPr/>
          <p:nvPr/>
        </p:nvSpPr>
        <p:spPr>
          <a:xfrm>
            <a:off x="6629400" y="3547872"/>
            <a:ext cx="201168" cy="201168"/>
          </a:xfrm>
          <a:prstGeom prst="rect">
            <a:avLst/>
          </a:prstGeom>
          <a:noFill/>
          <a:ln/>
        </p:spPr>
        <p:txBody>
          <a:bodyPr wrap="square" lIns="0" tIns="0" rIns="0" bIns="0" rtlCol="0" anchor="ctr"/>
          <a:lstStyle/>
          <a:p>
            <a:pPr indent="0" marL="0">
              <a:buNone/>
            </a:pPr>
            <a:r>
              <a:rPr lang="en-US" sz="1000" b="1" dirty="0">
                <a:solidFill>
                  <a:srgbClr val="B42318"/>
                </a:solidFill>
                <a:latin typeface="Aptos" pitchFamily="34" charset="0"/>
                <a:ea typeface="Aptos" pitchFamily="34" charset="-122"/>
                <a:cs typeface="Aptos" pitchFamily="34" charset="-120"/>
              </a:rPr>
              <a:t>!</a:t>
            </a:r>
            <a:endParaRPr lang="en-US" sz="1000" dirty="0"/>
          </a:p>
        </p:txBody>
      </p:sp>
      <p:sp>
        <p:nvSpPr>
          <p:cNvPr id="23" name="Text 21"/>
          <p:cNvSpPr/>
          <p:nvPr/>
        </p:nvSpPr>
        <p:spPr>
          <a:xfrm>
            <a:off x="6903720" y="3547872"/>
            <a:ext cx="3794760" cy="219456"/>
          </a:xfrm>
          <a:prstGeom prst="rect">
            <a:avLst/>
          </a:prstGeom>
          <a:noFill/>
          <a:ln/>
        </p:spPr>
        <p:txBody>
          <a:bodyPr wrap="square" lIns="0" tIns="0" rIns="0" bIns="0" rtlCol="0" anchor="ctr">
            <a:normAutofit/>
          </a:bodyPr>
          <a:lstStyle/>
          <a:p>
            <a:pPr indent="0" marL="0">
              <a:buNone/>
            </a:pPr>
            <a:r>
              <a:rPr lang="en-US" sz="870" dirty="0">
                <a:solidFill>
                  <a:srgbClr val="111827"/>
                </a:solidFill>
                <a:latin typeface="Aptos" pitchFamily="34" charset="0"/>
                <a:ea typeface="Aptos" pitchFamily="34" charset="-122"/>
                <a:cs typeface="Aptos" pitchFamily="34" charset="-120"/>
              </a:rPr>
              <a:t>Finance sync stale &gt;24h</a:t>
            </a:r>
            <a:endParaRPr lang="en-US" sz="870" dirty="0"/>
          </a:p>
        </p:txBody>
      </p:sp>
      <p:sp>
        <p:nvSpPr>
          <p:cNvPr id="24" name="Text 22"/>
          <p:cNvSpPr/>
          <p:nvPr/>
        </p:nvSpPr>
        <p:spPr>
          <a:xfrm>
            <a:off x="6629400" y="4096512"/>
            <a:ext cx="201168" cy="201168"/>
          </a:xfrm>
          <a:prstGeom prst="rect">
            <a:avLst/>
          </a:prstGeom>
          <a:noFill/>
          <a:ln/>
        </p:spPr>
        <p:txBody>
          <a:bodyPr wrap="square" lIns="0" tIns="0" rIns="0" bIns="0" rtlCol="0" anchor="ctr"/>
          <a:lstStyle/>
          <a:p>
            <a:pPr indent="0" marL="0">
              <a:buNone/>
            </a:pPr>
            <a:r>
              <a:rPr lang="en-US" sz="1000" b="1" dirty="0">
                <a:solidFill>
                  <a:srgbClr val="B42318"/>
                </a:solidFill>
                <a:latin typeface="Aptos" pitchFamily="34" charset="0"/>
                <a:ea typeface="Aptos" pitchFamily="34" charset="-122"/>
                <a:cs typeface="Aptos" pitchFamily="34" charset="-120"/>
              </a:rPr>
              <a:t>!</a:t>
            </a:r>
            <a:endParaRPr lang="en-US" sz="1000" dirty="0"/>
          </a:p>
        </p:txBody>
      </p:sp>
      <p:sp>
        <p:nvSpPr>
          <p:cNvPr id="25" name="Text 23"/>
          <p:cNvSpPr/>
          <p:nvPr/>
        </p:nvSpPr>
        <p:spPr>
          <a:xfrm>
            <a:off x="6903720" y="4096512"/>
            <a:ext cx="3794760" cy="219456"/>
          </a:xfrm>
          <a:prstGeom prst="rect">
            <a:avLst/>
          </a:prstGeom>
          <a:noFill/>
          <a:ln/>
        </p:spPr>
        <p:txBody>
          <a:bodyPr wrap="square" lIns="0" tIns="0" rIns="0" bIns="0" rtlCol="0" anchor="ctr">
            <a:normAutofit/>
          </a:bodyPr>
          <a:lstStyle/>
          <a:p>
            <a:pPr indent="0" marL="0">
              <a:buNone/>
            </a:pPr>
            <a:r>
              <a:rPr lang="en-US" sz="870" dirty="0">
                <a:solidFill>
                  <a:srgbClr val="111827"/>
                </a:solidFill>
                <a:latin typeface="Aptos" pitchFamily="34" charset="0"/>
                <a:ea typeface="Aptos" pitchFamily="34" charset="-122"/>
                <a:cs typeface="Aptos" pitchFamily="34" charset="-120"/>
              </a:rPr>
              <a:t>Per-customer margin: invoice-line cost unverified</a:t>
            </a:r>
            <a:endParaRPr lang="en-US" sz="870" dirty="0"/>
          </a:p>
        </p:txBody>
      </p:sp>
      <p:sp>
        <p:nvSpPr>
          <p:cNvPr id="26" name="Shape 24"/>
          <p:cNvSpPr/>
          <p:nvPr/>
        </p:nvSpPr>
        <p:spPr>
          <a:xfrm>
            <a:off x="749808" y="5513832"/>
            <a:ext cx="6400800" cy="530352"/>
          </a:xfrm>
          <a:prstGeom prst="roundRect">
            <a:avLst>
              <a:gd name="adj" fmla="val 10345"/>
            </a:avLst>
          </a:prstGeom>
          <a:solidFill>
            <a:srgbClr val="071326"/>
          </a:solidFill>
          <a:ln w="12700">
            <a:solidFill>
              <a:srgbClr val="071326">
                <a:alpha val="0"/>
              </a:srgbClr>
            </a:solidFill>
            <a:prstDash val="solid"/>
          </a:ln>
        </p:spPr>
      </p:sp>
      <p:sp>
        <p:nvSpPr>
          <p:cNvPr id="27" name="Text 25"/>
          <p:cNvSpPr/>
          <p:nvPr/>
        </p:nvSpPr>
        <p:spPr>
          <a:xfrm>
            <a:off x="896112" y="5614416"/>
            <a:ext cx="6108192"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28" name="Text 26"/>
          <p:cNvSpPr/>
          <p:nvPr/>
        </p:nvSpPr>
        <p:spPr>
          <a:xfrm>
            <a:off x="896112" y="5788152"/>
            <a:ext cx="6108192" cy="219456"/>
          </a:xfrm>
          <a:prstGeom prst="rect">
            <a:avLst/>
          </a:prstGeom>
          <a:noFill/>
          <a:ln/>
        </p:spPr>
        <p:txBody>
          <a:bodyPr wrap="square" lIns="0" tIns="0" rIns="0" bIns="0" rtlCol="0" anchor="ctr">
            <a:normAutofit/>
          </a:bodyPr>
          <a:lstStyle/>
          <a:p>
            <a:pPr indent="0" marL="0">
              <a:buNone/>
            </a:pPr>
            <a:r>
              <a:rPr lang="en-US" sz="850" b="1" dirty="0">
                <a:solidFill>
                  <a:srgbClr val="FFFFFF"/>
                </a:solidFill>
                <a:latin typeface="Aptos" pitchFamily="34" charset="0"/>
                <a:ea typeface="Aptos" pitchFamily="34" charset="-122"/>
                <a:cs typeface="Aptos" pitchFamily="34" charset="-120"/>
              </a:rPr>
              <a:t>Credibility increases when management names the data gap first and only asks for decisions grounded in authoritative sources.</a:t>
            </a:r>
            <a:endParaRPr lang="en-US" sz="850" dirty="0"/>
          </a:p>
        </p:txBody>
      </p:sp>
      <p:sp>
        <p:nvSpPr>
          <p:cNvPr id="29" name="Shape 27"/>
          <p:cNvSpPr/>
          <p:nvPr/>
        </p:nvSpPr>
        <p:spPr>
          <a:xfrm>
            <a:off x="7424928" y="5513832"/>
            <a:ext cx="3803904" cy="530352"/>
          </a:xfrm>
          <a:prstGeom prst="roundRect">
            <a:avLst>
              <a:gd name="adj" fmla="val 10345"/>
            </a:avLst>
          </a:prstGeom>
          <a:solidFill>
            <a:srgbClr val="FFFFFF"/>
          </a:solidFill>
          <a:ln w="6350">
            <a:solidFill>
              <a:srgbClr val="D6DCE4"/>
            </a:solidFill>
            <a:prstDash val="solid"/>
          </a:ln>
        </p:spPr>
      </p:sp>
      <p:sp>
        <p:nvSpPr>
          <p:cNvPr id="30" name="Text 28"/>
          <p:cNvSpPr/>
          <p:nvPr/>
        </p:nvSpPr>
        <p:spPr>
          <a:xfrm>
            <a:off x="7543800" y="5605272"/>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31" name="Text 29"/>
          <p:cNvSpPr/>
          <p:nvPr/>
        </p:nvSpPr>
        <p:spPr>
          <a:xfrm>
            <a:off x="8842248" y="5614416"/>
            <a:ext cx="2203704" cy="365760"/>
          </a:xfrm>
          <a:prstGeom prst="rect">
            <a:avLst/>
          </a:prstGeom>
          <a:noFill/>
          <a:ln/>
        </p:spPr>
        <p:txBody>
          <a:bodyPr wrap="square" lIns="0" tIns="0" rIns="0" bIns="0"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Tonight’s decisions rest on QB P&amp;L, locked volume, AR/AP, and the concentration trend. Finance reconciles the rest before any final per-customer dollar view.</a:t>
            </a:r>
            <a:endParaRPr lang="en-US" sz="750" dirty="0"/>
          </a:p>
        </p:txBody>
      </p:sp>
      <p:sp>
        <p:nvSpPr>
          <p:cNvPr id="32" name="Shape 30"/>
          <p:cNvSpPr/>
          <p:nvPr/>
        </p:nvSpPr>
        <p:spPr>
          <a:xfrm>
            <a:off x="530352" y="6419088"/>
            <a:ext cx="11130991" cy="0"/>
          </a:xfrm>
          <a:prstGeom prst="line">
            <a:avLst/>
          </a:prstGeom>
          <a:noFill/>
          <a:ln w="4445">
            <a:solidFill>
              <a:srgbClr val="D6DCE4"/>
            </a:solidFill>
            <a:prstDash val="solid"/>
          </a:ln>
        </p:spPr>
      </p:sp>
      <p:sp>
        <p:nvSpPr>
          <p:cNvPr id="33" name="Text 31"/>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34" name="Text 32"/>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08</a:t>
            </a:r>
            <a:endParaRPr lang="en-US" sz="6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326"/>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C7D7FE"/>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789920" cy="493776"/>
          </a:xfrm>
          <a:prstGeom prst="rect">
            <a:avLst/>
          </a:prstGeom>
          <a:noFill/>
          <a:ln/>
        </p:spPr>
        <p:txBody>
          <a:bodyPr wrap="square" lIns="0" tIns="0" rIns="0" bIns="0" rtlCol="0" anchor="ctr">
            <a:normAutofit/>
          </a:bodyPr>
          <a:lstStyle/>
          <a:p>
            <a:pPr indent="0" marL="0">
              <a:buNone/>
            </a:pPr>
            <a:r>
              <a:rPr lang="en-US" sz="2550" b="1" dirty="0">
                <a:solidFill>
                  <a:srgbClr val="FFFFFF"/>
                </a:solidFill>
                <a:latin typeface="Aptos Display" pitchFamily="34" charset="0"/>
                <a:ea typeface="Aptos Display" pitchFamily="34" charset="-122"/>
                <a:cs typeface="Aptos Display" pitchFamily="34" charset="-120"/>
              </a:rPr>
              <a:t>Three approvals de-risk the enterprise in the next 90 days</a:t>
            </a:r>
            <a:endParaRPr lang="en-US" sz="255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50" dirty="0">
                <a:solidFill>
                  <a:srgbClr val="D7DCE6"/>
                </a:solidFill>
                <a:latin typeface="Aptos" pitchFamily="34" charset="0"/>
                <a:ea typeface="Aptos" pitchFamily="34" charset="-122"/>
                <a:cs typeface="Aptos" pitchFamily="34" charset="-120"/>
              </a:rPr>
              <a:t>Each ask has an owner, a timing commitment, and a measurable outcome.</a:t>
            </a:r>
            <a:endParaRPr lang="en-US" sz="1050" dirty="0"/>
          </a:p>
        </p:txBody>
      </p:sp>
      <p:sp>
        <p:nvSpPr>
          <p:cNvPr id="5" name="Shape 3"/>
          <p:cNvSpPr/>
          <p:nvPr/>
        </p:nvSpPr>
        <p:spPr>
          <a:xfrm>
            <a:off x="530352" y="1600200"/>
            <a:ext cx="11130991" cy="0"/>
          </a:xfrm>
          <a:prstGeom prst="line">
            <a:avLst/>
          </a:prstGeom>
          <a:noFill/>
          <a:ln w="5715">
            <a:solidFill>
              <a:srgbClr val="31405A"/>
            </a:solidFill>
            <a:prstDash val="solid"/>
          </a:ln>
        </p:spPr>
      </p:sp>
      <p:sp>
        <p:nvSpPr>
          <p:cNvPr id="6" name="Shape 4"/>
          <p:cNvSpPr/>
          <p:nvPr/>
        </p:nvSpPr>
        <p:spPr>
          <a:xfrm>
            <a:off x="749808" y="1956816"/>
            <a:ext cx="10716768" cy="877824"/>
          </a:xfrm>
          <a:prstGeom prst="roundRect">
            <a:avLst>
              <a:gd name="adj" fmla="val 6250"/>
            </a:avLst>
          </a:prstGeom>
          <a:solidFill>
            <a:srgbClr val="0B1F3A"/>
          </a:solidFill>
          <a:ln w="6350">
            <a:solidFill>
              <a:srgbClr val="2F3F59"/>
            </a:solidFill>
            <a:prstDash val="solid"/>
          </a:ln>
        </p:spPr>
      </p:sp>
      <p:sp>
        <p:nvSpPr>
          <p:cNvPr id="7" name="Text 5"/>
          <p:cNvSpPr/>
          <p:nvPr/>
        </p:nvSpPr>
        <p:spPr>
          <a:xfrm>
            <a:off x="987552" y="2176272"/>
            <a:ext cx="457200" cy="292608"/>
          </a:xfrm>
          <a:prstGeom prst="rect">
            <a:avLst/>
          </a:prstGeom>
          <a:noFill/>
          <a:ln/>
        </p:spPr>
        <p:txBody>
          <a:bodyPr wrap="square" lIns="0" tIns="0" rIns="0" bIns="0" rtlCol="0" anchor="ctr">
            <a:normAutofit/>
          </a:bodyPr>
          <a:lstStyle/>
          <a:p>
            <a:pPr indent="0" marL="0">
              <a:buNone/>
            </a:pPr>
            <a:r>
              <a:rPr lang="en-US" sz="1900" b="1" dirty="0">
                <a:solidFill>
                  <a:srgbClr val="B42318"/>
                </a:solidFill>
                <a:latin typeface="Aptos Display" pitchFamily="34" charset="0"/>
                <a:ea typeface="Aptos Display" pitchFamily="34" charset="-122"/>
                <a:cs typeface="Aptos Display" pitchFamily="34" charset="-120"/>
              </a:rPr>
              <a:t>01</a:t>
            </a:r>
            <a:endParaRPr lang="en-US" sz="1900" dirty="0"/>
          </a:p>
        </p:txBody>
      </p:sp>
      <p:sp>
        <p:nvSpPr>
          <p:cNvPr id="8" name="Text 6"/>
          <p:cNvSpPr/>
          <p:nvPr/>
        </p:nvSpPr>
        <p:spPr>
          <a:xfrm>
            <a:off x="1664208" y="2103120"/>
            <a:ext cx="2194560" cy="219456"/>
          </a:xfrm>
          <a:prstGeom prst="rect">
            <a:avLst/>
          </a:prstGeom>
          <a:noFill/>
          <a:ln/>
        </p:spPr>
        <p:txBody>
          <a:bodyPr wrap="square" lIns="0" tIns="0" rIns="0" bIns="0" rtlCol="0" anchor="ctr">
            <a:normAutofit/>
          </a:bodyPr>
          <a:lstStyle/>
          <a:p>
            <a:pPr indent="0" marL="0">
              <a:buNone/>
            </a:pPr>
            <a:r>
              <a:rPr lang="en-US" sz="1420" b="1" dirty="0">
                <a:solidFill>
                  <a:srgbClr val="FFFFFF"/>
                </a:solidFill>
                <a:latin typeface="Aptos Display" pitchFamily="34" charset="0"/>
                <a:ea typeface="Aptos Display" pitchFamily="34" charset="-122"/>
                <a:cs typeface="Aptos Display" pitchFamily="34" charset="-120"/>
              </a:rPr>
              <a:t>Close the margin gap</a:t>
            </a:r>
            <a:endParaRPr lang="en-US" sz="1420" dirty="0"/>
          </a:p>
        </p:txBody>
      </p:sp>
      <p:sp>
        <p:nvSpPr>
          <p:cNvPr id="9" name="Text 7"/>
          <p:cNvSpPr/>
          <p:nvPr/>
        </p:nvSpPr>
        <p:spPr>
          <a:xfrm>
            <a:off x="3977640" y="2112264"/>
            <a:ext cx="3200400" cy="219456"/>
          </a:xfrm>
          <a:prstGeom prst="rect">
            <a:avLst/>
          </a:prstGeom>
          <a:noFill/>
          <a:ln/>
        </p:spPr>
        <p:txBody>
          <a:bodyPr wrap="square" lIns="0" tIns="0" rIns="0" bIns="0" rtlCol="0" anchor="ctr">
            <a:normAutofit/>
          </a:bodyPr>
          <a:lstStyle/>
          <a:p>
            <a:pPr indent="0" marL="0">
              <a:buNone/>
            </a:pPr>
            <a:r>
              <a:rPr lang="en-US" sz="860" dirty="0">
                <a:solidFill>
                  <a:srgbClr val="D7DCE6"/>
                </a:solidFill>
                <a:latin typeface="Aptos" pitchFamily="34" charset="0"/>
                <a:ea typeface="Aptos" pitchFamily="34" charset="-122"/>
                <a:cs typeface="Aptos" pitchFamily="34" charset="-120"/>
              </a:rPr>
              <a:t>Approve price/mix recovery program</a:t>
            </a:r>
            <a:endParaRPr lang="en-US" sz="860" dirty="0"/>
          </a:p>
        </p:txBody>
      </p:sp>
      <p:sp>
        <p:nvSpPr>
          <p:cNvPr id="10" name="Text 8"/>
          <p:cNvSpPr/>
          <p:nvPr/>
        </p:nvSpPr>
        <p:spPr>
          <a:xfrm>
            <a:off x="7360920" y="2112264"/>
            <a:ext cx="731520" cy="164592"/>
          </a:xfrm>
          <a:prstGeom prst="rect">
            <a:avLst/>
          </a:prstGeom>
          <a:noFill/>
          <a:ln/>
        </p:spPr>
        <p:txBody>
          <a:bodyPr wrap="square" lIns="0" tIns="0" rIns="0" bIns="0" rtlCol="0" anchor="ctr">
            <a:normAutofit/>
          </a:bodyPr>
          <a:lstStyle/>
          <a:p>
            <a:pPr indent="0" marL="0">
              <a:buNone/>
            </a:pPr>
            <a:r>
              <a:rPr lang="en-US" sz="500" b="1" dirty="0">
                <a:solidFill>
                  <a:srgbClr val="98A2B3"/>
                </a:solidFill>
                <a:latin typeface="Aptos" pitchFamily="34" charset="0"/>
                <a:ea typeface="Aptos" pitchFamily="34" charset="-122"/>
                <a:cs typeface="Aptos" pitchFamily="34" charset="-120"/>
              </a:rPr>
              <a:t>OWNER</a:t>
            </a:r>
            <a:endParaRPr lang="en-US" sz="500" dirty="0"/>
          </a:p>
        </p:txBody>
      </p:sp>
      <p:sp>
        <p:nvSpPr>
          <p:cNvPr id="11" name="Text 9"/>
          <p:cNvSpPr/>
          <p:nvPr/>
        </p:nvSpPr>
        <p:spPr>
          <a:xfrm>
            <a:off x="7360920" y="2322576"/>
            <a:ext cx="1508760" cy="164592"/>
          </a:xfrm>
          <a:prstGeom prst="rect">
            <a:avLst/>
          </a:prstGeom>
          <a:noFill/>
          <a:ln/>
        </p:spPr>
        <p:txBody>
          <a:bodyPr wrap="square" lIns="0" tIns="0" rIns="0" bIns="0"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Commercial / Finance</a:t>
            </a:r>
            <a:endParaRPr lang="en-US" sz="760" dirty="0"/>
          </a:p>
        </p:txBody>
      </p:sp>
      <p:sp>
        <p:nvSpPr>
          <p:cNvPr id="12" name="Text 10"/>
          <p:cNvSpPr/>
          <p:nvPr/>
        </p:nvSpPr>
        <p:spPr>
          <a:xfrm>
            <a:off x="9144000" y="2112264"/>
            <a:ext cx="731520" cy="164592"/>
          </a:xfrm>
          <a:prstGeom prst="rect">
            <a:avLst/>
          </a:prstGeom>
          <a:noFill/>
          <a:ln/>
        </p:spPr>
        <p:txBody>
          <a:bodyPr wrap="square" lIns="0" tIns="0" rIns="0" bIns="0" rtlCol="0" anchor="ctr">
            <a:normAutofit/>
          </a:bodyPr>
          <a:lstStyle/>
          <a:p>
            <a:pPr indent="0" marL="0">
              <a:buNone/>
            </a:pPr>
            <a:r>
              <a:rPr lang="en-US" sz="500" b="1" dirty="0">
                <a:solidFill>
                  <a:srgbClr val="98A2B3"/>
                </a:solidFill>
                <a:latin typeface="Aptos" pitchFamily="34" charset="0"/>
                <a:ea typeface="Aptos" pitchFamily="34" charset="-122"/>
                <a:cs typeface="Aptos" pitchFamily="34" charset="-120"/>
              </a:rPr>
              <a:t>OUTCOME</a:t>
            </a:r>
            <a:endParaRPr lang="en-US" sz="500" dirty="0"/>
          </a:p>
        </p:txBody>
      </p:sp>
      <p:sp>
        <p:nvSpPr>
          <p:cNvPr id="13" name="Text 11"/>
          <p:cNvSpPr/>
          <p:nvPr/>
        </p:nvSpPr>
        <p:spPr>
          <a:xfrm>
            <a:off x="9144000" y="2322576"/>
            <a:ext cx="1645920" cy="164592"/>
          </a:xfrm>
          <a:prstGeom prst="rect">
            <a:avLst/>
          </a:prstGeom>
          <a:noFill/>
          <a:ln/>
        </p:spPr>
        <p:txBody>
          <a:bodyPr wrap="square" lIns="0" tIns="0" rIns="0" bIns="0"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GM ≥22% in 2Q</a:t>
            </a:r>
            <a:endParaRPr lang="en-US" sz="760" dirty="0"/>
          </a:p>
        </p:txBody>
      </p:sp>
      <p:sp>
        <p:nvSpPr>
          <p:cNvPr id="14" name="Shape 12"/>
          <p:cNvSpPr/>
          <p:nvPr/>
        </p:nvSpPr>
        <p:spPr>
          <a:xfrm>
            <a:off x="749808" y="3072384"/>
            <a:ext cx="10716768" cy="877824"/>
          </a:xfrm>
          <a:prstGeom prst="roundRect">
            <a:avLst>
              <a:gd name="adj" fmla="val 6250"/>
            </a:avLst>
          </a:prstGeom>
          <a:solidFill>
            <a:srgbClr val="0B1F3A"/>
          </a:solidFill>
          <a:ln w="6350">
            <a:solidFill>
              <a:srgbClr val="2F3F59"/>
            </a:solidFill>
            <a:prstDash val="solid"/>
          </a:ln>
        </p:spPr>
      </p:sp>
      <p:sp>
        <p:nvSpPr>
          <p:cNvPr id="15" name="Text 13"/>
          <p:cNvSpPr/>
          <p:nvPr/>
        </p:nvSpPr>
        <p:spPr>
          <a:xfrm>
            <a:off x="987552" y="3291840"/>
            <a:ext cx="457200" cy="292608"/>
          </a:xfrm>
          <a:prstGeom prst="rect">
            <a:avLst/>
          </a:prstGeom>
          <a:noFill/>
          <a:ln/>
        </p:spPr>
        <p:txBody>
          <a:bodyPr wrap="square" lIns="0" tIns="0" rIns="0" bIns="0" rtlCol="0" anchor="ctr">
            <a:normAutofit/>
          </a:bodyPr>
          <a:lstStyle/>
          <a:p>
            <a:pPr indent="0" marL="0">
              <a:buNone/>
            </a:pPr>
            <a:r>
              <a:rPr lang="en-US" sz="1900" b="1" dirty="0">
                <a:solidFill>
                  <a:srgbClr val="B42318"/>
                </a:solidFill>
                <a:latin typeface="Aptos Display" pitchFamily="34" charset="0"/>
                <a:ea typeface="Aptos Display" pitchFamily="34" charset="-122"/>
                <a:cs typeface="Aptos Display" pitchFamily="34" charset="-120"/>
              </a:rPr>
              <a:t>02</a:t>
            </a:r>
            <a:endParaRPr lang="en-US" sz="1900" dirty="0"/>
          </a:p>
        </p:txBody>
      </p:sp>
      <p:sp>
        <p:nvSpPr>
          <p:cNvPr id="16" name="Text 14"/>
          <p:cNvSpPr/>
          <p:nvPr/>
        </p:nvSpPr>
        <p:spPr>
          <a:xfrm>
            <a:off x="1664208" y="3218688"/>
            <a:ext cx="2194560" cy="219456"/>
          </a:xfrm>
          <a:prstGeom prst="rect">
            <a:avLst/>
          </a:prstGeom>
          <a:noFill/>
          <a:ln/>
        </p:spPr>
        <p:txBody>
          <a:bodyPr wrap="square" lIns="0" tIns="0" rIns="0" bIns="0" rtlCol="0" anchor="ctr">
            <a:normAutofit/>
          </a:bodyPr>
          <a:lstStyle/>
          <a:p>
            <a:pPr indent="0" marL="0">
              <a:buNone/>
            </a:pPr>
            <a:r>
              <a:rPr lang="en-US" sz="1420" b="1" dirty="0">
                <a:solidFill>
                  <a:srgbClr val="FFFFFF"/>
                </a:solidFill>
                <a:latin typeface="Aptos Display" pitchFamily="34" charset="0"/>
                <a:ea typeface="Aptos Display" pitchFamily="34" charset="-122"/>
                <a:cs typeface="Aptos Display" pitchFamily="34" charset="-120"/>
              </a:rPr>
              <a:t>Protect working capital</a:t>
            </a:r>
            <a:endParaRPr lang="en-US" sz="1420" dirty="0"/>
          </a:p>
        </p:txBody>
      </p:sp>
      <p:sp>
        <p:nvSpPr>
          <p:cNvPr id="17" name="Text 15"/>
          <p:cNvSpPr/>
          <p:nvPr/>
        </p:nvSpPr>
        <p:spPr>
          <a:xfrm>
            <a:off x="3977640" y="3227832"/>
            <a:ext cx="3200400" cy="219456"/>
          </a:xfrm>
          <a:prstGeom prst="rect">
            <a:avLst/>
          </a:prstGeom>
          <a:noFill/>
          <a:ln/>
        </p:spPr>
        <p:txBody>
          <a:bodyPr wrap="square" lIns="0" tIns="0" rIns="0" bIns="0" rtlCol="0" anchor="ctr">
            <a:normAutofit/>
          </a:bodyPr>
          <a:lstStyle/>
          <a:p>
            <a:pPr indent="0" marL="0">
              <a:buNone/>
            </a:pPr>
            <a:r>
              <a:rPr lang="en-US" sz="860" dirty="0">
                <a:solidFill>
                  <a:srgbClr val="D7DCE6"/>
                </a:solidFill>
                <a:latin typeface="Aptos" pitchFamily="34" charset="0"/>
                <a:ea typeface="Aptos" pitchFamily="34" charset="-122"/>
                <a:cs typeface="Aptos" pitchFamily="34" charset="-120"/>
              </a:rPr>
              <a:t>Approve 30/60/90 collections + vendor terms plan</a:t>
            </a:r>
            <a:endParaRPr lang="en-US" sz="860" dirty="0"/>
          </a:p>
        </p:txBody>
      </p:sp>
      <p:sp>
        <p:nvSpPr>
          <p:cNvPr id="18" name="Text 16"/>
          <p:cNvSpPr/>
          <p:nvPr/>
        </p:nvSpPr>
        <p:spPr>
          <a:xfrm>
            <a:off x="7360920" y="3227832"/>
            <a:ext cx="731520" cy="164592"/>
          </a:xfrm>
          <a:prstGeom prst="rect">
            <a:avLst/>
          </a:prstGeom>
          <a:noFill/>
          <a:ln/>
        </p:spPr>
        <p:txBody>
          <a:bodyPr wrap="square" lIns="0" tIns="0" rIns="0" bIns="0" rtlCol="0" anchor="ctr">
            <a:normAutofit/>
          </a:bodyPr>
          <a:lstStyle/>
          <a:p>
            <a:pPr indent="0" marL="0">
              <a:buNone/>
            </a:pPr>
            <a:r>
              <a:rPr lang="en-US" sz="500" b="1" dirty="0">
                <a:solidFill>
                  <a:srgbClr val="98A2B3"/>
                </a:solidFill>
                <a:latin typeface="Aptos" pitchFamily="34" charset="0"/>
                <a:ea typeface="Aptos" pitchFamily="34" charset="-122"/>
                <a:cs typeface="Aptos" pitchFamily="34" charset="-120"/>
              </a:rPr>
              <a:t>OWNER</a:t>
            </a:r>
            <a:endParaRPr lang="en-US" sz="500" dirty="0"/>
          </a:p>
        </p:txBody>
      </p:sp>
      <p:sp>
        <p:nvSpPr>
          <p:cNvPr id="19" name="Text 17"/>
          <p:cNvSpPr/>
          <p:nvPr/>
        </p:nvSpPr>
        <p:spPr>
          <a:xfrm>
            <a:off x="7360920" y="3438144"/>
            <a:ext cx="1508760" cy="164592"/>
          </a:xfrm>
          <a:prstGeom prst="rect">
            <a:avLst/>
          </a:prstGeom>
          <a:noFill/>
          <a:ln/>
        </p:spPr>
        <p:txBody>
          <a:bodyPr wrap="square" lIns="0" tIns="0" rIns="0" bIns="0"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Finance</a:t>
            </a:r>
            <a:endParaRPr lang="en-US" sz="760" dirty="0"/>
          </a:p>
        </p:txBody>
      </p:sp>
      <p:sp>
        <p:nvSpPr>
          <p:cNvPr id="20" name="Text 18"/>
          <p:cNvSpPr/>
          <p:nvPr/>
        </p:nvSpPr>
        <p:spPr>
          <a:xfrm>
            <a:off x="9144000" y="3227832"/>
            <a:ext cx="731520" cy="164592"/>
          </a:xfrm>
          <a:prstGeom prst="rect">
            <a:avLst/>
          </a:prstGeom>
          <a:noFill/>
          <a:ln/>
        </p:spPr>
        <p:txBody>
          <a:bodyPr wrap="square" lIns="0" tIns="0" rIns="0" bIns="0" rtlCol="0" anchor="ctr">
            <a:normAutofit/>
          </a:bodyPr>
          <a:lstStyle/>
          <a:p>
            <a:pPr indent="0" marL="0">
              <a:buNone/>
            </a:pPr>
            <a:r>
              <a:rPr lang="en-US" sz="500" b="1" dirty="0">
                <a:solidFill>
                  <a:srgbClr val="98A2B3"/>
                </a:solidFill>
                <a:latin typeface="Aptos" pitchFamily="34" charset="0"/>
                <a:ea typeface="Aptos" pitchFamily="34" charset="-122"/>
                <a:cs typeface="Aptos" pitchFamily="34" charset="-120"/>
              </a:rPr>
              <a:t>OUTCOME</a:t>
            </a:r>
            <a:endParaRPr lang="en-US" sz="500" dirty="0"/>
          </a:p>
        </p:txBody>
      </p:sp>
      <p:sp>
        <p:nvSpPr>
          <p:cNvPr id="21" name="Text 19"/>
          <p:cNvSpPr/>
          <p:nvPr/>
        </p:nvSpPr>
        <p:spPr>
          <a:xfrm>
            <a:off x="9144000" y="3438144"/>
            <a:ext cx="1645920" cy="164592"/>
          </a:xfrm>
          <a:prstGeom prst="rect">
            <a:avLst/>
          </a:prstGeom>
          <a:noFill/>
          <a:ln/>
        </p:spPr>
        <p:txBody>
          <a:bodyPr wrap="square" lIns="0" tIns="0" rIns="0" bIns="0"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NWC ≥$0 in 90 days</a:t>
            </a:r>
            <a:endParaRPr lang="en-US" sz="760" dirty="0"/>
          </a:p>
        </p:txBody>
      </p:sp>
      <p:sp>
        <p:nvSpPr>
          <p:cNvPr id="22" name="Shape 20"/>
          <p:cNvSpPr/>
          <p:nvPr/>
        </p:nvSpPr>
        <p:spPr>
          <a:xfrm>
            <a:off x="749808" y="4187952"/>
            <a:ext cx="10716768" cy="877824"/>
          </a:xfrm>
          <a:prstGeom prst="roundRect">
            <a:avLst>
              <a:gd name="adj" fmla="val 6250"/>
            </a:avLst>
          </a:prstGeom>
          <a:solidFill>
            <a:srgbClr val="0B1F3A"/>
          </a:solidFill>
          <a:ln w="6350">
            <a:solidFill>
              <a:srgbClr val="2F3F59"/>
            </a:solidFill>
            <a:prstDash val="solid"/>
          </a:ln>
        </p:spPr>
      </p:sp>
      <p:sp>
        <p:nvSpPr>
          <p:cNvPr id="23" name="Text 21"/>
          <p:cNvSpPr/>
          <p:nvPr/>
        </p:nvSpPr>
        <p:spPr>
          <a:xfrm>
            <a:off x="987552" y="4407408"/>
            <a:ext cx="457200" cy="292608"/>
          </a:xfrm>
          <a:prstGeom prst="rect">
            <a:avLst/>
          </a:prstGeom>
          <a:noFill/>
          <a:ln/>
        </p:spPr>
        <p:txBody>
          <a:bodyPr wrap="square" lIns="0" tIns="0" rIns="0" bIns="0" rtlCol="0" anchor="ctr">
            <a:normAutofit/>
          </a:bodyPr>
          <a:lstStyle/>
          <a:p>
            <a:pPr indent="0" marL="0">
              <a:buNone/>
            </a:pPr>
            <a:r>
              <a:rPr lang="en-US" sz="1900" b="1" dirty="0">
                <a:solidFill>
                  <a:srgbClr val="B42318"/>
                </a:solidFill>
                <a:latin typeface="Aptos Display" pitchFamily="34" charset="0"/>
                <a:ea typeface="Aptos Display" pitchFamily="34" charset="-122"/>
                <a:cs typeface="Aptos Display" pitchFamily="34" charset="-120"/>
              </a:rPr>
              <a:t>03</a:t>
            </a:r>
            <a:endParaRPr lang="en-US" sz="1900" dirty="0"/>
          </a:p>
        </p:txBody>
      </p:sp>
      <p:sp>
        <p:nvSpPr>
          <p:cNvPr id="24" name="Text 22"/>
          <p:cNvSpPr/>
          <p:nvPr/>
        </p:nvSpPr>
        <p:spPr>
          <a:xfrm>
            <a:off x="1664208" y="4334256"/>
            <a:ext cx="2194560" cy="219456"/>
          </a:xfrm>
          <a:prstGeom prst="rect">
            <a:avLst/>
          </a:prstGeom>
          <a:noFill/>
          <a:ln/>
        </p:spPr>
        <p:txBody>
          <a:bodyPr wrap="square" lIns="0" tIns="0" rIns="0" bIns="0" rtlCol="0" anchor="ctr">
            <a:normAutofit/>
          </a:bodyPr>
          <a:lstStyle/>
          <a:p>
            <a:pPr indent="0" marL="0">
              <a:buNone/>
            </a:pPr>
            <a:r>
              <a:rPr lang="en-US" sz="1420" b="1" dirty="0">
                <a:solidFill>
                  <a:srgbClr val="FFFFFF"/>
                </a:solidFill>
                <a:latin typeface="Aptos Display" pitchFamily="34" charset="0"/>
                <a:ea typeface="Aptos Display" pitchFamily="34" charset="-122"/>
                <a:cs typeface="Aptos Display" pitchFamily="34" charset="-120"/>
              </a:rPr>
              <a:t>Diversify the base</a:t>
            </a:r>
            <a:endParaRPr lang="en-US" sz="1420" dirty="0"/>
          </a:p>
        </p:txBody>
      </p:sp>
      <p:sp>
        <p:nvSpPr>
          <p:cNvPr id="25" name="Text 23"/>
          <p:cNvSpPr/>
          <p:nvPr/>
        </p:nvSpPr>
        <p:spPr>
          <a:xfrm>
            <a:off x="3977640" y="4343400"/>
            <a:ext cx="3200400" cy="219456"/>
          </a:xfrm>
          <a:prstGeom prst="rect">
            <a:avLst/>
          </a:prstGeom>
          <a:noFill/>
          <a:ln/>
        </p:spPr>
        <p:txBody>
          <a:bodyPr wrap="square" lIns="0" tIns="0" rIns="0" bIns="0" rtlCol="0" anchor="ctr">
            <a:normAutofit/>
          </a:bodyPr>
          <a:lstStyle/>
          <a:p>
            <a:pPr indent="0" marL="0">
              <a:buNone/>
            </a:pPr>
            <a:r>
              <a:rPr lang="en-US" sz="860" dirty="0">
                <a:solidFill>
                  <a:srgbClr val="D7DCE6"/>
                </a:solidFill>
                <a:latin typeface="Aptos" pitchFamily="34" charset="0"/>
                <a:ea typeface="Aptos" pitchFamily="34" charset="-122"/>
                <a:cs typeface="Aptos" pitchFamily="34" charset="-120"/>
              </a:rPr>
              <a:t>Set top-5 ≤60% and resolve intercompany treatment</a:t>
            </a:r>
            <a:endParaRPr lang="en-US" sz="860" dirty="0"/>
          </a:p>
        </p:txBody>
      </p:sp>
      <p:sp>
        <p:nvSpPr>
          <p:cNvPr id="26" name="Text 24"/>
          <p:cNvSpPr/>
          <p:nvPr/>
        </p:nvSpPr>
        <p:spPr>
          <a:xfrm>
            <a:off x="7360920" y="4343400"/>
            <a:ext cx="731520" cy="164592"/>
          </a:xfrm>
          <a:prstGeom prst="rect">
            <a:avLst/>
          </a:prstGeom>
          <a:noFill/>
          <a:ln/>
        </p:spPr>
        <p:txBody>
          <a:bodyPr wrap="square" lIns="0" tIns="0" rIns="0" bIns="0" rtlCol="0" anchor="ctr">
            <a:normAutofit/>
          </a:bodyPr>
          <a:lstStyle/>
          <a:p>
            <a:pPr indent="0" marL="0">
              <a:buNone/>
            </a:pPr>
            <a:r>
              <a:rPr lang="en-US" sz="500" b="1" dirty="0">
                <a:solidFill>
                  <a:srgbClr val="98A2B3"/>
                </a:solidFill>
                <a:latin typeface="Aptos" pitchFamily="34" charset="0"/>
                <a:ea typeface="Aptos" pitchFamily="34" charset="-122"/>
                <a:cs typeface="Aptos" pitchFamily="34" charset="-120"/>
              </a:rPr>
              <a:t>OWNER</a:t>
            </a:r>
            <a:endParaRPr lang="en-US" sz="500" dirty="0"/>
          </a:p>
        </p:txBody>
      </p:sp>
      <p:sp>
        <p:nvSpPr>
          <p:cNvPr id="27" name="Text 25"/>
          <p:cNvSpPr/>
          <p:nvPr/>
        </p:nvSpPr>
        <p:spPr>
          <a:xfrm>
            <a:off x="7360920" y="4553712"/>
            <a:ext cx="1508760" cy="164592"/>
          </a:xfrm>
          <a:prstGeom prst="rect">
            <a:avLst/>
          </a:prstGeom>
          <a:noFill/>
          <a:ln/>
        </p:spPr>
        <p:txBody>
          <a:bodyPr wrap="square" lIns="0" tIns="0" rIns="0" bIns="0"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Commercial / Finance</a:t>
            </a:r>
            <a:endParaRPr lang="en-US" sz="760" dirty="0"/>
          </a:p>
        </p:txBody>
      </p:sp>
      <p:sp>
        <p:nvSpPr>
          <p:cNvPr id="28" name="Text 26"/>
          <p:cNvSpPr/>
          <p:nvPr/>
        </p:nvSpPr>
        <p:spPr>
          <a:xfrm>
            <a:off x="9144000" y="4343400"/>
            <a:ext cx="731520" cy="164592"/>
          </a:xfrm>
          <a:prstGeom prst="rect">
            <a:avLst/>
          </a:prstGeom>
          <a:noFill/>
          <a:ln/>
        </p:spPr>
        <p:txBody>
          <a:bodyPr wrap="square" lIns="0" tIns="0" rIns="0" bIns="0" rtlCol="0" anchor="ctr">
            <a:normAutofit/>
          </a:bodyPr>
          <a:lstStyle/>
          <a:p>
            <a:pPr indent="0" marL="0">
              <a:buNone/>
            </a:pPr>
            <a:r>
              <a:rPr lang="en-US" sz="500" b="1" dirty="0">
                <a:solidFill>
                  <a:srgbClr val="98A2B3"/>
                </a:solidFill>
                <a:latin typeface="Aptos" pitchFamily="34" charset="0"/>
                <a:ea typeface="Aptos" pitchFamily="34" charset="-122"/>
                <a:cs typeface="Aptos" pitchFamily="34" charset="-120"/>
              </a:rPr>
              <a:t>OUTCOME</a:t>
            </a:r>
            <a:endParaRPr lang="en-US" sz="500" dirty="0"/>
          </a:p>
        </p:txBody>
      </p:sp>
      <p:sp>
        <p:nvSpPr>
          <p:cNvPr id="29" name="Text 27"/>
          <p:cNvSpPr/>
          <p:nvPr/>
        </p:nvSpPr>
        <p:spPr>
          <a:xfrm>
            <a:off x="9144000" y="4553712"/>
            <a:ext cx="1645920" cy="164592"/>
          </a:xfrm>
          <a:prstGeom prst="rect">
            <a:avLst/>
          </a:prstGeom>
          <a:noFill/>
          <a:ln/>
        </p:spPr>
        <p:txBody>
          <a:bodyPr wrap="square" lIns="0" tIns="0" rIns="0" bIns="0"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4Q target + next close</a:t>
            </a:r>
            <a:endParaRPr lang="en-US" sz="760" dirty="0"/>
          </a:p>
        </p:txBody>
      </p:sp>
      <p:sp>
        <p:nvSpPr>
          <p:cNvPr id="30" name="Text 28"/>
          <p:cNvSpPr/>
          <p:nvPr/>
        </p:nvSpPr>
        <p:spPr>
          <a:xfrm>
            <a:off x="749808" y="5532120"/>
            <a:ext cx="6583680" cy="329184"/>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Display" pitchFamily="34" charset="0"/>
                <a:ea typeface="Aptos Display" pitchFamily="34" charset="-122"/>
                <a:cs typeface="Aptos Display" pitchFamily="34" charset="-120"/>
              </a:rPr>
              <a:t>Recommended board action: approve all three as a single operating discipline package.</a:t>
            </a:r>
            <a:endParaRPr lang="en-US" sz="1700" dirty="0"/>
          </a:p>
        </p:txBody>
      </p:sp>
      <p:sp>
        <p:nvSpPr>
          <p:cNvPr id="31" name="Text 29"/>
          <p:cNvSpPr/>
          <p:nvPr/>
        </p:nvSpPr>
        <p:spPr>
          <a:xfrm>
            <a:off x="768096" y="5925312"/>
            <a:ext cx="7132320" cy="228600"/>
          </a:xfrm>
          <a:prstGeom prst="rect">
            <a:avLst/>
          </a:prstGeom>
          <a:noFill/>
          <a:ln/>
        </p:spPr>
        <p:txBody>
          <a:bodyPr wrap="square" lIns="0" tIns="0" rIns="0" bIns="0" rtlCol="0" anchor="ctr"/>
          <a:lstStyle/>
          <a:p>
            <a:pPr indent="0" marL="0">
              <a:buNone/>
            </a:pPr>
            <a:r>
              <a:rPr lang="en-US" sz="950" dirty="0">
                <a:solidFill>
                  <a:srgbClr val="D7DCE6"/>
                </a:solidFill>
                <a:latin typeface="Aptos" pitchFamily="34" charset="0"/>
                <a:ea typeface="Aptos" pitchFamily="34" charset="-122"/>
                <a:cs typeface="Aptos" pitchFamily="34" charset="-120"/>
              </a:rPr>
              <a:t>Waiting extends near-break-even earnings, vendor-credit dependence, and concentration risk.</a:t>
            </a:r>
            <a:endParaRPr lang="en-US" sz="950" dirty="0"/>
          </a:p>
        </p:txBody>
      </p:sp>
      <p:sp>
        <p:nvSpPr>
          <p:cNvPr id="32" name="Shape 30"/>
          <p:cNvSpPr/>
          <p:nvPr/>
        </p:nvSpPr>
        <p:spPr>
          <a:xfrm>
            <a:off x="530352" y="6419088"/>
            <a:ext cx="11130991" cy="0"/>
          </a:xfrm>
          <a:prstGeom prst="line">
            <a:avLst/>
          </a:prstGeom>
          <a:noFill/>
          <a:ln w="4445">
            <a:solidFill>
              <a:srgbClr val="31405A"/>
            </a:solidFill>
            <a:prstDash val="solid"/>
          </a:ln>
        </p:spPr>
      </p:sp>
      <p:sp>
        <p:nvSpPr>
          <p:cNvPr id="33" name="Text 31"/>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B8C2D1"/>
                </a:solidFill>
                <a:latin typeface="Aptos" pitchFamily="34" charset="0"/>
                <a:ea typeface="Aptos" pitchFamily="34" charset="-122"/>
                <a:cs typeface="Aptos" pitchFamily="34" charset="-120"/>
              </a:rPr>
              <a:t>U1Dynamics Manufacturing LLC  ·  April 2026  ·  Confidential</a:t>
            </a:r>
            <a:endParaRPr lang="en-US" sz="680" dirty="0"/>
          </a:p>
        </p:txBody>
      </p:sp>
      <p:sp>
        <p:nvSpPr>
          <p:cNvPr id="34" name="Text 32"/>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B8C2D1"/>
                </a:solidFill>
                <a:latin typeface="Aptos" pitchFamily="34" charset="0"/>
                <a:ea typeface="Aptos" pitchFamily="34" charset="-122"/>
                <a:cs typeface="Aptos" pitchFamily="34" charset="-120"/>
              </a:rPr>
              <a:t>09</a:t>
            </a:r>
            <a:endParaRPr lang="en-US" sz="6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332720" cy="493776"/>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Appendix: the ruthless rebuild</a:t>
            </a:r>
            <a:endParaRPr lang="en-US" sz="26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What was removed, what replaced it, and how to present it under pressure.</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920240"/>
            <a:ext cx="5074920" cy="1828800"/>
          </a:xfrm>
          <a:prstGeom prst="roundRect">
            <a:avLst>
              <a:gd name="adj" fmla="val 3000"/>
            </a:avLst>
          </a:prstGeom>
          <a:solidFill>
            <a:srgbClr val="FFFFFF"/>
          </a:solidFill>
          <a:ln w="6350">
            <a:solidFill>
              <a:srgbClr val="D6DCE4"/>
            </a:solidFill>
            <a:prstDash val="solid"/>
          </a:ln>
        </p:spPr>
      </p:sp>
      <p:sp>
        <p:nvSpPr>
          <p:cNvPr id="7" name="Text 5"/>
          <p:cNvSpPr/>
          <p:nvPr/>
        </p:nvSpPr>
        <p:spPr>
          <a:xfrm>
            <a:off x="914400" y="2066544"/>
            <a:ext cx="4745736" cy="201168"/>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Aptos Display" pitchFamily="34" charset="0"/>
                <a:ea typeface="Aptos Display" pitchFamily="34" charset="-122"/>
                <a:cs typeface="Aptos Display" pitchFamily="34" charset="-120"/>
              </a:rPr>
              <a:t>What I destroyed from the weak version</a:t>
            </a:r>
            <a:endParaRPr lang="en-US" sz="1300" dirty="0"/>
          </a:p>
        </p:txBody>
      </p:sp>
      <p:sp>
        <p:nvSpPr>
          <p:cNvPr id="8" name="Text 6"/>
          <p:cNvSpPr/>
          <p:nvPr/>
        </p:nvSpPr>
        <p:spPr>
          <a:xfrm>
            <a:off x="914400" y="2350008"/>
            <a:ext cx="4745736" cy="1298448"/>
          </a:xfrm>
          <a:prstGeom prst="rect">
            <a:avLst/>
          </a:prstGeom>
          <a:noFill/>
          <a:ln/>
        </p:spPr>
        <p:txBody>
          <a:bodyPr wrap="square" lIns="0" tIns="0" rIns="0" bIns="0" rtlCol="0" anchor="t">
            <a:normAutofit/>
          </a:bodyPr>
          <a:lstStyle/>
          <a:p>
            <a:pPr indent="0" marL="0">
              <a:buNone/>
            </a:pPr>
            <a:r>
              <a:rPr lang="en-US" sz="920" dirty="0">
                <a:solidFill>
                  <a:srgbClr val="475467"/>
                </a:solidFill>
                <a:latin typeface="Aptos" pitchFamily="34" charset="0"/>
                <a:ea typeface="Aptos" pitchFamily="34" charset="-122"/>
                <a:cs typeface="Aptos" pitchFamily="34" charset="-120"/>
              </a:rPr>
              <a:t>Generic titles; crowded operating pages; product/package detail as a main narrative; charts that report but do not change a decision; duplicated close-quality disclosure; passive “confirm” language; and unresolved data presented too late.</a:t>
            </a:r>
            <a:endParaRPr lang="en-US" sz="920" dirty="0"/>
          </a:p>
        </p:txBody>
      </p:sp>
      <p:sp>
        <p:nvSpPr>
          <p:cNvPr id="9" name="Shape 7"/>
          <p:cNvSpPr/>
          <p:nvPr/>
        </p:nvSpPr>
        <p:spPr>
          <a:xfrm>
            <a:off x="6199632" y="1920240"/>
            <a:ext cx="4983480" cy="1828800"/>
          </a:xfrm>
          <a:prstGeom prst="roundRect">
            <a:avLst>
              <a:gd name="adj" fmla="val 3000"/>
            </a:avLst>
          </a:prstGeom>
          <a:solidFill>
            <a:srgbClr val="FFFFFF"/>
          </a:solidFill>
          <a:ln w="6350">
            <a:solidFill>
              <a:srgbClr val="D6DCE4"/>
            </a:solidFill>
            <a:prstDash val="solid"/>
          </a:ln>
        </p:spPr>
      </p:sp>
      <p:sp>
        <p:nvSpPr>
          <p:cNvPr id="10" name="Text 8"/>
          <p:cNvSpPr/>
          <p:nvPr/>
        </p:nvSpPr>
        <p:spPr>
          <a:xfrm>
            <a:off x="6364224" y="2066544"/>
            <a:ext cx="4654296" cy="201168"/>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Aptos Display" pitchFamily="34" charset="0"/>
                <a:ea typeface="Aptos Display" pitchFamily="34" charset="-122"/>
                <a:cs typeface="Aptos Display" pitchFamily="34" charset="-120"/>
              </a:rPr>
              <a:t>What replaced it</a:t>
            </a:r>
            <a:endParaRPr lang="en-US" sz="1300" dirty="0"/>
          </a:p>
        </p:txBody>
      </p:sp>
      <p:sp>
        <p:nvSpPr>
          <p:cNvPr id="11" name="Text 9"/>
          <p:cNvSpPr/>
          <p:nvPr/>
        </p:nvSpPr>
        <p:spPr>
          <a:xfrm>
            <a:off x="6364224" y="2350008"/>
            <a:ext cx="4654296" cy="1298448"/>
          </a:xfrm>
          <a:prstGeom prst="rect">
            <a:avLst/>
          </a:prstGeom>
          <a:noFill/>
          <a:ln/>
        </p:spPr>
        <p:txBody>
          <a:bodyPr wrap="square" lIns="0" tIns="0" rIns="0" bIns="0" rtlCol="0" anchor="t">
            <a:normAutofit/>
          </a:bodyPr>
          <a:lstStyle/>
          <a:p>
            <a:pPr indent="0" marL="0">
              <a:buNone/>
            </a:pPr>
            <a:r>
              <a:rPr lang="en-US" sz="920" dirty="0">
                <a:solidFill>
                  <a:srgbClr val="475467"/>
                </a:solidFill>
                <a:latin typeface="Aptos" pitchFamily="34" charset="0"/>
                <a:ea typeface="Aptos" pitchFamily="34" charset="-122"/>
                <a:cs typeface="Aptos" pitchFamily="34" charset="-120"/>
              </a:rPr>
              <a:t>A 9-slide board-facing decision deck: decision first, enterprise signal second, margin/cash/concentration as the core, operations only to remove doubt, data integrity before final approval.</a:t>
            </a:r>
            <a:endParaRPr lang="en-US" sz="920" dirty="0"/>
          </a:p>
        </p:txBody>
      </p:sp>
      <p:sp>
        <p:nvSpPr>
          <p:cNvPr id="12" name="Shape 10"/>
          <p:cNvSpPr/>
          <p:nvPr/>
        </p:nvSpPr>
        <p:spPr>
          <a:xfrm>
            <a:off x="749808" y="4160520"/>
            <a:ext cx="10424160" cy="868680"/>
          </a:xfrm>
          <a:prstGeom prst="roundRect">
            <a:avLst>
              <a:gd name="adj" fmla="val 6316"/>
            </a:avLst>
          </a:prstGeom>
          <a:solidFill>
            <a:srgbClr val="071326"/>
          </a:solidFill>
          <a:ln w="6350">
            <a:solidFill>
              <a:srgbClr val="071326"/>
            </a:solidFill>
            <a:prstDash val="solid"/>
          </a:ln>
        </p:spPr>
      </p:sp>
      <p:sp>
        <p:nvSpPr>
          <p:cNvPr id="13" name="Text 11"/>
          <p:cNvSpPr/>
          <p:nvPr/>
        </p:nvSpPr>
        <p:spPr>
          <a:xfrm>
            <a:off x="914400" y="4306824"/>
            <a:ext cx="10094976" cy="20116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The new standard</a:t>
            </a:r>
            <a:endParaRPr lang="en-US" sz="1300" dirty="0"/>
          </a:p>
        </p:txBody>
      </p:sp>
      <p:sp>
        <p:nvSpPr>
          <p:cNvPr id="14" name="Text 12"/>
          <p:cNvSpPr/>
          <p:nvPr/>
        </p:nvSpPr>
        <p:spPr>
          <a:xfrm>
            <a:off x="914400" y="4590288"/>
            <a:ext cx="10094976" cy="338328"/>
          </a:xfrm>
          <a:prstGeom prst="rect">
            <a:avLst/>
          </a:prstGeom>
          <a:noFill/>
          <a:ln/>
        </p:spPr>
        <p:txBody>
          <a:bodyPr wrap="square" lIns="0" tIns="0" rIns="0" bIns="0" rtlCol="0" anchor="t">
            <a:normAutofit/>
          </a:bodyPr>
          <a:lstStyle/>
          <a:p>
            <a:pPr indent="0" marL="0">
              <a:buNone/>
            </a:pPr>
            <a:r>
              <a:rPr lang="en-US" sz="1000" dirty="0">
                <a:solidFill>
                  <a:srgbClr val="D7DCE6"/>
                </a:solidFill>
                <a:latin typeface="Aptos" pitchFamily="34" charset="0"/>
                <a:ea typeface="Aptos" pitchFamily="34" charset="-122"/>
                <a:cs typeface="Aptos" pitchFamily="34" charset="-120"/>
              </a:rPr>
              <a:t>Every slide must answer: what does the board need to believe, decide, or challenge because of this information?</a:t>
            </a:r>
            <a:endParaRPr lang="en-US" sz="1000" dirty="0"/>
          </a:p>
        </p:txBody>
      </p:sp>
      <p:sp>
        <p:nvSpPr>
          <p:cNvPr id="15" name="Shape 13"/>
          <p:cNvSpPr/>
          <p:nvPr/>
        </p:nvSpPr>
        <p:spPr>
          <a:xfrm>
            <a:off x="749808" y="5504688"/>
            <a:ext cx="10424160" cy="530352"/>
          </a:xfrm>
          <a:prstGeom prst="roundRect">
            <a:avLst>
              <a:gd name="adj" fmla="val 10345"/>
            </a:avLst>
          </a:prstGeom>
          <a:solidFill>
            <a:srgbClr val="FFFFFF"/>
          </a:solidFill>
          <a:ln w="6350">
            <a:solidFill>
              <a:srgbClr val="D6DCE4"/>
            </a:solidFill>
            <a:prstDash val="solid"/>
          </a:ln>
        </p:spPr>
      </p:sp>
      <p:sp>
        <p:nvSpPr>
          <p:cNvPr id="16" name="Text 14"/>
          <p:cNvSpPr/>
          <p:nvPr/>
        </p:nvSpPr>
        <p:spPr>
          <a:xfrm>
            <a:off x="868680" y="5596128"/>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17" name="Text 15"/>
          <p:cNvSpPr/>
          <p:nvPr/>
        </p:nvSpPr>
        <p:spPr>
          <a:xfrm>
            <a:off x="2167128" y="5605272"/>
            <a:ext cx="8823960" cy="365760"/>
          </a:xfrm>
          <a:prstGeom prst="rect">
            <a:avLst/>
          </a:prstGeom>
          <a:noFill/>
          <a:ln/>
        </p:spPr>
        <p:txBody>
          <a:bodyPr wrap="square" lIns="0" tIns="0" rIns="0" bIns="0" rtlCol="0" anchor="ctr">
            <a:normAutofit/>
          </a:bodyPr>
          <a:lstStyle/>
          <a:p>
            <a:pPr indent="0" marL="0">
              <a:buNone/>
            </a:pPr>
            <a:r>
              <a:rPr lang="en-US" sz="860" dirty="0">
                <a:solidFill>
                  <a:srgbClr val="111827"/>
                </a:solidFill>
                <a:latin typeface="Aptos" pitchFamily="34" charset="0"/>
                <a:ea typeface="Aptos" pitchFamily="34" charset="-122"/>
                <a:cs typeface="Aptos" pitchFamily="34" charset="-120"/>
              </a:rPr>
              <a:t>Use slides 1–9 for the board packet. Keep slides 10–15 as CEO prep unless you want to share the rebuild logic.</a:t>
            </a:r>
            <a:endParaRPr lang="en-US" sz="860" dirty="0"/>
          </a:p>
        </p:txBody>
      </p:sp>
      <p:sp>
        <p:nvSpPr>
          <p:cNvPr id="18" name="Shape 16"/>
          <p:cNvSpPr/>
          <p:nvPr/>
        </p:nvSpPr>
        <p:spPr>
          <a:xfrm>
            <a:off x="530352" y="6419088"/>
            <a:ext cx="11130991" cy="0"/>
          </a:xfrm>
          <a:prstGeom prst="line">
            <a:avLst/>
          </a:prstGeom>
          <a:noFill/>
          <a:ln w="4445">
            <a:solidFill>
              <a:srgbClr val="D6DCE4"/>
            </a:solidFill>
            <a:prstDash val="solid"/>
          </a:ln>
        </p:spPr>
      </p:sp>
      <p:sp>
        <p:nvSpPr>
          <p:cNvPr id="19" name="Text 17"/>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20" name="Text 18"/>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10</a:t>
            </a:r>
            <a:endParaRPr lang="en-US" sz="6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424160" cy="493776"/>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New board-facing slide list</a:t>
            </a:r>
            <a:endParaRPr lang="en-US" sz="26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Rewritten headlines, exact role, and recommended visual discipline.</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Text 4"/>
          <p:cNvSpPr/>
          <p:nvPr/>
        </p:nvSpPr>
        <p:spPr>
          <a:xfrm>
            <a:off x="749808" y="1810512"/>
            <a:ext cx="384048" cy="347472"/>
          </a:xfrm>
          <a:prstGeom prst="rect">
            <a:avLst/>
          </a:prstGeom>
          <a:noFill/>
          <a:ln/>
        </p:spPr>
        <p:txBody>
          <a:bodyPr wrap="square" lIns="0" tIns="0" rIns="0" bIns="0" rtlCol="0" anchor="ctr">
            <a:normAutofit/>
          </a:bodyPr>
          <a:lstStyle/>
          <a:p>
            <a:pPr algn="l" indent="0" marL="0">
              <a:buNone/>
            </a:pPr>
            <a:r>
              <a:rPr lang="en-US" sz="740" b="1" dirty="0">
                <a:solidFill>
                  <a:srgbClr val="475467"/>
                </a:solidFill>
                <a:latin typeface="Aptos" pitchFamily="34" charset="0"/>
                <a:ea typeface="Aptos" pitchFamily="34" charset="-122"/>
                <a:cs typeface="Aptos" pitchFamily="34" charset="-120"/>
              </a:rPr>
              <a:t>#</a:t>
            </a:r>
            <a:endParaRPr lang="en-US" sz="740" dirty="0"/>
          </a:p>
        </p:txBody>
      </p:sp>
      <p:sp>
        <p:nvSpPr>
          <p:cNvPr id="7" name="Text 5"/>
          <p:cNvSpPr/>
          <p:nvPr/>
        </p:nvSpPr>
        <p:spPr>
          <a:xfrm>
            <a:off x="1133856" y="1810512"/>
            <a:ext cx="4315968" cy="347472"/>
          </a:xfrm>
          <a:prstGeom prst="rect">
            <a:avLst/>
          </a:prstGeom>
          <a:noFill/>
          <a:ln/>
        </p:spPr>
        <p:txBody>
          <a:bodyPr wrap="square" lIns="0" tIns="0" rIns="0" bIns="0" rtlCol="0" anchor="ctr">
            <a:normAutofit/>
          </a:bodyPr>
          <a:lstStyle/>
          <a:p>
            <a:pPr algn="l" indent="0" marL="0">
              <a:buNone/>
            </a:pPr>
            <a:r>
              <a:rPr lang="en-US" sz="740" b="1" dirty="0">
                <a:solidFill>
                  <a:srgbClr val="475467"/>
                </a:solidFill>
                <a:latin typeface="Aptos" pitchFamily="34" charset="0"/>
                <a:ea typeface="Aptos" pitchFamily="34" charset="-122"/>
                <a:cs typeface="Aptos" pitchFamily="34" charset="-120"/>
              </a:rPr>
              <a:t>Rewritten headline</a:t>
            </a:r>
            <a:endParaRPr lang="en-US" sz="740" dirty="0"/>
          </a:p>
        </p:txBody>
      </p:sp>
      <p:sp>
        <p:nvSpPr>
          <p:cNvPr id="8" name="Text 6"/>
          <p:cNvSpPr/>
          <p:nvPr/>
        </p:nvSpPr>
        <p:spPr>
          <a:xfrm>
            <a:off x="5449824" y="1810512"/>
            <a:ext cx="2423160" cy="347472"/>
          </a:xfrm>
          <a:prstGeom prst="rect">
            <a:avLst/>
          </a:prstGeom>
          <a:noFill/>
          <a:ln/>
        </p:spPr>
        <p:txBody>
          <a:bodyPr wrap="square" lIns="0" tIns="0" rIns="0" bIns="0" rtlCol="0" anchor="ctr">
            <a:normAutofit/>
          </a:bodyPr>
          <a:lstStyle/>
          <a:p>
            <a:pPr algn="l" indent="0" marL="0">
              <a:buNone/>
            </a:pPr>
            <a:r>
              <a:rPr lang="en-US" sz="740" b="1" dirty="0">
                <a:solidFill>
                  <a:srgbClr val="475467"/>
                </a:solidFill>
                <a:latin typeface="Aptos" pitchFamily="34" charset="0"/>
                <a:ea typeface="Aptos" pitchFamily="34" charset="-122"/>
                <a:cs typeface="Aptos" pitchFamily="34" charset="-120"/>
              </a:rPr>
              <a:t>Visual</a:t>
            </a:r>
            <a:endParaRPr lang="en-US" sz="740" dirty="0"/>
          </a:p>
        </p:txBody>
      </p:sp>
      <p:sp>
        <p:nvSpPr>
          <p:cNvPr id="9" name="Text 7"/>
          <p:cNvSpPr/>
          <p:nvPr/>
        </p:nvSpPr>
        <p:spPr>
          <a:xfrm>
            <a:off x="7872984" y="1810512"/>
            <a:ext cx="3063240" cy="347472"/>
          </a:xfrm>
          <a:prstGeom prst="rect">
            <a:avLst/>
          </a:prstGeom>
          <a:noFill/>
          <a:ln/>
        </p:spPr>
        <p:txBody>
          <a:bodyPr wrap="square" lIns="0" tIns="0" rIns="0" bIns="0" rtlCol="0" anchor="ctr">
            <a:normAutofit/>
          </a:bodyPr>
          <a:lstStyle/>
          <a:p>
            <a:pPr algn="l" indent="0" marL="0">
              <a:buNone/>
            </a:pPr>
            <a:r>
              <a:rPr lang="en-US" sz="740" b="1" dirty="0">
                <a:solidFill>
                  <a:srgbClr val="475467"/>
                </a:solidFill>
                <a:latin typeface="Aptos" pitchFamily="34" charset="0"/>
                <a:ea typeface="Aptos" pitchFamily="34" charset="-122"/>
                <a:cs typeface="Aptos" pitchFamily="34" charset="-120"/>
              </a:rPr>
              <a:t>Board action</a:t>
            </a:r>
            <a:endParaRPr lang="en-US" sz="740" dirty="0"/>
          </a:p>
        </p:txBody>
      </p:sp>
      <p:sp>
        <p:nvSpPr>
          <p:cNvPr id="10" name="Shape 8"/>
          <p:cNvSpPr/>
          <p:nvPr/>
        </p:nvSpPr>
        <p:spPr>
          <a:xfrm>
            <a:off x="749808" y="2112264"/>
            <a:ext cx="10186416" cy="0"/>
          </a:xfrm>
          <a:prstGeom prst="line">
            <a:avLst/>
          </a:prstGeom>
          <a:noFill/>
          <a:ln w="5080">
            <a:solidFill>
              <a:srgbClr val="D6DCE4"/>
            </a:solidFill>
            <a:prstDash val="solid"/>
          </a:ln>
        </p:spPr>
      </p:sp>
      <p:sp>
        <p:nvSpPr>
          <p:cNvPr id="11" name="Text 9"/>
          <p:cNvSpPr/>
          <p:nvPr/>
        </p:nvSpPr>
        <p:spPr>
          <a:xfrm>
            <a:off x="749808" y="2249424"/>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1</a:t>
            </a:r>
            <a:endParaRPr lang="en-US" sz="690" dirty="0"/>
          </a:p>
        </p:txBody>
      </p:sp>
      <p:sp>
        <p:nvSpPr>
          <p:cNvPr id="12" name="Text 10"/>
          <p:cNvSpPr/>
          <p:nvPr/>
        </p:nvSpPr>
        <p:spPr>
          <a:xfrm>
            <a:off x="1133856" y="2249424"/>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Board Operating Review · April 2026</a:t>
            </a:r>
            <a:endParaRPr lang="en-US" sz="690" dirty="0"/>
          </a:p>
        </p:txBody>
      </p:sp>
      <p:sp>
        <p:nvSpPr>
          <p:cNvPr id="13" name="Text 11"/>
          <p:cNvSpPr/>
          <p:nvPr/>
        </p:nvSpPr>
        <p:spPr>
          <a:xfrm>
            <a:off x="5449824" y="2249424"/>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Premium cover</a:t>
            </a:r>
            <a:endParaRPr lang="en-US" sz="690" dirty="0"/>
          </a:p>
        </p:txBody>
      </p:sp>
      <p:sp>
        <p:nvSpPr>
          <p:cNvPr id="14" name="Text 12"/>
          <p:cNvSpPr/>
          <p:nvPr/>
        </p:nvSpPr>
        <p:spPr>
          <a:xfrm>
            <a:off x="7872984" y="2249424"/>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Set control</a:t>
            </a:r>
            <a:endParaRPr lang="en-US" sz="690" dirty="0"/>
          </a:p>
        </p:txBody>
      </p:sp>
      <p:sp>
        <p:nvSpPr>
          <p:cNvPr id="15" name="Shape 13"/>
          <p:cNvSpPr/>
          <p:nvPr/>
        </p:nvSpPr>
        <p:spPr>
          <a:xfrm>
            <a:off x="749808" y="2505456"/>
            <a:ext cx="10186416" cy="0"/>
          </a:xfrm>
          <a:prstGeom prst="line">
            <a:avLst/>
          </a:prstGeom>
          <a:noFill/>
          <a:ln w="5080">
            <a:solidFill>
              <a:srgbClr val="E6E9EE"/>
            </a:solidFill>
            <a:prstDash val="solid"/>
          </a:ln>
        </p:spPr>
      </p:sp>
      <p:sp>
        <p:nvSpPr>
          <p:cNvPr id="16" name="Text 14"/>
          <p:cNvSpPr/>
          <p:nvPr/>
        </p:nvSpPr>
        <p:spPr>
          <a:xfrm>
            <a:off x="749808" y="2606040"/>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2</a:t>
            </a:r>
            <a:endParaRPr lang="en-US" sz="690" dirty="0"/>
          </a:p>
        </p:txBody>
      </p:sp>
      <p:sp>
        <p:nvSpPr>
          <p:cNvPr id="17" name="Text 15"/>
          <p:cNvSpPr/>
          <p:nvPr/>
        </p:nvSpPr>
        <p:spPr>
          <a:xfrm>
            <a:off x="1133856" y="2606040"/>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Convert volume into margin, cash, and resilience</a:t>
            </a:r>
            <a:endParaRPr lang="en-US" sz="690" dirty="0"/>
          </a:p>
        </p:txBody>
      </p:sp>
      <p:sp>
        <p:nvSpPr>
          <p:cNvPr id="18" name="Text 16"/>
          <p:cNvSpPr/>
          <p:nvPr/>
        </p:nvSpPr>
        <p:spPr>
          <a:xfrm>
            <a:off x="5449824" y="2606040"/>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Hero metrics + asks</a:t>
            </a:r>
            <a:endParaRPr lang="en-US" sz="690" dirty="0"/>
          </a:p>
        </p:txBody>
      </p:sp>
      <p:sp>
        <p:nvSpPr>
          <p:cNvPr id="19" name="Text 17"/>
          <p:cNvSpPr/>
          <p:nvPr/>
        </p:nvSpPr>
        <p:spPr>
          <a:xfrm>
            <a:off x="7872984" y="2606040"/>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Approve 3 decisions</a:t>
            </a:r>
            <a:endParaRPr lang="en-US" sz="690" dirty="0"/>
          </a:p>
        </p:txBody>
      </p:sp>
      <p:sp>
        <p:nvSpPr>
          <p:cNvPr id="20" name="Shape 18"/>
          <p:cNvSpPr/>
          <p:nvPr/>
        </p:nvSpPr>
        <p:spPr>
          <a:xfrm>
            <a:off x="749808" y="2862072"/>
            <a:ext cx="10186416" cy="0"/>
          </a:xfrm>
          <a:prstGeom prst="line">
            <a:avLst/>
          </a:prstGeom>
          <a:noFill/>
          <a:ln w="5080">
            <a:solidFill>
              <a:srgbClr val="E6E9EE"/>
            </a:solidFill>
            <a:prstDash val="solid"/>
          </a:ln>
        </p:spPr>
      </p:sp>
      <p:sp>
        <p:nvSpPr>
          <p:cNvPr id="21" name="Text 19"/>
          <p:cNvSpPr/>
          <p:nvPr/>
        </p:nvSpPr>
        <p:spPr>
          <a:xfrm>
            <a:off x="749808" y="2962656"/>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3</a:t>
            </a:r>
            <a:endParaRPr lang="en-US" sz="690" dirty="0"/>
          </a:p>
        </p:txBody>
      </p:sp>
      <p:sp>
        <p:nvSpPr>
          <p:cNvPr id="22" name="Text 20"/>
          <p:cNvSpPr/>
          <p:nvPr/>
        </p:nvSpPr>
        <p:spPr>
          <a:xfrm>
            <a:off x="1133856" y="2962656"/>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Bigger in volume, narrower in exposure</a:t>
            </a:r>
            <a:endParaRPr lang="en-US" sz="690" dirty="0"/>
          </a:p>
        </p:txBody>
      </p:sp>
      <p:sp>
        <p:nvSpPr>
          <p:cNvPr id="23" name="Text 21"/>
          <p:cNvSpPr/>
          <p:nvPr/>
        </p:nvSpPr>
        <p:spPr>
          <a:xfrm>
            <a:off x="5449824" y="2962656"/>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Trend table</a:t>
            </a:r>
            <a:endParaRPr lang="en-US" sz="690" dirty="0"/>
          </a:p>
        </p:txBody>
      </p:sp>
      <p:sp>
        <p:nvSpPr>
          <p:cNvPr id="24" name="Text 22"/>
          <p:cNvSpPr/>
          <p:nvPr/>
        </p:nvSpPr>
        <p:spPr>
          <a:xfrm>
            <a:off x="7872984" y="2962656"/>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Set concentration target</a:t>
            </a:r>
            <a:endParaRPr lang="en-US" sz="690" dirty="0"/>
          </a:p>
        </p:txBody>
      </p:sp>
      <p:sp>
        <p:nvSpPr>
          <p:cNvPr id="25" name="Shape 23"/>
          <p:cNvSpPr/>
          <p:nvPr/>
        </p:nvSpPr>
        <p:spPr>
          <a:xfrm>
            <a:off x="749808" y="3218688"/>
            <a:ext cx="10186416" cy="0"/>
          </a:xfrm>
          <a:prstGeom prst="line">
            <a:avLst/>
          </a:prstGeom>
          <a:noFill/>
          <a:ln w="5080">
            <a:solidFill>
              <a:srgbClr val="E6E9EE"/>
            </a:solidFill>
            <a:prstDash val="solid"/>
          </a:ln>
        </p:spPr>
      </p:sp>
      <p:sp>
        <p:nvSpPr>
          <p:cNvPr id="26" name="Text 24"/>
          <p:cNvSpPr/>
          <p:nvPr/>
        </p:nvSpPr>
        <p:spPr>
          <a:xfrm>
            <a:off x="749808" y="3319272"/>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4</a:t>
            </a:r>
            <a:endParaRPr lang="en-US" sz="690" dirty="0"/>
          </a:p>
        </p:txBody>
      </p:sp>
      <p:sp>
        <p:nvSpPr>
          <p:cNvPr id="27" name="Text 25"/>
          <p:cNvSpPr/>
          <p:nvPr/>
        </p:nvSpPr>
        <p:spPr>
          <a:xfrm>
            <a:off x="1133856" y="3319272"/>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Margin below value-creation line</a:t>
            </a:r>
            <a:endParaRPr lang="en-US" sz="690" dirty="0"/>
          </a:p>
        </p:txBody>
      </p:sp>
      <p:sp>
        <p:nvSpPr>
          <p:cNvPr id="28" name="Text 26"/>
          <p:cNvSpPr/>
          <p:nvPr/>
        </p:nvSpPr>
        <p:spPr>
          <a:xfrm>
            <a:off x="5449824" y="3319272"/>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Margin progress bar</a:t>
            </a:r>
            <a:endParaRPr lang="en-US" sz="690" dirty="0"/>
          </a:p>
        </p:txBody>
      </p:sp>
      <p:sp>
        <p:nvSpPr>
          <p:cNvPr id="29" name="Text 27"/>
          <p:cNvSpPr/>
          <p:nvPr/>
        </p:nvSpPr>
        <p:spPr>
          <a:xfrm>
            <a:off x="7872984" y="3319272"/>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Approve price/mix</a:t>
            </a:r>
            <a:endParaRPr lang="en-US" sz="690" dirty="0"/>
          </a:p>
        </p:txBody>
      </p:sp>
      <p:sp>
        <p:nvSpPr>
          <p:cNvPr id="30" name="Shape 28"/>
          <p:cNvSpPr/>
          <p:nvPr/>
        </p:nvSpPr>
        <p:spPr>
          <a:xfrm>
            <a:off x="749808" y="3575304"/>
            <a:ext cx="10186416" cy="0"/>
          </a:xfrm>
          <a:prstGeom prst="line">
            <a:avLst/>
          </a:prstGeom>
          <a:noFill/>
          <a:ln w="5080">
            <a:solidFill>
              <a:srgbClr val="E6E9EE"/>
            </a:solidFill>
            <a:prstDash val="solid"/>
          </a:ln>
        </p:spPr>
      </p:sp>
      <p:sp>
        <p:nvSpPr>
          <p:cNvPr id="31" name="Text 29"/>
          <p:cNvSpPr/>
          <p:nvPr/>
        </p:nvSpPr>
        <p:spPr>
          <a:xfrm>
            <a:off x="749808" y="3675888"/>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5</a:t>
            </a:r>
            <a:endParaRPr lang="en-US" sz="690" dirty="0"/>
          </a:p>
        </p:txBody>
      </p:sp>
      <p:sp>
        <p:nvSpPr>
          <p:cNvPr id="32" name="Text 30"/>
          <p:cNvSpPr/>
          <p:nvPr/>
        </p:nvSpPr>
        <p:spPr>
          <a:xfrm>
            <a:off x="1133856" y="3675888"/>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Vendor credit carrying cycle</a:t>
            </a:r>
            <a:endParaRPr lang="en-US" sz="690" dirty="0"/>
          </a:p>
        </p:txBody>
      </p:sp>
      <p:sp>
        <p:nvSpPr>
          <p:cNvPr id="33" name="Text 31"/>
          <p:cNvSpPr/>
          <p:nvPr/>
        </p:nvSpPr>
        <p:spPr>
          <a:xfrm>
            <a:off x="5449824" y="3675888"/>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AR vs AP bar</a:t>
            </a:r>
            <a:endParaRPr lang="en-US" sz="690" dirty="0"/>
          </a:p>
        </p:txBody>
      </p:sp>
      <p:sp>
        <p:nvSpPr>
          <p:cNvPr id="34" name="Text 32"/>
          <p:cNvSpPr/>
          <p:nvPr/>
        </p:nvSpPr>
        <p:spPr>
          <a:xfrm>
            <a:off x="7872984" y="3675888"/>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Approve 30/60/90</a:t>
            </a:r>
            <a:endParaRPr lang="en-US" sz="690" dirty="0"/>
          </a:p>
        </p:txBody>
      </p:sp>
      <p:sp>
        <p:nvSpPr>
          <p:cNvPr id="35" name="Shape 33"/>
          <p:cNvSpPr/>
          <p:nvPr/>
        </p:nvSpPr>
        <p:spPr>
          <a:xfrm>
            <a:off x="749808" y="3931920"/>
            <a:ext cx="10186416" cy="0"/>
          </a:xfrm>
          <a:prstGeom prst="line">
            <a:avLst/>
          </a:prstGeom>
          <a:noFill/>
          <a:ln w="5080">
            <a:solidFill>
              <a:srgbClr val="E6E9EE"/>
            </a:solidFill>
            <a:prstDash val="solid"/>
          </a:ln>
        </p:spPr>
      </p:sp>
      <p:sp>
        <p:nvSpPr>
          <p:cNvPr id="36" name="Text 34"/>
          <p:cNvSpPr/>
          <p:nvPr/>
        </p:nvSpPr>
        <p:spPr>
          <a:xfrm>
            <a:off x="749808" y="4032504"/>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6</a:t>
            </a:r>
            <a:endParaRPr lang="en-US" sz="690" dirty="0"/>
          </a:p>
        </p:txBody>
      </p:sp>
      <p:sp>
        <p:nvSpPr>
          <p:cNvPr id="37" name="Text 35"/>
          <p:cNvSpPr/>
          <p:nvPr/>
        </p:nvSpPr>
        <p:spPr>
          <a:xfrm>
            <a:off x="1133856" y="4032504"/>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Intercompany classification issue</a:t>
            </a:r>
            <a:endParaRPr lang="en-US" sz="690" dirty="0"/>
          </a:p>
        </p:txBody>
      </p:sp>
      <p:sp>
        <p:nvSpPr>
          <p:cNvPr id="38" name="Text 36"/>
          <p:cNvSpPr/>
          <p:nvPr/>
        </p:nvSpPr>
        <p:spPr>
          <a:xfrm>
            <a:off x="5449824" y="4032504"/>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Top-account bars</a:t>
            </a:r>
            <a:endParaRPr lang="en-US" sz="690" dirty="0"/>
          </a:p>
        </p:txBody>
      </p:sp>
      <p:sp>
        <p:nvSpPr>
          <p:cNvPr id="39" name="Text 37"/>
          <p:cNvSpPr/>
          <p:nvPr/>
        </p:nvSpPr>
        <p:spPr>
          <a:xfrm>
            <a:off x="7872984" y="4032504"/>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Resolve treatment</a:t>
            </a:r>
            <a:endParaRPr lang="en-US" sz="690" dirty="0"/>
          </a:p>
        </p:txBody>
      </p:sp>
      <p:sp>
        <p:nvSpPr>
          <p:cNvPr id="40" name="Shape 38"/>
          <p:cNvSpPr/>
          <p:nvPr/>
        </p:nvSpPr>
        <p:spPr>
          <a:xfrm>
            <a:off x="749808" y="4288536"/>
            <a:ext cx="10186416" cy="0"/>
          </a:xfrm>
          <a:prstGeom prst="line">
            <a:avLst/>
          </a:prstGeom>
          <a:noFill/>
          <a:ln w="5080">
            <a:solidFill>
              <a:srgbClr val="E6E9EE"/>
            </a:solidFill>
            <a:prstDash val="solid"/>
          </a:ln>
        </p:spPr>
      </p:sp>
      <p:sp>
        <p:nvSpPr>
          <p:cNvPr id="41" name="Text 39"/>
          <p:cNvSpPr/>
          <p:nvPr/>
        </p:nvSpPr>
        <p:spPr>
          <a:xfrm>
            <a:off x="749808" y="4389120"/>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7</a:t>
            </a:r>
            <a:endParaRPr lang="en-US" sz="690" dirty="0"/>
          </a:p>
        </p:txBody>
      </p:sp>
      <p:sp>
        <p:nvSpPr>
          <p:cNvPr id="42" name="Text 40"/>
          <p:cNvSpPr/>
          <p:nvPr/>
        </p:nvSpPr>
        <p:spPr>
          <a:xfrm>
            <a:off x="1133856" y="4389120"/>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Plant not bottleneck</a:t>
            </a:r>
            <a:endParaRPr lang="en-US" sz="690" dirty="0"/>
          </a:p>
        </p:txBody>
      </p:sp>
      <p:sp>
        <p:nvSpPr>
          <p:cNvPr id="43" name="Text 41"/>
          <p:cNvSpPr/>
          <p:nvPr/>
        </p:nvSpPr>
        <p:spPr>
          <a:xfrm>
            <a:off x="5449824" y="4389120"/>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Operating signal cards</a:t>
            </a:r>
            <a:endParaRPr lang="en-US" sz="690" dirty="0"/>
          </a:p>
        </p:txBody>
      </p:sp>
      <p:sp>
        <p:nvSpPr>
          <p:cNvPr id="44" name="Text 42"/>
          <p:cNvSpPr/>
          <p:nvPr/>
        </p:nvSpPr>
        <p:spPr>
          <a:xfrm>
            <a:off x="7872984" y="4389120"/>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Add inventory anchor</a:t>
            </a:r>
            <a:endParaRPr lang="en-US" sz="690" dirty="0"/>
          </a:p>
        </p:txBody>
      </p:sp>
      <p:sp>
        <p:nvSpPr>
          <p:cNvPr id="45" name="Shape 43"/>
          <p:cNvSpPr/>
          <p:nvPr/>
        </p:nvSpPr>
        <p:spPr>
          <a:xfrm>
            <a:off x="749808" y="4645152"/>
            <a:ext cx="10186416" cy="0"/>
          </a:xfrm>
          <a:prstGeom prst="line">
            <a:avLst/>
          </a:prstGeom>
          <a:noFill/>
          <a:ln w="5080">
            <a:solidFill>
              <a:srgbClr val="E6E9EE"/>
            </a:solidFill>
            <a:prstDash val="solid"/>
          </a:ln>
        </p:spPr>
      </p:sp>
      <p:sp>
        <p:nvSpPr>
          <p:cNvPr id="46" name="Text 44"/>
          <p:cNvSpPr/>
          <p:nvPr/>
        </p:nvSpPr>
        <p:spPr>
          <a:xfrm>
            <a:off x="749808" y="4745736"/>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8</a:t>
            </a:r>
            <a:endParaRPr lang="en-US" sz="690" dirty="0"/>
          </a:p>
        </p:txBody>
      </p:sp>
      <p:sp>
        <p:nvSpPr>
          <p:cNvPr id="47" name="Text 45"/>
          <p:cNvSpPr/>
          <p:nvPr/>
        </p:nvSpPr>
        <p:spPr>
          <a:xfrm>
            <a:off x="1133856" y="4745736"/>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Board-grade vs pending data</a:t>
            </a:r>
            <a:endParaRPr lang="en-US" sz="690" dirty="0"/>
          </a:p>
        </p:txBody>
      </p:sp>
      <p:sp>
        <p:nvSpPr>
          <p:cNvPr id="48" name="Text 46"/>
          <p:cNvSpPr/>
          <p:nvPr/>
        </p:nvSpPr>
        <p:spPr>
          <a:xfrm>
            <a:off x="5449824" y="4745736"/>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Two-column map</a:t>
            </a:r>
            <a:endParaRPr lang="en-US" sz="690" dirty="0"/>
          </a:p>
        </p:txBody>
      </p:sp>
      <p:sp>
        <p:nvSpPr>
          <p:cNvPr id="49" name="Text 47"/>
          <p:cNvSpPr/>
          <p:nvPr/>
        </p:nvSpPr>
        <p:spPr>
          <a:xfrm>
            <a:off x="7872984" y="4745736"/>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Protect credibility</a:t>
            </a:r>
            <a:endParaRPr lang="en-US" sz="690" dirty="0"/>
          </a:p>
        </p:txBody>
      </p:sp>
      <p:sp>
        <p:nvSpPr>
          <p:cNvPr id="50" name="Shape 48"/>
          <p:cNvSpPr/>
          <p:nvPr/>
        </p:nvSpPr>
        <p:spPr>
          <a:xfrm>
            <a:off x="749808" y="5001768"/>
            <a:ext cx="10186416" cy="0"/>
          </a:xfrm>
          <a:prstGeom prst="line">
            <a:avLst/>
          </a:prstGeom>
          <a:noFill/>
          <a:ln w="5080">
            <a:solidFill>
              <a:srgbClr val="E6E9EE"/>
            </a:solidFill>
            <a:prstDash val="solid"/>
          </a:ln>
        </p:spPr>
      </p:sp>
      <p:sp>
        <p:nvSpPr>
          <p:cNvPr id="51" name="Text 49"/>
          <p:cNvSpPr/>
          <p:nvPr/>
        </p:nvSpPr>
        <p:spPr>
          <a:xfrm>
            <a:off x="749808" y="5102352"/>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9</a:t>
            </a:r>
            <a:endParaRPr lang="en-US" sz="690" dirty="0"/>
          </a:p>
        </p:txBody>
      </p:sp>
      <p:sp>
        <p:nvSpPr>
          <p:cNvPr id="52" name="Text 50"/>
          <p:cNvSpPr/>
          <p:nvPr/>
        </p:nvSpPr>
        <p:spPr>
          <a:xfrm>
            <a:off x="1133856" y="5102352"/>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Three approvals in 90 days</a:t>
            </a:r>
            <a:endParaRPr lang="en-US" sz="690" dirty="0"/>
          </a:p>
        </p:txBody>
      </p:sp>
      <p:sp>
        <p:nvSpPr>
          <p:cNvPr id="53" name="Text 51"/>
          <p:cNvSpPr/>
          <p:nvPr/>
        </p:nvSpPr>
        <p:spPr>
          <a:xfrm>
            <a:off x="5449824" y="5102352"/>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Decision table</a:t>
            </a:r>
            <a:endParaRPr lang="en-US" sz="690" dirty="0"/>
          </a:p>
        </p:txBody>
      </p:sp>
      <p:sp>
        <p:nvSpPr>
          <p:cNvPr id="54" name="Text 52"/>
          <p:cNvSpPr/>
          <p:nvPr/>
        </p:nvSpPr>
        <p:spPr>
          <a:xfrm>
            <a:off x="7872984" y="5102352"/>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Board approval</a:t>
            </a:r>
            <a:endParaRPr lang="en-US" sz="690" dirty="0"/>
          </a:p>
        </p:txBody>
      </p:sp>
      <p:sp>
        <p:nvSpPr>
          <p:cNvPr id="55" name="Shape 53"/>
          <p:cNvSpPr/>
          <p:nvPr/>
        </p:nvSpPr>
        <p:spPr>
          <a:xfrm>
            <a:off x="749808" y="5669280"/>
            <a:ext cx="10405872" cy="420624"/>
          </a:xfrm>
          <a:prstGeom prst="roundRect">
            <a:avLst>
              <a:gd name="adj" fmla="val 13043"/>
            </a:avLst>
          </a:prstGeom>
          <a:solidFill>
            <a:srgbClr val="071326"/>
          </a:solidFill>
          <a:ln w="12700">
            <a:solidFill>
              <a:srgbClr val="071326">
                <a:alpha val="0"/>
              </a:srgbClr>
            </a:solidFill>
            <a:prstDash val="solid"/>
          </a:ln>
        </p:spPr>
      </p:sp>
      <p:sp>
        <p:nvSpPr>
          <p:cNvPr id="56" name="Text 54"/>
          <p:cNvSpPr/>
          <p:nvPr/>
        </p:nvSpPr>
        <p:spPr>
          <a:xfrm>
            <a:off x="896112" y="5769864"/>
            <a:ext cx="10113264"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57" name="Text 55"/>
          <p:cNvSpPr/>
          <p:nvPr/>
        </p:nvSpPr>
        <p:spPr>
          <a:xfrm>
            <a:off x="896112" y="5943600"/>
            <a:ext cx="10113264" cy="109728"/>
          </a:xfrm>
          <a:prstGeom prst="rect">
            <a:avLst/>
          </a:prstGeom>
          <a:noFill/>
          <a:ln/>
        </p:spPr>
        <p:txBody>
          <a:bodyPr wrap="square" lIns="0" tIns="0" rIns="0" bIns="0" rtlCol="0" anchor="ctr">
            <a:normAutofit/>
          </a:bodyPr>
          <a:lstStyle/>
          <a:p>
            <a:pPr indent="0" marL="0">
              <a:buNone/>
            </a:pPr>
            <a:r>
              <a:rPr lang="en-US" sz="820" b="1" dirty="0">
                <a:solidFill>
                  <a:srgbClr val="FFFFFF"/>
                </a:solidFill>
                <a:latin typeface="Aptos" pitchFamily="34" charset="0"/>
                <a:ea typeface="Aptos" pitchFamily="34" charset="-122"/>
                <a:cs typeface="Aptos" pitchFamily="34" charset="-120"/>
              </a:rPr>
              <a:t>This is the deck architecture: fewer slides, sharper proof, and no slide without a board action.</a:t>
            </a:r>
            <a:endParaRPr lang="en-US" sz="820" dirty="0"/>
          </a:p>
        </p:txBody>
      </p:sp>
      <p:sp>
        <p:nvSpPr>
          <p:cNvPr id="58" name="Shape 56"/>
          <p:cNvSpPr/>
          <p:nvPr/>
        </p:nvSpPr>
        <p:spPr>
          <a:xfrm>
            <a:off x="530352" y="6419088"/>
            <a:ext cx="11130991" cy="0"/>
          </a:xfrm>
          <a:prstGeom prst="line">
            <a:avLst/>
          </a:prstGeom>
          <a:noFill/>
          <a:ln w="4445">
            <a:solidFill>
              <a:srgbClr val="D6DCE4"/>
            </a:solidFill>
            <a:prstDash val="solid"/>
          </a:ln>
        </p:spPr>
      </p:sp>
      <p:sp>
        <p:nvSpPr>
          <p:cNvPr id="59" name="Text 57"/>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60" name="Text 58"/>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11</a:t>
            </a:r>
            <a:endParaRPr lang="en-US" sz="6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424160" cy="493776"/>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CEO scripts: 90 seconds, 3 minutes, 15 minutes</a:t>
            </a:r>
            <a:endParaRPr lang="en-US" sz="26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The same message at three levels of depth.</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865376"/>
            <a:ext cx="3310128" cy="2926080"/>
          </a:xfrm>
          <a:prstGeom prst="roundRect">
            <a:avLst>
              <a:gd name="adj" fmla="val 1875"/>
            </a:avLst>
          </a:prstGeom>
          <a:solidFill>
            <a:srgbClr val="FFFFFF"/>
          </a:solidFill>
          <a:ln w="6350">
            <a:solidFill>
              <a:srgbClr val="D6DCE4"/>
            </a:solidFill>
            <a:prstDash val="solid"/>
          </a:ln>
        </p:spPr>
      </p:sp>
      <p:sp>
        <p:nvSpPr>
          <p:cNvPr id="7" name="Text 5"/>
          <p:cNvSpPr/>
          <p:nvPr/>
        </p:nvSpPr>
        <p:spPr>
          <a:xfrm>
            <a:off x="914400" y="2011680"/>
            <a:ext cx="2980944"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90-second opening</a:t>
            </a:r>
            <a:endParaRPr lang="en-US" sz="1200" dirty="0"/>
          </a:p>
        </p:txBody>
      </p:sp>
      <p:sp>
        <p:nvSpPr>
          <p:cNvPr id="8" name="Text 6"/>
          <p:cNvSpPr/>
          <p:nvPr/>
        </p:nvSpPr>
        <p:spPr>
          <a:xfrm>
            <a:off x="914400" y="2295144"/>
            <a:ext cx="2980944" cy="2395728"/>
          </a:xfrm>
          <a:prstGeom prst="rect">
            <a:avLst/>
          </a:prstGeom>
          <a:noFill/>
          <a:ln/>
        </p:spPr>
        <p:txBody>
          <a:bodyPr wrap="square" lIns="0" tIns="0" rIns="0" bIns="0" rtlCol="0" anchor="t">
            <a:normAutofit/>
          </a:bodyPr>
          <a:lstStyle/>
          <a:p>
            <a:pPr indent="0" marL="0">
              <a:buNone/>
            </a:pPr>
            <a:r>
              <a:rPr lang="en-US" sz="790" dirty="0">
                <a:solidFill>
                  <a:srgbClr val="475467"/>
                </a:solidFill>
                <a:latin typeface="Aptos" pitchFamily="34" charset="0"/>
                <a:ea typeface="Aptos" pitchFamily="34" charset="-122"/>
                <a:cs typeface="Aptos" pitchFamily="34" charset="-120"/>
              </a:rPr>
              <a:t>April was operationally clean, but the value question is financial and strategic. We can make and ship; now we must convert volume into durable margin, cash, and a diversified customer base. Tonight I am asking for three approvals: margin recovery, working-capital discipline, and customer diversification.</a:t>
            </a:r>
            <a:endParaRPr lang="en-US" sz="790" dirty="0"/>
          </a:p>
        </p:txBody>
      </p:sp>
      <p:sp>
        <p:nvSpPr>
          <p:cNvPr id="9" name="Shape 7"/>
          <p:cNvSpPr/>
          <p:nvPr/>
        </p:nvSpPr>
        <p:spPr>
          <a:xfrm>
            <a:off x="4434840" y="1865376"/>
            <a:ext cx="3310128" cy="2926080"/>
          </a:xfrm>
          <a:prstGeom prst="roundRect">
            <a:avLst>
              <a:gd name="adj" fmla="val 1875"/>
            </a:avLst>
          </a:prstGeom>
          <a:solidFill>
            <a:srgbClr val="FFFFFF"/>
          </a:solidFill>
          <a:ln w="6350">
            <a:solidFill>
              <a:srgbClr val="D6DCE4"/>
            </a:solidFill>
            <a:prstDash val="solid"/>
          </a:ln>
        </p:spPr>
      </p:sp>
      <p:sp>
        <p:nvSpPr>
          <p:cNvPr id="10" name="Text 8"/>
          <p:cNvSpPr/>
          <p:nvPr/>
        </p:nvSpPr>
        <p:spPr>
          <a:xfrm>
            <a:off x="4599432" y="2011680"/>
            <a:ext cx="2980944"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3-minute version</a:t>
            </a:r>
            <a:endParaRPr lang="en-US" sz="1200" dirty="0"/>
          </a:p>
        </p:txBody>
      </p:sp>
      <p:sp>
        <p:nvSpPr>
          <p:cNvPr id="11" name="Text 9"/>
          <p:cNvSpPr/>
          <p:nvPr/>
        </p:nvSpPr>
        <p:spPr>
          <a:xfrm>
            <a:off x="4599432" y="2295144"/>
            <a:ext cx="2980944" cy="2395728"/>
          </a:xfrm>
          <a:prstGeom prst="rect">
            <a:avLst/>
          </a:prstGeom>
          <a:noFill/>
          <a:ln/>
        </p:spPr>
        <p:txBody>
          <a:bodyPr wrap="square" lIns="0" tIns="0" rIns="0" bIns="0" rtlCol="0" anchor="t">
            <a:normAutofit/>
          </a:bodyPr>
          <a:lstStyle/>
          <a:p>
            <a:pPr indent="0" marL="0">
              <a:buNone/>
            </a:pPr>
            <a:r>
              <a:rPr lang="en-US" sz="790" dirty="0">
                <a:solidFill>
                  <a:srgbClr val="475467"/>
                </a:solidFill>
                <a:latin typeface="Aptos" pitchFamily="34" charset="0"/>
                <a:ea typeface="Aptos" pitchFamily="34" charset="-122"/>
                <a:cs typeface="Aptos" pitchFamily="34" charset="-120"/>
              </a:rPr>
              <a:t>Start with the decisions. Then prove the signal: TTM revenue $9.47M, GM 18.2%, NWC −$202K, top-5 79%. Explain that operations are stable, but the book is narrower and cheaper. Close by requesting the three approvals and owners.</a:t>
            </a:r>
            <a:endParaRPr lang="en-US" sz="790" dirty="0"/>
          </a:p>
        </p:txBody>
      </p:sp>
      <p:sp>
        <p:nvSpPr>
          <p:cNvPr id="12" name="Shape 10"/>
          <p:cNvSpPr/>
          <p:nvPr/>
        </p:nvSpPr>
        <p:spPr>
          <a:xfrm>
            <a:off x="8119872" y="1865376"/>
            <a:ext cx="3054096" cy="2926080"/>
          </a:xfrm>
          <a:prstGeom prst="roundRect">
            <a:avLst>
              <a:gd name="adj" fmla="val 1875"/>
            </a:avLst>
          </a:prstGeom>
          <a:solidFill>
            <a:srgbClr val="FFFFFF"/>
          </a:solidFill>
          <a:ln w="6350">
            <a:solidFill>
              <a:srgbClr val="D6DCE4"/>
            </a:solidFill>
            <a:prstDash val="solid"/>
          </a:ln>
        </p:spPr>
      </p:sp>
      <p:sp>
        <p:nvSpPr>
          <p:cNvPr id="13" name="Text 11"/>
          <p:cNvSpPr/>
          <p:nvPr/>
        </p:nvSpPr>
        <p:spPr>
          <a:xfrm>
            <a:off x="8284464" y="2011680"/>
            <a:ext cx="2724912"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15-minute arc</a:t>
            </a:r>
            <a:endParaRPr lang="en-US" sz="1200" dirty="0"/>
          </a:p>
        </p:txBody>
      </p:sp>
      <p:sp>
        <p:nvSpPr>
          <p:cNvPr id="14" name="Text 12"/>
          <p:cNvSpPr/>
          <p:nvPr/>
        </p:nvSpPr>
        <p:spPr>
          <a:xfrm>
            <a:off x="8284464" y="2295144"/>
            <a:ext cx="2724912" cy="2395728"/>
          </a:xfrm>
          <a:prstGeom prst="rect">
            <a:avLst/>
          </a:prstGeom>
          <a:noFill/>
          <a:ln/>
        </p:spPr>
        <p:txBody>
          <a:bodyPr wrap="square" lIns="0" tIns="0" rIns="0" bIns="0" rtlCol="0" anchor="t">
            <a:normAutofit/>
          </a:bodyPr>
          <a:lstStyle/>
          <a:p>
            <a:pPr indent="0" marL="0">
              <a:buNone/>
            </a:pPr>
            <a:r>
              <a:rPr lang="en-US" sz="790" dirty="0">
                <a:solidFill>
                  <a:srgbClr val="475467"/>
                </a:solidFill>
                <a:latin typeface="Aptos" pitchFamily="34" charset="0"/>
                <a:ea typeface="Aptos" pitchFamily="34" charset="-122"/>
                <a:cs typeface="Aptos" pitchFamily="34" charset="-120"/>
              </a:rPr>
              <a:t>1 minute on the decision. 3 on the enterprise signal. 3 on margin. 3 on working capital. 2 on concentration/classification. 1 on operations. 1 on data integrity. 1 to ask for approval.</a:t>
            </a:r>
            <a:endParaRPr lang="en-US" sz="790" dirty="0"/>
          </a:p>
        </p:txBody>
      </p:sp>
      <p:sp>
        <p:nvSpPr>
          <p:cNvPr id="15" name="Shape 13"/>
          <p:cNvSpPr/>
          <p:nvPr/>
        </p:nvSpPr>
        <p:spPr>
          <a:xfrm>
            <a:off x="749808" y="5340096"/>
            <a:ext cx="10424160" cy="566928"/>
          </a:xfrm>
          <a:prstGeom prst="roundRect">
            <a:avLst>
              <a:gd name="adj" fmla="val 9677"/>
            </a:avLst>
          </a:prstGeom>
          <a:solidFill>
            <a:srgbClr val="FFFFFF"/>
          </a:solidFill>
          <a:ln w="6350">
            <a:solidFill>
              <a:srgbClr val="D6DCE4"/>
            </a:solidFill>
            <a:prstDash val="solid"/>
          </a:ln>
        </p:spPr>
      </p:sp>
      <p:sp>
        <p:nvSpPr>
          <p:cNvPr id="16" name="Text 14"/>
          <p:cNvSpPr/>
          <p:nvPr/>
        </p:nvSpPr>
        <p:spPr>
          <a:xfrm>
            <a:off x="868680" y="5431536"/>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17" name="Text 15"/>
          <p:cNvSpPr/>
          <p:nvPr/>
        </p:nvSpPr>
        <p:spPr>
          <a:xfrm>
            <a:off x="2167128" y="5440680"/>
            <a:ext cx="8823960" cy="402336"/>
          </a:xfrm>
          <a:prstGeom prst="rect">
            <a:avLst/>
          </a:prstGeom>
          <a:noFill/>
          <a:ln/>
        </p:spPr>
        <p:txBody>
          <a:bodyPr wrap="square" lIns="0" tIns="0" rIns="0" bIns="0" rtlCol="0" anchor="ctr">
            <a:normAutofit/>
          </a:bodyPr>
          <a:lstStyle/>
          <a:p>
            <a:pPr indent="0" marL="0">
              <a:buNone/>
            </a:pPr>
            <a:r>
              <a:rPr lang="en-US" sz="900" dirty="0">
                <a:solidFill>
                  <a:srgbClr val="111827"/>
                </a:solidFill>
                <a:latin typeface="Aptos" pitchFamily="34" charset="0"/>
                <a:ea typeface="Aptos" pitchFamily="34" charset="-122"/>
                <a:cs typeface="Aptos" pitchFamily="34" charset="-120"/>
              </a:rPr>
              <a:t>Do not over-explain. Let the board feel the discipline: “Here is what is true, here is what matters, here is what we recommend.”</a:t>
            </a:r>
            <a:endParaRPr lang="en-US" sz="900" dirty="0"/>
          </a:p>
        </p:txBody>
      </p:sp>
      <p:sp>
        <p:nvSpPr>
          <p:cNvPr id="18" name="Shape 16"/>
          <p:cNvSpPr/>
          <p:nvPr/>
        </p:nvSpPr>
        <p:spPr>
          <a:xfrm>
            <a:off x="530352" y="6419088"/>
            <a:ext cx="11130991" cy="0"/>
          </a:xfrm>
          <a:prstGeom prst="line">
            <a:avLst/>
          </a:prstGeom>
          <a:noFill/>
          <a:ln w="4445">
            <a:solidFill>
              <a:srgbClr val="D6DCE4"/>
            </a:solidFill>
            <a:prstDash val="solid"/>
          </a:ln>
        </p:spPr>
      </p:sp>
      <p:sp>
        <p:nvSpPr>
          <p:cNvPr id="19" name="Text 17"/>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20" name="Text 18"/>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12</a:t>
            </a:r>
            <a:endParaRPr lang="en-US" sz="6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332720" cy="493776"/>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Likely board questions — and the answers that hold up</a:t>
            </a:r>
            <a:endParaRPr lang="en-US" sz="26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Answer with facts, ownership, and next action. No defensiveness.</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792224"/>
            <a:ext cx="10442448" cy="694944"/>
          </a:xfrm>
          <a:prstGeom prst="roundRect">
            <a:avLst>
              <a:gd name="adj" fmla="val 5263"/>
            </a:avLst>
          </a:prstGeom>
          <a:solidFill>
            <a:srgbClr val="FFFFFF"/>
          </a:solidFill>
          <a:ln w="5080">
            <a:solidFill>
              <a:srgbClr val="D6DCE4"/>
            </a:solidFill>
            <a:prstDash val="solid"/>
          </a:ln>
        </p:spPr>
      </p:sp>
      <p:sp>
        <p:nvSpPr>
          <p:cNvPr id="7" name="Text 5"/>
          <p:cNvSpPr/>
          <p:nvPr/>
        </p:nvSpPr>
        <p:spPr>
          <a:xfrm>
            <a:off x="960120" y="1911096"/>
            <a:ext cx="3154680" cy="219456"/>
          </a:xfrm>
          <a:prstGeom prst="rect">
            <a:avLst/>
          </a:prstGeom>
          <a:noFill/>
          <a:ln/>
        </p:spPr>
        <p:txBody>
          <a:bodyPr wrap="square" lIns="0" tIns="0" rIns="0" bIns="0" rtlCol="0" anchor="ctr">
            <a:normAutofit/>
          </a:bodyPr>
          <a:lstStyle/>
          <a:p>
            <a:pPr indent="0" marL="0">
              <a:buNone/>
            </a:pPr>
            <a:r>
              <a:rPr lang="en-US" sz="890" b="1" dirty="0">
                <a:solidFill>
                  <a:srgbClr val="111827"/>
                </a:solidFill>
                <a:latin typeface="Aptos Display" pitchFamily="34" charset="0"/>
                <a:ea typeface="Aptos Display" pitchFamily="34" charset="-122"/>
                <a:cs typeface="Aptos Display" pitchFamily="34" charset="-120"/>
              </a:rPr>
              <a:t>Is the April volume drop a demand problem?</a:t>
            </a:r>
            <a:endParaRPr lang="en-US" sz="890" dirty="0"/>
          </a:p>
        </p:txBody>
      </p:sp>
      <p:sp>
        <p:nvSpPr>
          <p:cNvPr id="8" name="Text 6"/>
          <p:cNvSpPr/>
          <p:nvPr/>
        </p:nvSpPr>
        <p:spPr>
          <a:xfrm>
            <a:off x="4343400" y="1911096"/>
            <a:ext cx="6382512" cy="365760"/>
          </a:xfrm>
          <a:prstGeom prst="rect">
            <a:avLst/>
          </a:prstGeom>
          <a:noFill/>
          <a:ln/>
        </p:spPr>
        <p:txBody>
          <a:bodyPr wrap="square" lIns="0" tIns="0" rIns="0" bIns="0" rtlCol="0" anchor="ctr">
            <a:normAutofit/>
          </a:bodyPr>
          <a:lstStyle/>
          <a:p>
            <a:pPr indent="0" marL="0">
              <a:buNone/>
            </a:pPr>
            <a:r>
              <a:rPr lang="en-US" sz="760" dirty="0">
                <a:solidFill>
                  <a:srgbClr val="475467"/>
                </a:solidFill>
                <a:latin typeface="Aptos" pitchFamily="34" charset="0"/>
                <a:ea typeface="Aptos" pitchFamily="34" charset="-122"/>
                <a:cs typeface="Aptos" pitchFamily="34" charset="-120"/>
              </a:rPr>
              <a:t>Not the evidence we have. March was a record pull-forward; April normalized while production exceeded billing. The next proof point is inventory value and days of cover.</a:t>
            </a:r>
            <a:endParaRPr lang="en-US" sz="760" dirty="0"/>
          </a:p>
        </p:txBody>
      </p:sp>
      <p:sp>
        <p:nvSpPr>
          <p:cNvPr id="9" name="Shape 7"/>
          <p:cNvSpPr/>
          <p:nvPr/>
        </p:nvSpPr>
        <p:spPr>
          <a:xfrm>
            <a:off x="749808" y="2596896"/>
            <a:ext cx="10442448" cy="694944"/>
          </a:xfrm>
          <a:prstGeom prst="roundRect">
            <a:avLst>
              <a:gd name="adj" fmla="val 5263"/>
            </a:avLst>
          </a:prstGeom>
          <a:solidFill>
            <a:srgbClr val="FDFDFB"/>
          </a:solidFill>
          <a:ln w="5080">
            <a:solidFill>
              <a:srgbClr val="D6DCE4"/>
            </a:solidFill>
            <a:prstDash val="solid"/>
          </a:ln>
        </p:spPr>
      </p:sp>
      <p:sp>
        <p:nvSpPr>
          <p:cNvPr id="10" name="Text 8"/>
          <p:cNvSpPr/>
          <p:nvPr/>
        </p:nvSpPr>
        <p:spPr>
          <a:xfrm>
            <a:off x="960120" y="2715768"/>
            <a:ext cx="3154680" cy="219456"/>
          </a:xfrm>
          <a:prstGeom prst="rect">
            <a:avLst/>
          </a:prstGeom>
          <a:noFill/>
          <a:ln/>
        </p:spPr>
        <p:txBody>
          <a:bodyPr wrap="square" lIns="0" tIns="0" rIns="0" bIns="0" rtlCol="0" anchor="ctr">
            <a:normAutofit/>
          </a:bodyPr>
          <a:lstStyle/>
          <a:p>
            <a:pPr indent="0" marL="0">
              <a:buNone/>
            </a:pPr>
            <a:r>
              <a:rPr lang="en-US" sz="890" b="1" dirty="0">
                <a:solidFill>
                  <a:srgbClr val="111827"/>
                </a:solidFill>
                <a:latin typeface="Aptos Display" pitchFamily="34" charset="0"/>
                <a:ea typeface="Aptos Display" pitchFamily="34" charset="-122"/>
                <a:cs typeface="Aptos Display" pitchFamily="34" charset="-120"/>
              </a:rPr>
              <a:t>Why is gross margin still below 25%?</a:t>
            </a:r>
            <a:endParaRPr lang="en-US" sz="890" dirty="0"/>
          </a:p>
        </p:txBody>
      </p:sp>
      <p:sp>
        <p:nvSpPr>
          <p:cNvPr id="11" name="Text 9"/>
          <p:cNvSpPr/>
          <p:nvPr/>
        </p:nvSpPr>
        <p:spPr>
          <a:xfrm>
            <a:off x="4343400" y="2715768"/>
            <a:ext cx="6382512" cy="365760"/>
          </a:xfrm>
          <a:prstGeom prst="rect">
            <a:avLst/>
          </a:prstGeom>
          <a:noFill/>
          <a:ln/>
        </p:spPr>
        <p:txBody>
          <a:bodyPr wrap="square" lIns="0" tIns="0" rIns="0" bIns="0" rtlCol="0" anchor="ctr">
            <a:normAutofit/>
          </a:bodyPr>
          <a:lstStyle/>
          <a:p>
            <a:pPr indent="0" marL="0">
              <a:buNone/>
            </a:pPr>
            <a:r>
              <a:rPr lang="en-US" sz="760" dirty="0">
                <a:solidFill>
                  <a:srgbClr val="475467"/>
                </a:solidFill>
                <a:latin typeface="Aptos" pitchFamily="34" charset="0"/>
                <a:ea typeface="Aptos" pitchFamily="34" charset="-122"/>
                <a:cs typeface="Aptos" pitchFamily="34" charset="-120"/>
              </a:rPr>
              <a:t>Likely price/mix plus intercompany treatment until the SKU/customer bridge proves otherwise. We need the price-mix program approved tonight.</a:t>
            </a:r>
            <a:endParaRPr lang="en-US" sz="760" dirty="0"/>
          </a:p>
        </p:txBody>
      </p:sp>
      <p:sp>
        <p:nvSpPr>
          <p:cNvPr id="12" name="Shape 10"/>
          <p:cNvSpPr/>
          <p:nvPr/>
        </p:nvSpPr>
        <p:spPr>
          <a:xfrm>
            <a:off x="749808" y="3401568"/>
            <a:ext cx="10442448" cy="694944"/>
          </a:xfrm>
          <a:prstGeom prst="roundRect">
            <a:avLst>
              <a:gd name="adj" fmla="val 5263"/>
            </a:avLst>
          </a:prstGeom>
          <a:solidFill>
            <a:srgbClr val="FFFFFF"/>
          </a:solidFill>
          <a:ln w="5080">
            <a:solidFill>
              <a:srgbClr val="D6DCE4"/>
            </a:solidFill>
            <a:prstDash val="solid"/>
          </a:ln>
        </p:spPr>
      </p:sp>
      <p:sp>
        <p:nvSpPr>
          <p:cNvPr id="13" name="Text 11"/>
          <p:cNvSpPr/>
          <p:nvPr/>
        </p:nvSpPr>
        <p:spPr>
          <a:xfrm>
            <a:off x="960120" y="3520440"/>
            <a:ext cx="3154680" cy="219456"/>
          </a:xfrm>
          <a:prstGeom prst="rect">
            <a:avLst/>
          </a:prstGeom>
          <a:noFill/>
          <a:ln/>
        </p:spPr>
        <p:txBody>
          <a:bodyPr wrap="square" lIns="0" tIns="0" rIns="0" bIns="0" rtlCol="0" anchor="ctr">
            <a:normAutofit/>
          </a:bodyPr>
          <a:lstStyle/>
          <a:p>
            <a:pPr indent="0" marL="0">
              <a:buNone/>
            </a:pPr>
            <a:r>
              <a:rPr lang="en-US" sz="890" b="1" dirty="0">
                <a:solidFill>
                  <a:srgbClr val="111827"/>
                </a:solidFill>
                <a:latin typeface="Aptos Display" pitchFamily="34" charset="0"/>
                <a:ea typeface="Aptos Display" pitchFamily="34" charset="-122"/>
                <a:cs typeface="Aptos Display" pitchFamily="34" charset="-120"/>
              </a:rPr>
              <a:t>How serious is vendor-credit dependence?</a:t>
            </a:r>
            <a:endParaRPr lang="en-US" sz="890" dirty="0"/>
          </a:p>
        </p:txBody>
      </p:sp>
      <p:sp>
        <p:nvSpPr>
          <p:cNvPr id="14" name="Text 12"/>
          <p:cNvSpPr/>
          <p:nvPr/>
        </p:nvSpPr>
        <p:spPr>
          <a:xfrm>
            <a:off x="4343400" y="3520440"/>
            <a:ext cx="6382512" cy="365760"/>
          </a:xfrm>
          <a:prstGeom prst="rect">
            <a:avLst/>
          </a:prstGeom>
          <a:noFill/>
          <a:ln/>
        </p:spPr>
        <p:txBody>
          <a:bodyPr wrap="square" lIns="0" tIns="0" rIns="0" bIns="0" rtlCol="0" anchor="ctr">
            <a:normAutofit/>
          </a:bodyPr>
          <a:lstStyle/>
          <a:p>
            <a:pPr indent="0" marL="0">
              <a:buNone/>
            </a:pPr>
            <a:r>
              <a:rPr lang="en-US" sz="760" dirty="0">
                <a:solidFill>
                  <a:srgbClr val="475467"/>
                </a:solidFill>
                <a:latin typeface="Aptos" pitchFamily="34" charset="0"/>
                <a:ea typeface="Aptos" pitchFamily="34" charset="-122"/>
                <a:cs typeface="Aptos" pitchFamily="34" charset="-120"/>
              </a:rPr>
              <a:t>Material but manageable. AP is 1.3× AR. We recommend a 30/60/90 plan with weekly reporting until NWC is ≥$0.</a:t>
            </a:r>
            <a:endParaRPr lang="en-US" sz="760" dirty="0"/>
          </a:p>
        </p:txBody>
      </p:sp>
      <p:sp>
        <p:nvSpPr>
          <p:cNvPr id="15" name="Shape 13"/>
          <p:cNvSpPr/>
          <p:nvPr/>
        </p:nvSpPr>
        <p:spPr>
          <a:xfrm>
            <a:off x="749808" y="4206240"/>
            <a:ext cx="10442448" cy="694944"/>
          </a:xfrm>
          <a:prstGeom prst="roundRect">
            <a:avLst>
              <a:gd name="adj" fmla="val 5263"/>
            </a:avLst>
          </a:prstGeom>
          <a:solidFill>
            <a:srgbClr val="FDFDFB"/>
          </a:solidFill>
          <a:ln w="5080">
            <a:solidFill>
              <a:srgbClr val="D6DCE4"/>
            </a:solidFill>
            <a:prstDash val="solid"/>
          </a:ln>
        </p:spPr>
      </p:sp>
      <p:sp>
        <p:nvSpPr>
          <p:cNvPr id="16" name="Text 14"/>
          <p:cNvSpPr/>
          <p:nvPr/>
        </p:nvSpPr>
        <p:spPr>
          <a:xfrm>
            <a:off x="960120" y="4325112"/>
            <a:ext cx="3154680" cy="219456"/>
          </a:xfrm>
          <a:prstGeom prst="rect">
            <a:avLst/>
          </a:prstGeom>
          <a:noFill/>
          <a:ln/>
        </p:spPr>
        <p:txBody>
          <a:bodyPr wrap="square" lIns="0" tIns="0" rIns="0" bIns="0" rtlCol="0" anchor="ctr">
            <a:normAutofit/>
          </a:bodyPr>
          <a:lstStyle/>
          <a:p>
            <a:pPr indent="0" marL="0">
              <a:buNone/>
            </a:pPr>
            <a:r>
              <a:rPr lang="en-US" sz="890" b="1" dirty="0">
                <a:solidFill>
                  <a:srgbClr val="111827"/>
                </a:solidFill>
                <a:latin typeface="Aptos Display" pitchFamily="34" charset="0"/>
                <a:ea typeface="Aptos Display" pitchFamily="34" charset="-122"/>
                <a:cs typeface="Aptos Display" pitchFamily="34" charset="-120"/>
              </a:rPr>
              <a:t>Is concentration temporary or structural?</a:t>
            </a:r>
            <a:endParaRPr lang="en-US" sz="890" dirty="0"/>
          </a:p>
        </p:txBody>
      </p:sp>
      <p:sp>
        <p:nvSpPr>
          <p:cNvPr id="17" name="Text 15"/>
          <p:cNvSpPr/>
          <p:nvPr/>
        </p:nvSpPr>
        <p:spPr>
          <a:xfrm>
            <a:off x="4343400" y="4325112"/>
            <a:ext cx="6382512" cy="365760"/>
          </a:xfrm>
          <a:prstGeom prst="rect">
            <a:avLst/>
          </a:prstGeom>
          <a:noFill/>
          <a:ln/>
        </p:spPr>
        <p:txBody>
          <a:bodyPr wrap="square" lIns="0" tIns="0" rIns="0" bIns="0" rtlCol="0" anchor="ctr">
            <a:normAutofit/>
          </a:bodyPr>
          <a:lstStyle/>
          <a:p>
            <a:pPr indent="0" marL="0">
              <a:buNone/>
            </a:pPr>
            <a:r>
              <a:rPr lang="en-US" sz="760" dirty="0">
                <a:solidFill>
                  <a:srgbClr val="475467"/>
                </a:solidFill>
                <a:latin typeface="Aptos" pitchFamily="34" charset="0"/>
                <a:ea typeface="Aptos" pitchFamily="34" charset="-122"/>
                <a:cs typeface="Aptos" pitchFamily="34" charset="-120"/>
              </a:rPr>
              <a:t>Treat it as structural until proven otherwise. Top-5 is ~79%; set a ceiling of 60% and track external-account growth.</a:t>
            </a:r>
            <a:endParaRPr lang="en-US" sz="760" dirty="0"/>
          </a:p>
        </p:txBody>
      </p:sp>
      <p:sp>
        <p:nvSpPr>
          <p:cNvPr id="18" name="Shape 16"/>
          <p:cNvSpPr/>
          <p:nvPr/>
        </p:nvSpPr>
        <p:spPr>
          <a:xfrm>
            <a:off x="749808" y="5010912"/>
            <a:ext cx="10442448" cy="694944"/>
          </a:xfrm>
          <a:prstGeom prst="roundRect">
            <a:avLst>
              <a:gd name="adj" fmla="val 5263"/>
            </a:avLst>
          </a:prstGeom>
          <a:solidFill>
            <a:srgbClr val="FFFFFF"/>
          </a:solidFill>
          <a:ln w="5080">
            <a:solidFill>
              <a:srgbClr val="D6DCE4"/>
            </a:solidFill>
            <a:prstDash val="solid"/>
          </a:ln>
        </p:spPr>
      </p:sp>
      <p:sp>
        <p:nvSpPr>
          <p:cNvPr id="19" name="Text 17"/>
          <p:cNvSpPr/>
          <p:nvPr/>
        </p:nvSpPr>
        <p:spPr>
          <a:xfrm>
            <a:off x="960120" y="5129784"/>
            <a:ext cx="3154680" cy="219456"/>
          </a:xfrm>
          <a:prstGeom prst="rect">
            <a:avLst/>
          </a:prstGeom>
          <a:noFill/>
          <a:ln/>
        </p:spPr>
        <p:txBody>
          <a:bodyPr wrap="square" lIns="0" tIns="0" rIns="0" bIns="0" rtlCol="0" anchor="ctr">
            <a:normAutofit/>
          </a:bodyPr>
          <a:lstStyle/>
          <a:p>
            <a:pPr indent="0" marL="0">
              <a:buNone/>
            </a:pPr>
            <a:r>
              <a:rPr lang="en-US" sz="890" b="1" dirty="0">
                <a:solidFill>
                  <a:srgbClr val="111827"/>
                </a:solidFill>
                <a:latin typeface="Aptos Display" pitchFamily="34" charset="0"/>
                <a:ea typeface="Aptos Display" pitchFamily="34" charset="-122"/>
                <a:cs typeface="Aptos Display" pitchFamily="34" charset="-120"/>
              </a:rPr>
              <a:t>Can we trust the customer revenue data?</a:t>
            </a:r>
            <a:endParaRPr lang="en-US" sz="890" dirty="0"/>
          </a:p>
        </p:txBody>
      </p:sp>
      <p:sp>
        <p:nvSpPr>
          <p:cNvPr id="20" name="Text 18"/>
          <p:cNvSpPr/>
          <p:nvPr/>
        </p:nvSpPr>
        <p:spPr>
          <a:xfrm>
            <a:off x="4343400" y="5129784"/>
            <a:ext cx="6382512" cy="365760"/>
          </a:xfrm>
          <a:prstGeom prst="rect">
            <a:avLst/>
          </a:prstGeom>
          <a:noFill/>
          <a:ln/>
        </p:spPr>
        <p:txBody>
          <a:bodyPr wrap="square" lIns="0" tIns="0" rIns="0" bIns="0" rtlCol="0" anchor="ctr">
            <a:normAutofit/>
          </a:bodyPr>
          <a:lstStyle/>
          <a:p>
            <a:pPr indent="0" marL="0">
              <a:buNone/>
            </a:pPr>
            <a:r>
              <a:rPr lang="en-US" sz="760" dirty="0">
                <a:solidFill>
                  <a:srgbClr val="475467"/>
                </a:solidFill>
                <a:latin typeface="Aptos" pitchFamily="34" charset="0"/>
                <a:ea typeface="Aptos" pitchFamily="34" charset="-122"/>
                <a:cs typeface="Aptos" pitchFamily="34" charset="-120"/>
              </a:rPr>
              <a:t>Not yet for per-customer dollars. The QuickBooks P&amp;L is authoritative; customer-file revenue needs GL reconciliation before use.</a:t>
            </a:r>
            <a:endParaRPr lang="en-US" sz="760" dirty="0"/>
          </a:p>
        </p:txBody>
      </p:sp>
      <p:sp>
        <p:nvSpPr>
          <p:cNvPr id="21" name="Shape 19"/>
          <p:cNvSpPr/>
          <p:nvPr/>
        </p:nvSpPr>
        <p:spPr>
          <a:xfrm>
            <a:off x="530352" y="6419088"/>
            <a:ext cx="11130991" cy="0"/>
          </a:xfrm>
          <a:prstGeom prst="line">
            <a:avLst/>
          </a:prstGeom>
          <a:noFill/>
          <a:ln w="4445">
            <a:solidFill>
              <a:srgbClr val="D6DCE4"/>
            </a:solidFill>
            <a:prstDash val="solid"/>
          </a:ln>
        </p:spPr>
      </p:sp>
      <p:sp>
        <p:nvSpPr>
          <p:cNvPr id="22" name="Text 20"/>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23" name="Text 21"/>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13</a:t>
            </a:r>
            <a:endParaRPr lang="en-US" sz="6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424160" cy="493776"/>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One-page board memo</a:t>
            </a:r>
            <a:endParaRPr lang="en-US" sz="26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Use this as the cover note or CEO speaking brief.</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810512"/>
            <a:ext cx="5047488" cy="1152144"/>
          </a:xfrm>
          <a:prstGeom prst="roundRect">
            <a:avLst>
              <a:gd name="adj" fmla="val 4762"/>
            </a:avLst>
          </a:prstGeom>
          <a:solidFill>
            <a:srgbClr val="FFFFFF"/>
          </a:solidFill>
          <a:ln w="6350">
            <a:solidFill>
              <a:srgbClr val="D6DCE4"/>
            </a:solidFill>
            <a:prstDash val="solid"/>
          </a:ln>
        </p:spPr>
      </p:sp>
      <p:sp>
        <p:nvSpPr>
          <p:cNvPr id="7" name="Text 5"/>
          <p:cNvSpPr/>
          <p:nvPr/>
        </p:nvSpPr>
        <p:spPr>
          <a:xfrm>
            <a:off x="914400" y="1956816"/>
            <a:ext cx="4718304"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Situation</a:t>
            </a:r>
            <a:endParaRPr lang="en-US" sz="1200" dirty="0"/>
          </a:p>
        </p:txBody>
      </p:sp>
      <p:sp>
        <p:nvSpPr>
          <p:cNvPr id="8" name="Text 6"/>
          <p:cNvSpPr/>
          <p:nvPr/>
        </p:nvSpPr>
        <p:spPr>
          <a:xfrm>
            <a:off x="914400" y="2240280"/>
            <a:ext cx="4718304" cy="621792"/>
          </a:xfrm>
          <a:prstGeom prst="rect">
            <a:avLst/>
          </a:prstGeom>
          <a:noFill/>
          <a:ln/>
        </p:spPr>
        <p:txBody>
          <a:bodyPr wrap="square" lIns="0" tIns="0" rIns="0" bIns="0" rtlCol="0" anchor="t">
            <a:normAutofit/>
          </a:bodyPr>
          <a:lstStyle/>
          <a:p>
            <a:pPr indent="0" marL="0">
              <a:buNone/>
            </a:pPr>
            <a:r>
              <a:rPr lang="en-US" sz="800" dirty="0">
                <a:solidFill>
                  <a:srgbClr val="475467"/>
                </a:solidFill>
                <a:latin typeface="Aptos" pitchFamily="34" charset="0"/>
                <a:ea typeface="Aptos" pitchFamily="34" charset="-122"/>
                <a:cs typeface="Aptos" pitchFamily="34" charset="-120"/>
              </a:rPr>
              <a:t>April was an operationally clean month on a financially thin base. U1Dynamics can make and ship; the enterprise-value question is whether volume converts into durable margin, cash, and a resilient customer base.</a:t>
            </a:r>
            <a:endParaRPr lang="en-US" sz="800" dirty="0"/>
          </a:p>
        </p:txBody>
      </p:sp>
      <p:sp>
        <p:nvSpPr>
          <p:cNvPr id="9" name="Shape 7"/>
          <p:cNvSpPr/>
          <p:nvPr/>
        </p:nvSpPr>
        <p:spPr>
          <a:xfrm>
            <a:off x="6217920" y="1810512"/>
            <a:ext cx="4974336" cy="1152144"/>
          </a:xfrm>
          <a:prstGeom prst="roundRect">
            <a:avLst>
              <a:gd name="adj" fmla="val 4762"/>
            </a:avLst>
          </a:prstGeom>
          <a:solidFill>
            <a:srgbClr val="FFFFFF"/>
          </a:solidFill>
          <a:ln w="6350">
            <a:solidFill>
              <a:srgbClr val="D6DCE4"/>
            </a:solidFill>
            <a:prstDash val="solid"/>
          </a:ln>
        </p:spPr>
      </p:sp>
      <p:sp>
        <p:nvSpPr>
          <p:cNvPr id="10" name="Text 8"/>
          <p:cNvSpPr/>
          <p:nvPr/>
        </p:nvSpPr>
        <p:spPr>
          <a:xfrm>
            <a:off x="6382512" y="1956816"/>
            <a:ext cx="4645152"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Signal</a:t>
            </a:r>
            <a:endParaRPr lang="en-US" sz="1200" dirty="0"/>
          </a:p>
        </p:txBody>
      </p:sp>
      <p:sp>
        <p:nvSpPr>
          <p:cNvPr id="11" name="Text 9"/>
          <p:cNvSpPr/>
          <p:nvPr/>
        </p:nvSpPr>
        <p:spPr>
          <a:xfrm>
            <a:off x="6382512" y="2240280"/>
            <a:ext cx="4645152" cy="621792"/>
          </a:xfrm>
          <a:prstGeom prst="rect">
            <a:avLst/>
          </a:prstGeom>
          <a:noFill/>
          <a:ln/>
        </p:spPr>
        <p:txBody>
          <a:bodyPr wrap="square" lIns="0" tIns="0" rIns="0" bIns="0" rtlCol="0" anchor="t">
            <a:normAutofit/>
          </a:bodyPr>
          <a:lstStyle/>
          <a:p>
            <a:pPr indent="0" marL="0">
              <a:buNone/>
            </a:pPr>
            <a:r>
              <a:rPr lang="en-US" sz="800" dirty="0">
                <a:solidFill>
                  <a:srgbClr val="475467"/>
                </a:solidFill>
                <a:latin typeface="Aptos" pitchFamily="34" charset="0"/>
                <a:ea typeface="Aptos" pitchFamily="34" charset="-122"/>
                <a:cs typeface="Aptos" pitchFamily="34" charset="-120"/>
              </a:rPr>
              <a:t>TTM revenue is $9.47M at 18.2% gross margin, with TTM net income roughly break-even. Net working capital is −$202K, with AP at 1.3× AR. Top-five customer share is ~79%.</a:t>
            </a:r>
            <a:endParaRPr lang="en-US" sz="800" dirty="0"/>
          </a:p>
        </p:txBody>
      </p:sp>
      <p:sp>
        <p:nvSpPr>
          <p:cNvPr id="12" name="Shape 10"/>
          <p:cNvSpPr/>
          <p:nvPr/>
        </p:nvSpPr>
        <p:spPr>
          <a:xfrm>
            <a:off x="749808" y="3273552"/>
            <a:ext cx="5047488" cy="1152144"/>
          </a:xfrm>
          <a:prstGeom prst="roundRect">
            <a:avLst>
              <a:gd name="adj" fmla="val 4762"/>
            </a:avLst>
          </a:prstGeom>
          <a:solidFill>
            <a:srgbClr val="FFFFFF"/>
          </a:solidFill>
          <a:ln w="6350">
            <a:solidFill>
              <a:srgbClr val="D6DCE4"/>
            </a:solidFill>
            <a:prstDash val="solid"/>
          </a:ln>
        </p:spPr>
      </p:sp>
      <p:sp>
        <p:nvSpPr>
          <p:cNvPr id="13" name="Text 11"/>
          <p:cNvSpPr/>
          <p:nvPr/>
        </p:nvSpPr>
        <p:spPr>
          <a:xfrm>
            <a:off x="914400" y="3419856"/>
            <a:ext cx="4718304"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Risk</a:t>
            </a:r>
            <a:endParaRPr lang="en-US" sz="1200" dirty="0"/>
          </a:p>
        </p:txBody>
      </p:sp>
      <p:sp>
        <p:nvSpPr>
          <p:cNvPr id="14" name="Text 12"/>
          <p:cNvSpPr/>
          <p:nvPr/>
        </p:nvSpPr>
        <p:spPr>
          <a:xfrm>
            <a:off x="914400" y="3703320"/>
            <a:ext cx="4718304" cy="621792"/>
          </a:xfrm>
          <a:prstGeom prst="rect">
            <a:avLst/>
          </a:prstGeom>
          <a:noFill/>
          <a:ln/>
        </p:spPr>
        <p:txBody>
          <a:bodyPr wrap="square" lIns="0" tIns="0" rIns="0" bIns="0" rtlCol="0" anchor="t">
            <a:normAutofit/>
          </a:bodyPr>
          <a:lstStyle/>
          <a:p>
            <a:pPr indent="0" marL="0">
              <a:buNone/>
            </a:pPr>
            <a:r>
              <a:rPr lang="en-US" sz="800" dirty="0">
                <a:solidFill>
                  <a:srgbClr val="475467"/>
                </a:solidFill>
                <a:latin typeface="Aptos" pitchFamily="34" charset="0"/>
                <a:ea typeface="Aptos" pitchFamily="34" charset="-122"/>
                <a:cs typeface="Aptos" pitchFamily="34" charset="-120"/>
              </a:rPr>
              <a:t>Margin remains below the value-creation line, vendor credit is carrying part of the operating cycle, and the customer base has become materially concentrated. A 42% intercompany-weighted account requires clear classification.</a:t>
            </a:r>
            <a:endParaRPr lang="en-US" sz="800" dirty="0"/>
          </a:p>
        </p:txBody>
      </p:sp>
      <p:sp>
        <p:nvSpPr>
          <p:cNvPr id="15" name="Shape 13"/>
          <p:cNvSpPr/>
          <p:nvPr/>
        </p:nvSpPr>
        <p:spPr>
          <a:xfrm>
            <a:off x="6217920" y="3273552"/>
            <a:ext cx="4974336" cy="1152144"/>
          </a:xfrm>
          <a:prstGeom prst="roundRect">
            <a:avLst>
              <a:gd name="adj" fmla="val 4762"/>
            </a:avLst>
          </a:prstGeom>
          <a:solidFill>
            <a:srgbClr val="FFFFFF"/>
          </a:solidFill>
          <a:ln w="6350">
            <a:solidFill>
              <a:srgbClr val="D6DCE4"/>
            </a:solidFill>
            <a:prstDash val="solid"/>
          </a:ln>
        </p:spPr>
      </p:sp>
      <p:sp>
        <p:nvSpPr>
          <p:cNvPr id="16" name="Text 14"/>
          <p:cNvSpPr/>
          <p:nvPr/>
        </p:nvSpPr>
        <p:spPr>
          <a:xfrm>
            <a:off x="6382512" y="3419856"/>
            <a:ext cx="4645152"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Recommendation</a:t>
            </a:r>
            <a:endParaRPr lang="en-US" sz="1200" dirty="0"/>
          </a:p>
        </p:txBody>
      </p:sp>
      <p:sp>
        <p:nvSpPr>
          <p:cNvPr id="17" name="Text 15"/>
          <p:cNvSpPr/>
          <p:nvPr/>
        </p:nvSpPr>
        <p:spPr>
          <a:xfrm>
            <a:off x="6382512" y="3703320"/>
            <a:ext cx="4645152" cy="621792"/>
          </a:xfrm>
          <a:prstGeom prst="rect">
            <a:avLst/>
          </a:prstGeom>
          <a:noFill/>
          <a:ln/>
        </p:spPr>
        <p:txBody>
          <a:bodyPr wrap="square" lIns="0" tIns="0" rIns="0" bIns="0" rtlCol="0" anchor="t">
            <a:normAutofit/>
          </a:bodyPr>
          <a:lstStyle/>
          <a:p>
            <a:pPr indent="0" marL="0">
              <a:buNone/>
            </a:pPr>
            <a:r>
              <a:rPr lang="en-US" sz="780" dirty="0">
                <a:solidFill>
                  <a:srgbClr val="475467"/>
                </a:solidFill>
                <a:latin typeface="Aptos" pitchFamily="34" charset="0"/>
                <a:ea typeface="Aptos" pitchFamily="34" charset="-122"/>
                <a:cs typeface="Aptos" pitchFamily="34" charset="-120"/>
              </a:rPr>
              <a:t>Approve a three-part operating discipline package: margin recovery led by Commercial/Finance, 30/60/90 working-capital plan led by Finance, and top-five concentration ceiling with intercompany classification resolved before the next close.</a:t>
            </a:r>
            <a:endParaRPr lang="en-US" sz="780" dirty="0"/>
          </a:p>
        </p:txBody>
      </p:sp>
      <p:sp>
        <p:nvSpPr>
          <p:cNvPr id="18" name="Shape 16"/>
          <p:cNvSpPr/>
          <p:nvPr/>
        </p:nvSpPr>
        <p:spPr>
          <a:xfrm>
            <a:off x="749808" y="5138928"/>
            <a:ext cx="10442448" cy="530352"/>
          </a:xfrm>
          <a:prstGeom prst="roundRect">
            <a:avLst>
              <a:gd name="adj" fmla="val 10345"/>
            </a:avLst>
          </a:prstGeom>
          <a:solidFill>
            <a:srgbClr val="071326"/>
          </a:solidFill>
          <a:ln w="12700">
            <a:solidFill>
              <a:srgbClr val="071326">
                <a:alpha val="0"/>
              </a:srgbClr>
            </a:solidFill>
            <a:prstDash val="solid"/>
          </a:ln>
        </p:spPr>
      </p:sp>
      <p:sp>
        <p:nvSpPr>
          <p:cNvPr id="19" name="Text 17"/>
          <p:cNvSpPr/>
          <p:nvPr/>
        </p:nvSpPr>
        <p:spPr>
          <a:xfrm>
            <a:off x="896112" y="5239512"/>
            <a:ext cx="10149840"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20" name="Text 18"/>
          <p:cNvSpPr/>
          <p:nvPr/>
        </p:nvSpPr>
        <p:spPr>
          <a:xfrm>
            <a:off x="896112" y="5413248"/>
            <a:ext cx="10149840" cy="219456"/>
          </a:xfrm>
          <a:prstGeom prst="rect">
            <a:avLst/>
          </a:prstGeom>
          <a:noFill/>
          <a:ln/>
        </p:spPr>
        <p:txBody>
          <a:bodyPr wrap="square" lIns="0" tIns="0" rIns="0" bIns="0" rtlCol="0" anchor="ctr">
            <a:normAutofit/>
          </a:bodyPr>
          <a:lstStyle/>
          <a:p>
            <a:pPr indent="0" marL="0">
              <a:buNone/>
            </a:pPr>
            <a:r>
              <a:rPr lang="en-US" sz="900" b="1" dirty="0">
                <a:solidFill>
                  <a:srgbClr val="FFFFFF"/>
                </a:solidFill>
                <a:latin typeface="Aptos" pitchFamily="34" charset="0"/>
                <a:ea typeface="Aptos" pitchFamily="34" charset="-122"/>
                <a:cs typeface="Aptos" pitchFamily="34" charset="-120"/>
              </a:rPr>
              <a:t>Requested action: approve all three moves tonight and require monthly reporting against margin, NWC, and concentration KPIs.</a:t>
            </a:r>
            <a:endParaRPr lang="en-US" sz="900" dirty="0"/>
          </a:p>
        </p:txBody>
      </p:sp>
      <p:sp>
        <p:nvSpPr>
          <p:cNvPr id="21" name="Shape 19"/>
          <p:cNvSpPr/>
          <p:nvPr/>
        </p:nvSpPr>
        <p:spPr>
          <a:xfrm>
            <a:off x="530352" y="6419088"/>
            <a:ext cx="11130991" cy="0"/>
          </a:xfrm>
          <a:prstGeom prst="line">
            <a:avLst/>
          </a:prstGeom>
          <a:noFill/>
          <a:ln w="4445">
            <a:solidFill>
              <a:srgbClr val="D6DCE4"/>
            </a:solidFill>
            <a:prstDash val="solid"/>
          </a:ln>
        </p:spPr>
      </p:sp>
      <p:sp>
        <p:nvSpPr>
          <p:cNvPr id="22" name="Text 20"/>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23" name="Text 21"/>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14</a:t>
            </a:r>
            <a:endParaRPr lang="en-US" sz="6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424160" cy="493776"/>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Final assessment: send — with two guardrails</a:t>
            </a:r>
            <a:endParaRPr lang="en-US" sz="26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The board-facing deck is ready when the data caveats are kept explicit.</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938528"/>
            <a:ext cx="4937760" cy="2432304"/>
          </a:xfrm>
          <a:prstGeom prst="roundRect">
            <a:avLst>
              <a:gd name="adj" fmla="val 2256"/>
            </a:avLst>
          </a:prstGeom>
          <a:solidFill>
            <a:srgbClr val="FFFFFF"/>
          </a:solidFill>
          <a:ln w="6350">
            <a:solidFill>
              <a:srgbClr val="D6DCE4"/>
            </a:solidFill>
            <a:prstDash val="solid"/>
          </a:ln>
        </p:spPr>
      </p:sp>
      <p:sp>
        <p:nvSpPr>
          <p:cNvPr id="7" name="Text 5"/>
          <p:cNvSpPr/>
          <p:nvPr/>
        </p:nvSpPr>
        <p:spPr>
          <a:xfrm>
            <a:off x="987552" y="2194560"/>
            <a:ext cx="914400" cy="164592"/>
          </a:xfrm>
          <a:prstGeom prst="rect">
            <a:avLst/>
          </a:prstGeom>
          <a:noFill/>
          <a:ln/>
        </p:spPr>
        <p:txBody>
          <a:bodyPr wrap="square" lIns="0" tIns="0" rIns="0" bIns="0" rtlCol="0" anchor="ctr">
            <a:normAutofit/>
          </a:bodyPr>
          <a:lstStyle/>
          <a:p>
            <a:pPr indent="0" marL="0">
              <a:buNone/>
            </a:pPr>
            <a:r>
              <a:rPr lang="en-US" sz="650" b="1" dirty="0">
                <a:solidFill>
                  <a:srgbClr val="027A48"/>
                </a:solidFill>
                <a:latin typeface="Aptos" pitchFamily="34" charset="0"/>
                <a:ea typeface="Aptos" pitchFamily="34" charset="-122"/>
                <a:cs typeface="Aptos" pitchFamily="34" charset="-120"/>
              </a:rPr>
              <a:t>SEND</a:t>
            </a:r>
            <a:endParaRPr lang="en-US" sz="650" dirty="0"/>
          </a:p>
        </p:txBody>
      </p:sp>
      <p:sp>
        <p:nvSpPr>
          <p:cNvPr id="8" name="Text 6"/>
          <p:cNvSpPr/>
          <p:nvPr/>
        </p:nvSpPr>
        <p:spPr>
          <a:xfrm>
            <a:off x="987552" y="2523744"/>
            <a:ext cx="3291840" cy="256032"/>
          </a:xfrm>
          <a:prstGeom prst="rect">
            <a:avLst/>
          </a:prstGeom>
          <a:noFill/>
          <a:ln/>
        </p:spPr>
        <p:txBody>
          <a:bodyPr wrap="square" lIns="0" tIns="0" rIns="0" bIns="0" rtlCol="0" anchor="ctr"/>
          <a:lstStyle/>
          <a:p>
            <a:pPr indent="0" marL="0">
              <a:buNone/>
            </a:pPr>
            <a:r>
              <a:rPr lang="en-US" sz="1700" b="1" dirty="0">
                <a:solidFill>
                  <a:srgbClr val="111827"/>
                </a:solidFill>
                <a:latin typeface="Aptos Display" pitchFamily="34" charset="0"/>
                <a:ea typeface="Aptos Display" pitchFamily="34" charset="-122"/>
                <a:cs typeface="Aptos Display" pitchFamily="34" charset="-120"/>
              </a:rPr>
              <a:t>Board-facing slides 1–9</a:t>
            </a:r>
            <a:endParaRPr lang="en-US" sz="1700" dirty="0"/>
          </a:p>
        </p:txBody>
      </p:sp>
      <p:sp>
        <p:nvSpPr>
          <p:cNvPr id="9" name="Text 7"/>
          <p:cNvSpPr/>
          <p:nvPr/>
        </p:nvSpPr>
        <p:spPr>
          <a:xfrm>
            <a:off x="1005840" y="2999232"/>
            <a:ext cx="4160520" cy="438912"/>
          </a:xfrm>
          <a:prstGeom prst="rect">
            <a:avLst/>
          </a:prstGeom>
          <a:noFill/>
          <a:ln/>
        </p:spPr>
        <p:txBody>
          <a:bodyPr wrap="square" lIns="0" tIns="0" rIns="0" bIns="0" rtlCol="0" anchor="ctr">
            <a:normAutofit/>
          </a:bodyPr>
          <a:lstStyle/>
          <a:p>
            <a:pPr indent="0" marL="0">
              <a:buNone/>
            </a:pPr>
            <a:r>
              <a:rPr lang="en-US" sz="920" dirty="0">
                <a:solidFill>
                  <a:srgbClr val="475467"/>
                </a:solidFill>
                <a:latin typeface="Aptos" pitchFamily="34" charset="0"/>
                <a:ea typeface="Aptos" pitchFamily="34" charset="-122"/>
                <a:cs typeface="Aptos" pitchFamily="34" charset="-120"/>
              </a:rPr>
              <a:t>They are shorter, clearer, and decision-first. The risks are named before the board has to find them.</a:t>
            </a:r>
            <a:endParaRPr lang="en-US" sz="920" dirty="0"/>
          </a:p>
        </p:txBody>
      </p:sp>
      <p:sp>
        <p:nvSpPr>
          <p:cNvPr id="10" name="Text 8"/>
          <p:cNvSpPr/>
          <p:nvPr/>
        </p:nvSpPr>
        <p:spPr>
          <a:xfrm>
            <a:off x="1005840" y="3703320"/>
            <a:ext cx="4160520" cy="219456"/>
          </a:xfrm>
          <a:prstGeom prst="rect">
            <a:avLst/>
          </a:prstGeom>
          <a:noFill/>
          <a:ln/>
        </p:spPr>
        <p:txBody>
          <a:bodyPr wrap="square" lIns="0" tIns="0" rIns="0" bIns="0" rtlCol="0" anchor="ctr"/>
          <a:lstStyle/>
          <a:p>
            <a:pPr indent="0" marL="0">
              <a:buNone/>
            </a:pPr>
            <a:r>
              <a:rPr lang="en-US" sz="880" b="1" dirty="0">
                <a:solidFill>
                  <a:srgbClr val="111827"/>
                </a:solidFill>
                <a:latin typeface="Aptos" pitchFamily="34" charset="0"/>
                <a:ea typeface="Aptos" pitchFamily="34" charset="-122"/>
                <a:cs typeface="Aptos" pitchFamily="34" charset="-120"/>
              </a:rPr>
              <a:t>Use the appendix only for CEO prep or internal alignment.</a:t>
            </a:r>
            <a:endParaRPr lang="en-US" sz="880" dirty="0"/>
          </a:p>
        </p:txBody>
      </p:sp>
      <p:sp>
        <p:nvSpPr>
          <p:cNvPr id="11" name="Shape 9"/>
          <p:cNvSpPr/>
          <p:nvPr/>
        </p:nvSpPr>
        <p:spPr>
          <a:xfrm>
            <a:off x="6263640" y="1938528"/>
            <a:ext cx="4937760" cy="2432304"/>
          </a:xfrm>
          <a:prstGeom prst="roundRect">
            <a:avLst>
              <a:gd name="adj" fmla="val 2256"/>
            </a:avLst>
          </a:prstGeom>
          <a:solidFill>
            <a:srgbClr val="FFFFFF"/>
          </a:solidFill>
          <a:ln w="6350">
            <a:solidFill>
              <a:srgbClr val="D6DCE4"/>
            </a:solidFill>
            <a:prstDash val="solid"/>
          </a:ln>
        </p:spPr>
      </p:sp>
      <p:sp>
        <p:nvSpPr>
          <p:cNvPr id="12" name="Text 10"/>
          <p:cNvSpPr/>
          <p:nvPr/>
        </p:nvSpPr>
        <p:spPr>
          <a:xfrm>
            <a:off x="6510528" y="2194560"/>
            <a:ext cx="1371600"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DO NOT SEND IF</a:t>
            </a:r>
            <a:endParaRPr lang="en-US" sz="650" dirty="0"/>
          </a:p>
        </p:txBody>
      </p:sp>
      <p:sp>
        <p:nvSpPr>
          <p:cNvPr id="13" name="Text 11"/>
          <p:cNvSpPr/>
          <p:nvPr/>
        </p:nvSpPr>
        <p:spPr>
          <a:xfrm>
            <a:off x="6510528" y="2523744"/>
            <a:ext cx="3474720" cy="256032"/>
          </a:xfrm>
          <a:prstGeom prst="rect">
            <a:avLst/>
          </a:prstGeom>
          <a:noFill/>
          <a:ln/>
        </p:spPr>
        <p:txBody>
          <a:bodyPr wrap="square" lIns="0" tIns="0" rIns="0" bIns="0" rtlCol="0" anchor="ctr"/>
          <a:lstStyle/>
          <a:p>
            <a:pPr indent="0" marL="0">
              <a:buNone/>
            </a:pPr>
            <a:r>
              <a:rPr lang="en-US" sz="1700" b="1" dirty="0">
                <a:solidFill>
                  <a:srgbClr val="111827"/>
                </a:solidFill>
                <a:latin typeface="Aptos Display" pitchFamily="34" charset="0"/>
                <a:ea typeface="Aptos Display" pitchFamily="34" charset="-122"/>
                <a:cs typeface="Aptos Display" pitchFamily="34" charset="-120"/>
              </a:rPr>
              <a:t>You remove the caveats</a:t>
            </a:r>
            <a:endParaRPr lang="en-US" sz="1700" dirty="0"/>
          </a:p>
        </p:txBody>
      </p:sp>
      <p:sp>
        <p:nvSpPr>
          <p:cNvPr id="14" name="Text 12"/>
          <p:cNvSpPr/>
          <p:nvPr/>
        </p:nvSpPr>
        <p:spPr>
          <a:xfrm>
            <a:off x="6528816" y="2999232"/>
            <a:ext cx="4160520" cy="438912"/>
          </a:xfrm>
          <a:prstGeom prst="rect">
            <a:avLst/>
          </a:prstGeom>
          <a:noFill/>
          <a:ln/>
        </p:spPr>
        <p:txBody>
          <a:bodyPr wrap="square" lIns="0" tIns="0" rIns="0" bIns="0" rtlCol="0" anchor="ctr">
            <a:normAutofit/>
          </a:bodyPr>
          <a:lstStyle/>
          <a:p>
            <a:pPr indent="0" marL="0">
              <a:buNone/>
            </a:pPr>
            <a:r>
              <a:rPr lang="en-US" sz="900" dirty="0">
                <a:solidFill>
                  <a:srgbClr val="475467"/>
                </a:solidFill>
                <a:latin typeface="Aptos" pitchFamily="34" charset="0"/>
                <a:ea typeface="Aptos" pitchFamily="34" charset="-122"/>
                <a:cs typeface="Aptos" pitchFamily="34" charset="-120"/>
              </a:rPr>
              <a:t>Do not circulate per-customer dollars until the $19.7M customer-file view reconciles to the ~$9.5M QB P&amp;L.</a:t>
            </a:r>
            <a:endParaRPr lang="en-US" sz="900" dirty="0"/>
          </a:p>
        </p:txBody>
      </p:sp>
      <p:sp>
        <p:nvSpPr>
          <p:cNvPr id="15" name="Text 13"/>
          <p:cNvSpPr/>
          <p:nvPr/>
        </p:nvSpPr>
        <p:spPr>
          <a:xfrm>
            <a:off x="6528816" y="3703320"/>
            <a:ext cx="4160520" cy="219456"/>
          </a:xfrm>
          <a:prstGeom prst="rect">
            <a:avLst/>
          </a:prstGeom>
          <a:noFill/>
          <a:ln/>
        </p:spPr>
        <p:txBody>
          <a:bodyPr wrap="square" lIns="0" tIns="0" rIns="0" bIns="0" rtlCol="0" anchor="ctr"/>
          <a:lstStyle/>
          <a:p>
            <a:pPr indent="0" marL="0">
              <a:buNone/>
            </a:pPr>
            <a:r>
              <a:rPr lang="en-US" sz="880" b="1" dirty="0">
                <a:solidFill>
                  <a:srgbClr val="111827"/>
                </a:solidFill>
                <a:latin typeface="Aptos" pitchFamily="34" charset="0"/>
                <a:ea typeface="Aptos" pitchFamily="34" charset="-122"/>
                <a:cs typeface="Aptos" pitchFamily="34" charset="-120"/>
              </a:rPr>
              <a:t>Refresh the finance sync before distribution.</a:t>
            </a:r>
            <a:endParaRPr lang="en-US" sz="880" dirty="0"/>
          </a:p>
        </p:txBody>
      </p:sp>
      <p:sp>
        <p:nvSpPr>
          <p:cNvPr id="16" name="Shape 14"/>
          <p:cNvSpPr/>
          <p:nvPr/>
        </p:nvSpPr>
        <p:spPr>
          <a:xfrm>
            <a:off x="749808" y="5065776"/>
            <a:ext cx="10442448" cy="530352"/>
          </a:xfrm>
          <a:prstGeom prst="roundRect">
            <a:avLst>
              <a:gd name="adj" fmla="val 10345"/>
            </a:avLst>
          </a:prstGeom>
          <a:solidFill>
            <a:srgbClr val="071326"/>
          </a:solidFill>
          <a:ln w="12700">
            <a:solidFill>
              <a:srgbClr val="071326">
                <a:alpha val="0"/>
              </a:srgbClr>
            </a:solidFill>
            <a:prstDash val="solid"/>
          </a:ln>
        </p:spPr>
      </p:sp>
      <p:sp>
        <p:nvSpPr>
          <p:cNvPr id="17" name="Text 15"/>
          <p:cNvSpPr/>
          <p:nvPr/>
        </p:nvSpPr>
        <p:spPr>
          <a:xfrm>
            <a:off x="896112" y="5166360"/>
            <a:ext cx="10149840"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18" name="Text 16"/>
          <p:cNvSpPr/>
          <p:nvPr/>
        </p:nvSpPr>
        <p:spPr>
          <a:xfrm>
            <a:off x="896112" y="5340096"/>
            <a:ext cx="10149840" cy="219456"/>
          </a:xfrm>
          <a:prstGeom prst="rect">
            <a:avLst/>
          </a:prstGeom>
          <a:noFill/>
          <a:ln/>
        </p:spPr>
        <p:txBody>
          <a:bodyPr wrap="square" lIns="0" tIns="0" rIns="0" bIns="0" rtlCol="0" anchor="ctr">
            <a:normAutofit/>
          </a:bodyPr>
          <a:lstStyle/>
          <a:p>
            <a:pPr indent="0" marL="0">
              <a:buNone/>
            </a:pPr>
            <a:r>
              <a:rPr lang="en-US" sz="900" b="1" dirty="0">
                <a:solidFill>
                  <a:srgbClr val="FFFFFF"/>
                </a:solidFill>
                <a:latin typeface="Aptos" pitchFamily="34" charset="0"/>
                <a:ea typeface="Aptos" pitchFamily="34" charset="-122"/>
                <a:cs typeface="Aptos" pitchFamily="34" charset="-120"/>
              </a:rPr>
              <a:t>The deck earns confidence because it is honest: strong operations, thin economics, high concentration, and clear decisions.</a:t>
            </a:r>
            <a:endParaRPr lang="en-US" sz="900" dirty="0"/>
          </a:p>
        </p:txBody>
      </p:sp>
      <p:sp>
        <p:nvSpPr>
          <p:cNvPr id="19" name="Shape 17"/>
          <p:cNvSpPr/>
          <p:nvPr/>
        </p:nvSpPr>
        <p:spPr>
          <a:xfrm>
            <a:off x="530352" y="6419088"/>
            <a:ext cx="11130991" cy="0"/>
          </a:xfrm>
          <a:prstGeom prst="line">
            <a:avLst/>
          </a:prstGeom>
          <a:noFill/>
          <a:ln w="4445">
            <a:solidFill>
              <a:srgbClr val="D6DCE4"/>
            </a:solidFill>
            <a:prstDash val="solid"/>
          </a:ln>
        </p:spPr>
      </p:sp>
      <p:sp>
        <p:nvSpPr>
          <p:cNvPr id="20" name="Text 18"/>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21" name="Text 19"/>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15</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U1Dynamics Manufacturing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U1Dynamics Board Operating Review — April 2026</dc:title>
  <dc:subject>April 2026 Board Operating Review — World-Class Rebuild</dc:subject>
  <dc:creator>OpenAI</dc:creator>
  <cp:lastModifiedBy>OpenAI</cp:lastModifiedBy>
  <cp:revision>1</cp:revision>
  <dcterms:created xsi:type="dcterms:W3CDTF">2026-06-02T22:10:12Z</dcterms:created>
  <dcterms:modified xsi:type="dcterms:W3CDTF">2026-06-02T22:10:12Z</dcterms:modified>
</cp:coreProperties>
</file>