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Balance</c:v>
                </c:pt>
              </c:strCache>
            </c:strRef>
          </c:tx>
          <c:spPr>
            <a:solidFill>
              <a:srgbClr val="0713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713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4231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Receivable</c:v>
                  </c:pt>
                  <c:pt idx="1">
                    <c:v>Payable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731611</c:v>
                </c:pt>
                <c:pt idx="1">
                  <c:v>933427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467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(EN): Good evening. This is the April board operating review. The question tonight is not whether U1Dynamics can make and ship — it can. It is whether we can convert that volume into durable margin, cash, and a more diversified customer base. I will name the risks before you have to find them, and close with three decisions to approve.</a:t>
            </a:r>
          </a:p>
          <a:p/>
          <a:p>
            <a:r>
              <a:t>DIGA (ES): Buenas noches. Esta es la revisión operativa de abril. La pregunta no es si U1Dynamics puede fabricar y despachar — puede. Es si podemos convertir ese volumen en margen durable, caja y una base de clientes más diversificada. Nombraré los riesgos antes de que ustedes los busquen, y cerraré con tres decisiones a aprobar.</a:t>
            </a:r>
          </a:p>
          <a:p/>
          <a:p>
            <a:r>
              <a:t>~0:30  ·  → Start with the decision. / Empezar por la decisión.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(EN): The whole meeting on one slide. TTM revenue $9.47M at 18.2% gross margin; net income near break-even at $92.9K; net working capital −$202K (AP 1.3× AR); top-5 customers 79% of volume. Operationally sound, financially thin, strategically over-concentrated. I am asking to approve three moves: close the margin gap, protect working capital, diversify the base.</a:t>
            </a:r>
          </a:p>
          <a:p/>
          <a:p>
            <a:r>
              <a:t>DIGA (ES): Toda la reunión en una lámina. Ingresos UDM 9.47M con margen bruto 18.2%; utilidad neta cerca del equilibrio, 92.9K; capital de trabajo neto −202K (CxP 1.3× CxC); top-5 79% del volumen. Sólidos en operación, delgados en finanzas, sobre-concentrados. Pido aprobar tres movimientos: cerrar la brecha de margen, proteger el capital de trabajo, diversificar la base.</a:t>
            </a:r>
          </a:p>
          <a:p/>
          <a:p>
            <a:r>
              <a:t>NUMBERS: $9.47M · 18.2% · $92.9K · −$202K · AP 1.3× AR · 79%.  ~1:00  ·  → Concentration is the headline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(EN): The most important trend in the company. Since 2023 customers fell 311→55 (−82%); top-5 concentration rose 37%→79% (+42 pts); realized price fell $15.55→$10.36 (−33%). Bigger in volume, narrower in customers, cheaper in price — a concentration and valuation risk, not a clean growth story. Recommendation: top-5 ceiling of 60% over four quarters.</a:t>
            </a:r>
          </a:p>
          <a:p/>
          <a:p>
            <a:r>
              <a:t>DIGA (ES): La tendencia más importante. Desde 2023 los clientes cayeron 311→55 (−82%); el top-5 subió 37%→79% (+42 pts); el precio realizado bajó 15.55→10.36 (−33%). Más volumen, menos clientes, menor precio — riesgo de concentración y valuación, no crecimiento limpio. Recomendación: techo de 60% para el top-5 en cuatro trimestres.</a:t>
            </a:r>
          </a:p>
          <a:p/>
          <a:p>
            <a:r>
              <a:t>NUMBERS: 311→55 · 37%→79% · $15.55→$10.36.  ~3:00  ·  → Concentration sits on a thin margin.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(EN): TTM gross margin 18.2% vs a 25% reference. April was 19.6%, up from 14.6% in March — direction is right, still below the line. Every point of GM ≈ $95K of gross profit. This is a price/mix/intercompany problem, not a plant problem, until a SKU-customer bridge proves otherwise. Approve a Commercial/Finance price-mix program targeting 22% in two quarters.</a:t>
            </a:r>
          </a:p>
          <a:p/>
          <a:p>
            <a:r>
              <a:t>DIGA (ES): Margen bruto UDM 18.2% vs referencia 25%. Abril 19.6%, desde 14.6% en marzo — dirección correcta, aún bajo la línea. Cada punto de margen ≈ 95K de utilidad bruta. Es un problema de precio/mezcla/intercompañía, no de planta, hasta que el puente por SKU-cliente demuestre lo contrario. Aprobar programa de precio-mezcla de Comercial/Finanzas con meta de 22% en dos trimestres.</a:t>
            </a:r>
          </a:p>
          <a:p/>
          <a:p>
            <a:r>
              <a:t>NUMBERS: 18.2% vs 25% · April 19.6% (from 14.6%) · ≈$95K/pt · ≥22%.  ~3:00  ·  → The other pressure is cash.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(EN): Net working capital is −$201,816. AR $731,611; AP $933,427 — AP is 1.3× AR. Vendors are financing part of our operating cycle; that works only while terms hold. The 30/60/90 plan makes it a managed choice: 30 — collections sprint; 60 — renegotiate vendor terms; 90 — cash-coverage policy and NWC dashboard. Approve a Finance-owned plan targeting NWC ≥$0 in 90 days.</a:t>
            </a:r>
          </a:p>
          <a:p/>
          <a:p>
            <a:r>
              <a:t>DIGA (ES): Capital de trabajo neto −201,816. CxC 731,611; CxP 933,427 — CxP 1.3× CxC. Los proveedores financian parte del ciclo; funciona solo mientras se mantengan las condiciones. El plan 30/60/90 lo vuelve una decisión gestionada: 30 — sprint de cobranza; 60 — renegociar condiciones; 90 — política de cobertura de caja y tablero. Aprobar plan de Finanzas con meta de capital de trabajo ≥0 en 90 días.</a:t>
            </a:r>
          </a:p>
          <a:p/>
          <a:p>
            <a:r>
              <a:t>NUMBERS: −$201,816 · AR $731,611 · AP $933,427 · 1.3×.  ~3:00  ·  → One account sits behind concentration and margin.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(EN): Our largest account at 42.2% of YTD gallons is U1Dynamics Manufacturing itself — intercompany-weighted. Then 8A Dominus 13.2%, Competitive Edge 9.7%, Maxilub 7.7%, Amazon 6.6%. The issue is we have not classified it — customer, intercompany, or internal transfer. Until settled, concentration, pricing, and revenue quality are blurred. Finance to finalize treatment before the next close.</a:t>
            </a:r>
          </a:p>
          <a:p/>
          <a:p>
            <a:r>
              <a:t>DIGA (ES): La cuenta más grande con 42.2% de los galones del año es la propia U1Dynamics Manufacturing — peso intercompañía. Luego 8A Dominus 13.2%, Competitive Edge 9.7%, Maxilub 7.7%, Amazon 6.6%. El tema es que no la hemos clasificado — cliente, intercompañía o transferencia interna. Hasta resolverlo, la concentración, el precio y la calidad de ingreso quedan difusos. Finanzas finaliza el tratamiento antes del próximo cierre.</a:t>
            </a:r>
          </a:p>
          <a:p/>
          <a:p>
            <a:r>
              <a:t>NUMBERS: 42.2% · 13.2% · 9.7% · 7.7% · 6.6%.  ~2:00  ·  → Now the good news: operations are fine.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(EN): Operationally, Q1 output rose 28% year over year — 374,866 gallons, averaging 127,372 a month and peaking at 141,506 in March; annualized that is about 1.5M gal/yr. The plant has slack in aggregate, but the Quarts line is at its real ceiling — ~1,208 gal/day, 96.5% availability — so it is our primary bottleneck for quart-format demand. Batch lines are efficient when they run. Two honest gaps: we depend on a single active oil supplier, Lubrimar, plus packaging vendors with lead-time and quality exposure; and at the start of this tenure there were no formal QA records, no finished-goods retains, and no OSHA log — one minor PPE incident. We are standing up measurement and QA now, and we have already secured an alternative drum supplier for Q2.</a:t>
            </a:r>
          </a:p>
          <a:p/>
          <a:p>
            <a:r>
              <a:t>DIGA (ES): En lo operativo, la producción del Q1 subió 28% interanual — 374,866 galones, promedio de 127,372 al mes y pico de 141,506 en marzo; anualizado, cerca de 1.5M gal/año. La planta tiene holgura en agregado, pero la línea de Quarts está en su techo real — ~1,208 gal/día, 96.5% de disponibilidad — es nuestro cuello de botella primario para el formato quart. Las líneas batch son eficientes cuando operan. Dos brechas honestas: dependemos de un único proveedor activo de aceite, Lubrimar, más proveedores de envases con exposición de lead-time y calidad; y al inicio de esta gestión no había registros formales de QA, ni testigos de producto terminado, ni log de OSHA — un incidente menor de EPP. Estamos levantando la medición y el QA ahora, y ya aseguramos un proveedor alternativo de tambores para el Q2.</a:t>
            </a:r>
          </a:p>
          <a:p/>
          <a:p>
            <a:r>
              <a:t>NUMBERS: Q1 374,866 (+28.2%) · avg 127,372 · peak 141,506 · Quarts 96.5% · ~1.50M/yr.  ~1:00  ·  → What is board-grade tonight.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(EN): A clear line. Authoritative tonight: QuickBooks P&amp;L (revenue, COGS, margin, net income); locked April volume; AR/AP aging; production-vs-billing in gallons — decide on these. Not yet board-grade: customer-file revenue ~$19.7M that does not reconcile to the $9.5M QB P&amp;L; inventory anchor; finance sync stale &gt;24h; per-customer margin (invoice-line cost unverified). We will not ask you to decide on numbers that are not ready.</a:t>
            </a:r>
          </a:p>
          <a:p/>
          <a:p>
            <a:r>
              <a:t>DIGA (ES): Una línea clara. Autoritativo esta noche: estado de resultados de QuickBooks (ingresos, costo, margen, utilidad); volumen de abril bloqueado; antigüedad CxC/CxP; producción vs facturación en galones — decidan sobre eso. Aún no de grado-consejo: ingreso del archivo de clientes ~19.7M que no concilia con los 9.5M de QuickBooks; anclaje de inventario; sincronización con más de 24h de atraso; margen por cliente (costo de línea sin verificar). No les pediremos decidir sobre números que no están listos.</a:t>
            </a:r>
          </a:p>
          <a:p/>
          <a:p>
            <a:r>
              <a:t>NUMBERS: $19.7M vs $9.5M.  ~1:00  ·  → Here is what to approve.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(EN): Three approvals, each with an owner and a measurable outcome. 1) Close the margin gap — Commercial/Finance, GM 22% in two quarters. 2) Protect working capital — Finance, NWC ≥$0 in 90 days. 3) Diversify the base — Commercial/Finance, top-5 ≤60% and intercompany resolved by next close. Approve all three as one operating-discipline package. Waiting extends near-break-even earnings, vendor-credit dependence, and concentration risk. I would like the board's approval tonight.</a:t>
            </a:r>
          </a:p>
          <a:p/>
          <a:p>
            <a:r>
              <a:t>DIGA (ES): Tres aprobaciones, cada una con responsable y resultado medible. 1) Cerrar la brecha de margen — Comercial/Finanzas, margen 22% en dos trimestres. 2) Proteger el capital de trabajo — Finanzas, capital de trabajo ≥0 en 90 días. 3) Diversificar la base — Comercial/Finanzas, top-5 ≤60% e intercompañía resuelta antes del próximo cierre. Aprobar las tres como un solo paquete. Esperar prolonga utilidades al borde del equilibrio, dependencia de crédito de proveedores y riesgo de concentración. Quisiera la aprobación esta noche.</a:t>
            </a:r>
          </a:p>
          <a:p/>
          <a:p>
            <a:r>
              <a:t>NUMBERS: GM ≥22% · NWC ≥$0 · top-5 ≤60%.  ~1:00  ·  → Close; open to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CEO / PRESENTER PREP — DO NOT PRESENT TO THE BOARD.</a:t>
            </a:r>
          </a:p>
          <a:p>
            <a:r>
              <a:t>Preparación del presentador — NO presentar al Consejo. Use slides 1–9 in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CEO / PRESENTER PREP — DO NOT PRESENT TO THE BOARD.</a:t>
            </a:r>
          </a:p>
          <a:p>
            <a:r>
              <a:t>Preparación del presentador — NO presentar al Consejo. Use slides 1–9 in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CEO / PRESENTER PREP — DO NOT PRESENT TO THE BOARD.</a:t>
            </a:r>
          </a:p>
          <a:p>
            <a:r>
              <a:t>Preparación del presentador — NO presentar al Consejo. Use slides 1–9 in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CEO / PRESENTER PREP — DO NOT PRESENT TO THE BOARD.</a:t>
            </a:r>
          </a:p>
          <a:p>
            <a:r>
              <a:t>Preparación del presentador — NO presentar al Consejo. Use slides 1–9 in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CEO / PRESENTER PREP — DO NOT PRESENT TO THE BOARD.</a:t>
            </a:r>
          </a:p>
          <a:p>
            <a:r>
              <a:t>Preparación del presentador — NO presentar al Consejo. Use slides 1–9 in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CEO / PRESENTER PREP — DO NOT PRESENT TO THE BOARD.</a:t>
            </a:r>
          </a:p>
          <a:p>
            <a:r>
              <a:t>Preparación del presentador — NO presentar al Consejo. Use slides 1–9 in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13232" y="1078992"/>
            <a:ext cx="1005840" cy="0"/>
          </a:xfrm>
          <a:prstGeom prst="line">
            <a:avLst/>
          </a:prstGeom>
          <a:noFill/>
          <a:ln w="15240">
            <a:solidFill>
              <a:srgbClr val="B42318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13232" y="192024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D7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OPERATING REVIEW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" y="2359152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April 2026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331012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DC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deck for the Board of Directors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37307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approve the margin, working-capital, and diversification actions.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326880" y="0"/>
            <a:ext cx="2862072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555480" y="4389120"/>
            <a:ext cx="21762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E4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question is not whether we can make and ship.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4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whether we can turn volume into margin, cash, and resilience.</a:t>
            </a:r>
            <a:endParaRPr lang="en-US" sz="1060" dirty="0"/>
          </a:p>
        </p:txBody>
      </p:sp>
      <p:sp>
        <p:nvSpPr>
          <p:cNvPr id="10" name="Text 8"/>
          <p:cNvSpPr/>
          <p:nvPr/>
        </p:nvSpPr>
        <p:spPr>
          <a:xfrm>
            <a:off x="9555480" y="61996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530352" y="6419088"/>
            <a:ext cx="11130991" cy="0"/>
          </a:xfrm>
          <a:prstGeom prst="line">
            <a:avLst/>
          </a:prstGeom>
          <a:noFill/>
          <a:ln w="4445">
            <a:solidFill>
              <a:srgbClr val="31405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0352" y="647395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B8C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U1Dynamics Manufacturing LLC  ·  April 2026  ·  Confidential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11341303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B8C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680" dirty="0"/>
          </a:p>
        </p:txBody>
      </p:sp>
      <p:pic>
        <p:nvPicPr>
          <p:cNvPr id="14" name="Picture 13" descr="u1d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66928"/>
            <a:ext cx="1554480" cy="10104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130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OPERATING REVIEW · APRIL 2026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607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decision: convert volume into margin, cash, and resilience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30352" y="130759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U1Dynamics can make and ship. The enterprise-value question is whether that volume becomes durable value.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530352" y="1600200"/>
            <a:ext cx="11130991" cy="0"/>
          </a:xfrm>
          <a:prstGeom prst="line">
            <a:avLst/>
          </a:prstGeom>
          <a:noFill/>
          <a:ln w="5715">
            <a:solidFill>
              <a:srgbClr val="D6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74520"/>
            <a:ext cx="212140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984248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· TTM</a:t>
            </a:r>
            <a:endParaRPr lang="en-US" sz="540" dirty="0"/>
          </a:p>
        </p:txBody>
      </p:sp>
      <p:sp>
        <p:nvSpPr>
          <p:cNvPr id="8" name="Text 6"/>
          <p:cNvSpPr/>
          <p:nvPr/>
        </p:nvSpPr>
        <p:spPr>
          <a:xfrm>
            <a:off x="768096" y="2148840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$9.47M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68096" y="2487168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18.2% gross margin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2926080" y="1874520"/>
            <a:ext cx="212140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5808" y="1984248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 INCOME · TTM</a:t>
            </a:r>
            <a:endParaRPr lang="en-US" sz="540" dirty="0"/>
          </a:p>
        </p:txBody>
      </p:sp>
      <p:sp>
        <p:nvSpPr>
          <p:cNvPr id="12" name="Text 10"/>
          <p:cNvSpPr/>
          <p:nvPr/>
        </p:nvSpPr>
        <p:spPr>
          <a:xfrm>
            <a:off x="3035808" y="2148840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$92.9K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035808" y="2487168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break-even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5193792" y="1874520"/>
            <a:ext cx="212140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1984248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 WORKING CAPITAL</a:t>
            </a:r>
            <a:endParaRPr lang="en-US" sz="540" dirty="0"/>
          </a:p>
        </p:txBody>
      </p:sp>
      <p:sp>
        <p:nvSpPr>
          <p:cNvPr id="16" name="Text 14"/>
          <p:cNvSpPr/>
          <p:nvPr/>
        </p:nvSpPr>
        <p:spPr>
          <a:xfrm>
            <a:off x="5303520" y="2148840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B423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−$202K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303520" y="2487168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 1.3× AR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7461504" y="1874520"/>
            <a:ext cx="212140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71232" y="1984248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TOP-5 CUSTOMERS</a:t>
            </a:r>
            <a:endParaRPr lang="en-US" sz="540" dirty="0"/>
          </a:p>
        </p:txBody>
      </p:sp>
      <p:sp>
        <p:nvSpPr>
          <p:cNvPr id="20" name="Text 18"/>
          <p:cNvSpPr/>
          <p:nvPr/>
        </p:nvSpPr>
        <p:spPr>
          <a:xfrm>
            <a:off x="7571232" y="2148840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B423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79%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571232" y="2487168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volume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9729216" y="1874520"/>
            <a:ext cx="212140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38944" y="1984248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APRIL VOLUME</a:t>
            </a:r>
            <a:endParaRPr lang="en-US" sz="540" dirty="0"/>
          </a:p>
        </p:txBody>
      </p:sp>
      <p:sp>
        <p:nvSpPr>
          <p:cNvPr id="24" name="Text 22"/>
          <p:cNvSpPr/>
          <p:nvPr/>
        </p:nvSpPr>
        <p:spPr>
          <a:xfrm>
            <a:off x="9838944" y="2148840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103K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838944" y="2487168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−41% vs March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658368" y="3090672"/>
            <a:ext cx="4160520" cy="2322576"/>
          </a:xfrm>
          <a:prstGeom prst="roundRect">
            <a:avLst>
              <a:gd name="adj" fmla="val 2362"/>
            </a:avLst>
          </a:prstGeom>
          <a:solidFill>
            <a:srgbClr val="071326"/>
          </a:solidFill>
          <a:ln w="12700">
            <a:solidFill>
              <a:srgbClr val="07132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" y="33101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F6D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SITUATION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886968" y="3547872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Operationally sound.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Financially thin.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Strategically over-concentrated.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86968" y="460857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D7DC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right posture is not defensive. It is decisive: name the risks, assign owners, and approve the corrective levers.</a:t>
            </a:r>
            <a:endParaRPr lang="en-US" sz="890" dirty="0"/>
          </a:p>
        </p:txBody>
      </p:sp>
      <p:sp>
        <p:nvSpPr>
          <p:cNvPr id="30" name="Text 28"/>
          <p:cNvSpPr/>
          <p:nvPr/>
        </p:nvSpPr>
        <p:spPr>
          <a:xfrm>
            <a:off x="5193792" y="312724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DECISIONS REQUESTED TONIGHT</a:t>
            </a:r>
            <a:endParaRPr lang="en-US" sz="630" dirty="0"/>
          </a:p>
        </p:txBody>
      </p:sp>
      <p:sp>
        <p:nvSpPr>
          <p:cNvPr id="31" name="Shape 29"/>
          <p:cNvSpPr/>
          <p:nvPr/>
        </p:nvSpPr>
        <p:spPr>
          <a:xfrm>
            <a:off x="5138928" y="3383280"/>
            <a:ext cx="307238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6985">
            <a:solidFill>
              <a:srgbClr val="D6DC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66944" y="34930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423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50992" y="3474720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Close the margin gap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5650992" y="376732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a Commercial / Finance price-mix program. Target gross margin ≥22% within two quarters.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5138928" y="4279392"/>
            <a:ext cx="307238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6985">
            <a:solidFill>
              <a:srgbClr val="D6DC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66944" y="43891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423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50992" y="4370832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Protect working capital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5650992" y="4663440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a 30/60/90 collections and vendor-terms plan. Target net working capital ≥$0 within 90 days.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5138928" y="5175504"/>
            <a:ext cx="307238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6985">
            <a:solidFill>
              <a:srgbClr val="D6DC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66944" y="52852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423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650992" y="5266944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Diversify the base</a:t>
            </a:r>
            <a:endParaRPr lang="en-US" sz="1120" dirty="0"/>
          </a:p>
        </p:txBody>
      </p:sp>
      <p:sp>
        <p:nvSpPr>
          <p:cNvPr id="42" name="Text 40"/>
          <p:cNvSpPr/>
          <p:nvPr/>
        </p:nvSpPr>
        <p:spPr>
          <a:xfrm>
            <a:off x="5650992" y="5559552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a top-5 ceiling ≤60% over four quarters and resolve intercompany classification before the next close.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8567928" y="3383280"/>
            <a:ext cx="2788920" cy="2596896"/>
          </a:xfrm>
          <a:prstGeom prst="roundRect">
            <a:avLst>
              <a:gd name="adj" fmla="val 2113"/>
            </a:avLst>
          </a:prstGeom>
          <a:solidFill>
            <a:srgbClr val="071326"/>
          </a:solidFill>
          <a:ln w="12700">
            <a:solidFill>
              <a:srgbClr val="071326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14232" y="3483864"/>
            <a:ext cx="2496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0" b="1" dirty="0">
                <a:solidFill>
                  <a:srgbClr val="F6D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IMPLICATION</a:t>
            </a:r>
            <a:endParaRPr lang="en-US" sz="530" dirty="0"/>
          </a:p>
        </p:txBody>
      </p:sp>
      <p:sp>
        <p:nvSpPr>
          <p:cNvPr id="45" name="Text 43"/>
          <p:cNvSpPr/>
          <p:nvPr/>
        </p:nvSpPr>
        <p:spPr>
          <a:xfrm>
            <a:off x="8714232" y="3657600"/>
            <a:ext cx="24963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board is not being asked to review the month. It is being asked to approve the three moves that de-risk enterprise value.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30352" y="6419088"/>
            <a:ext cx="11130991" cy="0"/>
          </a:xfrm>
          <a:prstGeom prst="line">
            <a:avLst/>
          </a:prstGeom>
          <a:noFill/>
          <a:ln w="4445">
            <a:solidFill>
              <a:srgbClr val="D6DC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" y="647395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U1Dynamics Manufacturing LLC  ·  April 2026  ·  Confidential</a:t>
            </a:r>
            <a:endParaRPr lang="en-US" sz="680" dirty="0"/>
          </a:p>
        </p:txBody>
      </p:sp>
      <p:sp>
        <p:nvSpPr>
          <p:cNvPr id="48" name="Text 46"/>
          <p:cNvSpPr/>
          <p:nvPr/>
        </p:nvSpPr>
        <p:spPr>
          <a:xfrm>
            <a:off x="11341303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130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OPERATING REVIEW · APRIL 2026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2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enterprise signal: bigger in volume, narrower in exposure</a:t>
            </a:r>
            <a:endParaRPr lang="en-US" sz="2420" dirty="0"/>
          </a:p>
        </p:txBody>
      </p:sp>
      <p:sp>
        <p:nvSpPr>
          <p:cNvPr id="4" name="Text 2"/>
          <p:cNvSpPr/>
          <p:nvPr/>
        </p:nvSpPr>
        <p:spPr>
          <a:xfrm>
            <a:off x="530352" y="130759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rose while breadth and realized price fell — that is a concentration and valuation risk, not a pure growth story.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530352" y="1600200"/>
            <a:ext cx="11130991" cy="0"/>
          </a:xfrm>
          <a:prstGeom prst="line">
            <a:avLst/>
          </a:prstGeom>
          <a:noFill/>
          <a:ln w="5715">
            <a:solidFill>
              <a:srgbClr val="D6DC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470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BOOK TREND</a:t>
            </a:r>
            <a:endParaRPr lang="en-US" sz="630" dirty="0"/>
          </a:p>
        </p:txBody>
      </p:sp>
      <p:sp>
        <p:nvSpPr>
          <p:cNvPr id="7" name="Text 5"/>
          <p:cNvSpPr/>
          <p:nvPr/>
        </p:nvSpPr>
        <p:spPr>
          <a:xfrm>
            <a:off x="749808" y="212140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endParaRPr lang="en-US" sz="770" dirty="0"/>
          </a:p>
        </p:txBody>
      </p:sp>
      <p:sp>
        <p:nvSpPr>
          <p:cNvPr id="8" name="Text 6"/>
          <p:cNvSpPr/>
          <p:nvPr/>
        </p:nvSpPr>
        <p:spPr>
          <a:xfrm>
            <a:off x="2651760" y="212140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</a:t>
            </a:r>
            <a:endParaRPr lang="en-US" sz="770" dirty="0"/>
          </a:p>
        </p:txBody>
      </p:sp>
      <p:sp>
        <p:nvSpPr>
          <p:cNvPr id="9" name="Text 7"/>
          <p:cNvSpPr/>
          <p:nvPr/>
        </p:nvSpPr>
        <p:spPr>
          <a:xfrm>
            <a:off x="3822192" y="212140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</a:t>
            </a:r>
            <a:endParaRPr lang="en-US" sz="770" dirty="0"/>
          </a:p>
        </p:txBody>
      </p:sp>
      <p:sp>
        <p:nvSpPr>
          <p:cNvPr id="10" name="Text 8"/>
          <p:cNvSpPr/>
          <p:nvPr/>
        </p:nvSpPr>
        <p:spPr>
          <a:xfrm>
            <a:off x="4992624" y="212140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6163056" y="212140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YTD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749808" y="2441448"/>
            <a:ext cx="6583680" cy="0"/>
          </a:xfrm>
          <a:prstGeom prst="line">
            <a:avLst/>
          </a:prstGeom>
          <a:noFill/>
          <a:ln w="5080">
            <a:solidFill>
              <a:srgbClr val="D6DC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59689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259689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22192" y="259689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92624" y="259689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63056" y="259689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9808" y="2990088"/>
            <a:ext cx="6583680" cy="0"/>
          </a:xfrm>
          <a:prstGeom prst="line">
            <a:avLst/>
          </a:prstGeom>
          <a:noFill/>
          <a:ln w="5080">
            <a:solidFill>
              <a:srgbClr val="D6DC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14553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Top-5 share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51760" y="314553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22192" y="314553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92624" y="314553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63056" y="314553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79%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49808" y="3538728"/>
            <a:ext cx="6583680" cy="0"/>
          </a:xfrm>
          <a:prstGeom prst="line">
            <a:avLst/>
          </a:prstGeom>
          <a:noFill/>
          <a:ln w="5080">
            <a:solidFill>
              <a:srgbClr val="D6DC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69417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Realized $/gal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51760" y="369417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$15.55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22192" y="369417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$15.01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92624" y="369417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$10.45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63056" y="369417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$10.36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156448" y="184708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</a:t>
            </a:r>
            <a:endParaRPr lang="en-US" sz="630" dirty="0"/>
          </a:p>
        </p:txBody>
      </p:sp>
      <p:sp>
        <p:nvSpPr>
          <p:cNvPr id="31" name="Text 29"/>
          <p:cNvSpPr/>
          <p:nvPr/>
        </p:nvSpPr>
        <p:spPr>
          <a:xfrm>
            <a:off x="8156448" y="217627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B423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−82%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8156448" y="26517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count since 2023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156448" y="32186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B423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+42 pts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8156448" y="36941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top-5 concentration since 2023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156448" y="426110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B423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−33%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8156448" y="4736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realized price per gallon since 2023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49808" y="5632704"/>
            <a:ext cx="1058875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" y="572414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520" dirty="0"/>
          </a:p>
        </p:txBody>
      </p:sp>
      <p:sp>
        <p:nvSpPr>
          <p:cNvPr id="39" name="Text 37"/>
          <p:cNvSpPr/>
          <p:nvPr/>
        </p:nvSpPr>
        <p:spPr>
          <a:xfrm>
            <a:off x="2167128" y="5733288"/>
            <a:ext cx="8988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top-5 ≤60% over four quarters and add external-account growth targets. Concentration at 79% suppresses resilience and enterprise value.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530352" y="6419088"/>
            <a:ext cx="11130991" cy="0"/>
          </a:xfrm>
          <a:prstGeom prst="line">
            <a:avLst/>
          </a:prstGeom>
          <a:noFill/>
          <a:ln w="4445">
            <a:solidFill>
              <a:srgbClr val="D6DC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647395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U1Dynamics Manufacturing LLC  ·  April 2026  ·  Confidential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11341303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130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OPERATING REVIEW · APRIL 2026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2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Margin is recovering, but still below the value-creation line</a:t>
            </a:r>
            <a:endParaRPr lang="en-US" sz="2420" dirty="0"/>
          </a:p>
        </p:txBody>
      </p:sp>
      <p:sp>
        <p:nvSpPr>
          <p:cNvPr id="4" name="Text 2"/>
          <p:cNvSpPr/>
          <p:nvPr/>
        </p:nvSpPr>
        <p:spPr>
          <a:xfrm>
            <a:off x="530352" y="130759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this revenue base, every gross-margin point is roughly $95K of gross profit — the lever is material.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530352" y="1600200"/>
            <a:ext cx="11130991" cy="0"/>
          </a:xfrm>
          <a:prstGeom prst="line">
            <a:avLst/>
          </a:prstGeom>
          <a:noFill/>
          <a:ln w="5715">
            <a:solidFill>
              <a:srgbClr val="D6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847088"/>
            <a:ext cx="24231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956816"/>
            <a:ext cx="2203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TTM GROSS MARGIN</a:t>
            </a:r>
            <a:endParaRPr lang="en-US" sz="540" dirty="0"/>
          </a:p>
        </p:txBody>
      </p:sp>
      <p:sp>
        <p:nvSpPr>
          <p:cNvPr id="8" name="Text 6"/>
          <p:cNvSpPr/>
          <p:nvPr/>
        </p:nvSpPr>
        <p:spPr>
          <a:xfrm>
            <a:off x="859536" y="2121408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B423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18.2%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59536" y="2459736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25% reference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3401568" y="1847088"/>
            <a:ext cx="24231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11296" y="1956816"/>
            <a:ext cx="2203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APRIL MARGIN</a:t>
            </a:r>
            <a:endParaRPr lang="en-US" sz="540" dirty="0"/>
          </a:p>
        </p:txBody>
      </p:sp>
      <p:sp>
        <p:nvSpPr>
          <p:cNvPr id="12" name="Text 10"/>
          <p:cNvSpPr/>
          <p:nvPr/>
        </p:nvSpPr>
        <p:spPr>
          <a:xfrm>
            <a:off x="3511296" y="2121408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19.6%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11296" y="2459736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recovered from 14.6% in March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6053328" y="1847088"/>
            <a:ext cx="24231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3056" y="1956816"/>
            <a:ext cx="2203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PROFIT SENSITIVITY</a:t>
            </a:r>
            <a:endParaRPr lang="en-US" sz="540" dirty="0"/>
          </a:p>
        </p:txBody>
      </p:sp>
      <p:sp>
        <p:nvSpPr>
          <p:cNvPr id="16" name="Text 14"/>
          <p:cNvSpPr/>
          <p:nvPr/>
        </p:nvSpPr>
        <p:spPr>
          <a:xfrm>
            <a:off x="6163056" y="2121408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≈$95K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163056" y="2459736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1pt of GM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8705088" y="1847088"/>
            <a:ext cx="24231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14816" y="1956816"/>
            <a:ext cx="2203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TWO-QUARTER TARGET</a:t>
            </a:r>
            <a:endParaRPr lang="en-US" sz="540" dirty="0"/>
          </a:p>
        </p:txBody>
      </p:sp>
      <p:sp>
        <p:nvSpPr>
          <p:cNvPr id="20" name="Text 18"/>
          <p:cNvSpPr/>
          <p:nvPr/>
        </p:nvSpPr>
        <p:spPr>
          <a:xfrm>
            <a:off x="8814816" y="2121408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≥22%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814816" y="2459736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review cadence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749808" y="3246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MARGIN BRIDGE</a:t>
            </a:r>
            <a:endParaRPr lang="en-US" sz="630" dirty="0"/>
          </a:p>
        </p:txBody>
      </p:sp>
      <p:sp>
        <p:nvSpPr>
          <p:cNvPr id="23" name="Text 21"/>
          <p:cNvSpPr/>
          <p:nvPr/>
        </p:nvSpPr>
        <p:spPr>
          <a:xfrm>
            <a:off x="749808" y="359359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b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TTM gross margin vs reference</a:t>
            </a:r>
            <a:endParaRPr lang="en-US" sz="620" dirty="0"/>
          </a:p>
        </p:txBody>
      </p:sp>
      <p:sp>
        <p:nvSpPr>
          <p:cNvPr id="24" name="Shape 22"/>
          <p:cNvSpPr/>
          <p:nvPr/>
        </p:nvSpPr>
        <p:spPr>
          <a:xfrm>
            <a:off x="749808" y="3822192"/>
            <a:ext cx="7863840" cy="292608"/>
          </a:xfrm>
          <a:prstGeom prst="rect">
            <a:avLst/>
          </a:prstGeom>
          <a:solidFill>
            <a:srgbClr val="F2F4F7"/>
          </a:solidFill>
          <a:ln w="2540">
            <a:solidFill>
              <a:srgbClr val="D6DC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3822192"/>
            <a:ext cx="5724876" cy="292608"/>
          </a:xfrm>
          <a:prstGeom prst="rect">
            <a:avLst/>
          </a:prstGeom>
          <a:solidFill>
            <a:srgbClr val="B42318"/>
          </a:solidFill>
          <a:ln w="2540">
            <a:solidFill>
              <a:srgbClr val="B423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63204" y="385876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18.2%</a:t>
            </a:r>
            <a:endParaRPr lang="en-US" sz="580" dirty="0"/>
          </a:p>
        </p:txBody>
      </p:sp>
      <p:sp>
        <p:nvSpPr>
          <p:cNvPr id="27" name="Shape 25"/>
          <p:cNvSpPr/>
          <p:nvPr/>
        </p:nvSpPr>
        <p:spPr>
          <a:xfrm>
            <a:off x="8613648" y="3794760"/>
            <a:ext cx="0" cy="347472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4123944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 ref</a:t>
            </a:r>
            <a:endParaRPr lang="en-US" sz="550" dirty="0"/>
          </a:p>
        </p:txBody>
      </p:sp>
      <p:sp>
        <p:nvSpPr>
          <p:cNvPr id="29" name="Text 27"/>
          <p:cNvSpPr/>
          <p:nvPr/>
        </p:nvSpPr>
        <p:spPr>
          <a:xfrm>
            <a:off x="749808" y="460857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margin gap is a price / mix and classification problem until proven otherwise — not a plant-capability problem.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49808" y="51023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management work: SKU/customer margin bridge, intercompany pricing treatment, batch-size economics, and external-account price discipline.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9144000" y="3520440"/>
            <a:ext cx="2212848" cy="1938528"/>
          </a:xfrm>
          <a:prstGeom prst="roundRect">
            <a:avLst>
              <a:gd name="adj" fmla="val 2830"/>
            </a:avLst>
          </a:prstGeom>
          <a:solidFill>
            <a:srgbClr val="071326"/>
          </a:solidFill>
          <a:ln w="12700">
            <a:solidFill>
              <a:srgbClr val="07132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90304" y="36210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0" b="1" dirty="0">
                <a:solidFill>
                  <a:srgbClr val="F6D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IMPLICATION</a:t>
            </a:r>
            <a:endParaRPr lang="en-US" sz="530" dirty="0"/>
          </a:p>
        </p:txBody>
      </p:sp>
      <p:sp>
        <p:nvSpPr>
          <p:cNvPr id="33" name="Text 31"/>
          <p:cNvSpPr/>
          <p:nvPr/>
        </p:nvSpPr>
        <p:spPr>
          <a:xfrm>
            <a:off x="9290304" y="3794760"/>
            <a:ext cx="19202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Near-break-even earnings will persist until margin is managed as a board-level value driver, not an accounting outcome.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749808" y="5724144"/>
            <a:ext cx="1058875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581558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520" dirty="0"/>
          </a:p>
        </p:txBody>
      </p:sp>
      <p:sp>
        <p:nvSpPr>
          <p:cNvPr id="36" name="Text 34"/>
          <p:cNvSpPr/>
          <p:nvPr/>
        </p:nvSpPr>
        <p:spPr>
          <a:xfrm>
            <a:off x="2167128" y="5824728"/>
            <a:ext cx="8988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Commercial / Finance price-mix program. Target GM ≥22% within two quarters; report monthly by SKU, customer, and channel.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530352" y="6419088"/>
            <a:ext cx="11130991" cy="0"/>
          </a:xfrm>
          <a:prstGeom prst="line">
            <a:avLst/>
          </a:prstGeom>
          <a:noFill/>
          <a:ln w="4445">
            <a:solidFill>
              <a:srgbClr val="D6DC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647395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U1Dynamics Manufacturing LLC  ·  April 2026  ·  Confidential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11341303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130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OPERATING REVIEW · APRIL 2026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2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Vendor credit is carrying part of the operating cycle</a:t>
            </a:r>
            <a:endParaRPr lang="en-US" sz="2420" dirty="0"/>
          </a:p>
        </p:txBody>
      </p:sp>
      <p:sp>
        <p:nvSpPr>
          <p:cNvPr id="4" name="Text 2"/>
          <p:cNvSpPr/>
          <p:nvPr/>
        </p:nvSpPr>
        <p:spPr>
          <a:xfrm>
            <a:off x="530352" y="130759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 exceeds AR by roughly $202K; the plan makes vendor reliance a managed choice, not a default.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530352" y="1600200"/>
            <a:ext cx="11130991" cy="0"/>
          </a:xfrm>
          <a:prstGeom prst="line">
            <a:avLst/>
          </a:prstGeom>
          <a:noFill/>
          <a:ln w="5715">
            <a:solidFill>
              <a:srgbClr val="D6DC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B423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−$201,816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23957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 working capital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804672" y="303580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 $731,611</a:t>
            </a:r>
            <a:endParaRPr lang="en-US" sz="1380" dirty="0"/>
          </a:p>
          <a:p>
            <a:pPr indent="0" marL="0">
              <a:buNone/>
            </a:pPr>
            <a:r>
              <a:rPr lang="en-US" sz="13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 $933,427</a:t>
            </a:r>
            <a:endParaRPr lang="en-US" sz="1380" dirty="0"/>
          </a:p>
          <a:p>
            <a:pPr indent="0" marL="0">
              <a:buNone/>
            </a:pPr>
            <a:r>
              <a:rPr lang="en-US" sz="13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 / AR = 1.3×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804672" y="3977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works only while vendor terms hold. If terms tighten before collections improve, liquidity pressure increases.</a:t>
            </a:r>
            <a:endParaRPr lang="en-US" sz="93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160520" y="2011680"/>
          <a:ext cx="306324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7735824" y="19019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/ 60 / 90 PLAN</a:t>
            </a:r>
            <a:endParaRPr lang="en-US" sz="630" dirty="0"/>
          </a:p>
        </p:txBody>
      </p:sp>
      <p:sp>
        <p:nvSpPr>
          <p:cNvPr id="12" name="Shape 9"/>
          <p:cNvSpPr/>
          <p:nvPr/>
        </p:nvSpPr>
        <p:spPr>
          <a:xfrm>
            <a:off x="7699248" y="2194560"/>
            <a:ext cx="3346704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985">
            <a:solidFill>
              <a:srgbClr val="D6DCE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27264" y="23042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423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211312" y="2286000"/>
            <a:ext cx="2688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Collections sprint</a:t>
            </a:r>
            <a:endParaRPr lang="en-US" sz="1040" dirty="0"/>
          </a:p>
        </p:txBody>
      </p:sp>
      <p:sp>
        <p:nvSpPr>
          <p:cNvPr id="15" name="Text 12"/>
          <p:cNvSpPr/>
          <p:nvPr/>
        </p:nvSpPr>
        <p:spPr>
          <a:xfrm>
            <a:off x="8211312" y="2578608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aged AR and largest accounts. Weekly cash huddle with Finance owner.</a:t>
            </a:r>
            <a:endParaRPr lang="en-US" sz="710" dirty="0"/>
          </a:p>
        </p:txBody>
      </p:sp>
      <p:sp>
        <p:nvSpPr>
          <p:cNvPr id="16" name="Shape 13"/>
          <p:cNvSpPr/>
          <p:nvPr/>
        </p:nvSpPr>
        <p:spPr>
          <a:xfrm>
            <a:off x="7699248" y="3072384"/>
            <a:ext cx="3346704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985">
            <a:solidFill>
              <a:srgbClr val="D6DC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27264" y="318211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423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211312" y="3163824"/>
            <a:ext cx="2688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Vendor terms posture</a:t>
            </a:r>
            <a:endParaRPr lang="en-US" sz="1040" dirty="0"/>
          </a:p>
        </p:txBody>
      </p:sp>
      <p:sp>
        <p:nvSpPr>
          <p:cNvPr id="19" name="Text 16"/>
          <p:cNvSpPr/>
          <p:nvPr/>
        </p:nvSpPr>
        <p:spPr>
          <a:xfrm>
            <a:off x="8211312" y="3456432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Renegotiate critical terms before pressure appears; avoid reactive stretching.</a:t>
            </a:r>
            <a:endParaRPr lang="en-US" sz="710" dirty="0"/>
          </a:p>
        </p:txBody>
      </p:sp>
      <p:sp>
        <p:nvSpPr>
          <p:cNvPr id="20" name="Shape 17"/>
          <p:cNvSpPr/>
          <p:nvPr/>
        </p:nvSpPr>
        <p:spPr>
          <a:xfrm>
            <a:off x="7699248" y="3950208"/>
            <a:ext cx="3346704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985">
            <a:solidFill>
              <a:srgbClr val="D6DCE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27264" y="40599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423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211312" y="4041648"/>
            <a:ext cx="2688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Cash coverage policy</a:t>
            </a:r>
            <a:endParaRPr lang="en-US" sz="1040" dirty="0"/>
          </a:p>
        </p:txBody>
      </p:sp>
      <p:sp>
        <p:nvSpPr>
          <p:cNvPr id="23" name="Text 20"/>
          <p:cNvSpPr/>
          <p:nvPr/>
        </p:nvSpPr>
        <p:spPr>
          <a:xfrm>
            <a:off x="8211312" y="4334256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 cash-coverage threshold plus NWC dashboard. Target NWC ≥$0.</a:t>
            </a:r>
            <a:endParaRPr lang="en-US" sz="710" dirty="0"/>
          </a:p>
        </p:txBody>
      </p:sp>
      <p:sp>
        <p:nvSpPr>
          <p:cNvPr id="24" name="Shape 21"/>
          <p:cNvSpPr/>
          <p:nvPr/>
        </p:nvSpPr>
        <p:spPr>
          <a:xfrm>
            <a:off x="749808" y="5724144"/>
            <a:ext cx="1058875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8680" y="581558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520" dirty="0"/>
          </a:p>
        </p:txBody>
      </p:sp>
      <p:sp>
        <p:nvSpPr>
          <p:cNvPr id="26" name="Text 23"/>
          <p:cNvSpPr/>
          <p:nvPr/>
        </p:nvSpPr>
        <p:spPr>
          <a:xfrm>
            <a:off x="2167128" y="5824728"/>
            <a:ext cx="8988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Finance-owned 30/60/90 plan; report AR, AP, AP/AR, and net working capital weekly until NWC ≥$0.</a:t>
            </a:r>
            <a:endParaRPr lang="en-US" sz="840" dirty="0"/>
          </a:p>
        </p:txBody>
      </p:sp>
      <p:sp>
        <p:nvSpPr>
          <p:cNvPr id="27" name="Shape 24"/>
          <p:cNvSpPr/>
          <p:nvPr/>
        </p:nvSpPr>
        <p:spPr>
          <a:xfrm>
            <a:off x="530352" y="6419088"/>
            <a:ext cx="11130991" cy="0"/>
          </a:xfrm>
          <a:prstGeom prst="line">
            <a:avLst/>
          </a:prstGeom>
          <a:noFill/>
          <a:ln w="4445">
            <a:solidFill>
              <a:srgbClr val="D6DCE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30352" y="647395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U1Dynamics Manufacturing LLC  ·  April 2026  ·  Confidential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11341303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130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OPERATING REVIEW · APRIL 2026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intercompany-weighted account is now a strategic classification issue</a:t>
            </a:r>
            <a:endParaRPr lang="en-US" sz="2320" dirty="0"/>
          </a:p>
        </p:txBody>
      </p:sp>
      <p:sp>
        <p:nvSpPr>
          <p:cNvPr id="4" name="Text 2"/>
          <p:cNvSpPr/>
          <p:nvPr/>
        </p:nvSpPr>
        <p:spPr>
          <a:xfrm>
            <a:off x="530352" y="130759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Until classification is settled, exposure, price, and revenue quality are partly blurred.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530352" y="1600200"/>
            <a:ext cx="11130991" cy="0"/>
          </a:xfrm>
          <a:prstGeom prst="line">
            <a:avLst/>
          </a:prstGeom>
          <a:noFill/>
          <a:ln w="5715">
            <a:solidFill>
              <a:srgbClr val="D6DC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4708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YTD TOP ACCOUNTS · SHARE OF GALLONS</a:t>
            </a:r>
            <a:endParaRPr lang="en-US" sz="63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U1Dynamics Mfg · intercompany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410712" y="2258568"/>
            <a:ext cx="3108960" cy="164592"/>
          </a:xfrm>
          <a:prstGeom prst="rect">
            <a:avLst/>
          </a:prstGeom>
          <a:solidFill>
            <a:srgbClr val="F2F4F7"/>
          </a:solidFill>
          <a:ln w="2540">
            <a:solidFill>
              <a:srgbClr val="D6DC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2258568"/>
            <a:ext cx="2915514" cy="164592"/>
          </a:xfrm>
          <a:prstGeom prst="rect">
            <a:avLst/>
          </a:prstGeom>
          <a:solidFill>
            <a:srgbClr val="B42318"/>
          </a:solidFill>
          <a:ln w="2540">
            <a:solidFill>
              <a:srgbClr val="B423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2311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7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42.2%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777240" y="280720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8A Dominus Inc.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410712" y="2825496"/>
            <a:ext cx="3108960" cy="164592"/>
          </a:xfrm>
          <a:prstGeom prst="rect">
            <a:avLst/>
          </a:prstGeom>
          <a:solidFill>
            <a:srgbClr val="F2F4F7"/>
          </a:solidFill>
          <a:ln w="2540">
            <a:solidFill>
              <a:srgbClr val="D6DC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0712" y="2825496"/>
            <a:ext cx="911962" cy="164592"/>
          </a:xfrm>
          <a:prstGeom prst="rect">
            <a:avLst/>
          </a:prstGeom>
          <a:solidFill>
            <a:srgbClr val="071326"/>
          </a:solidFill>
          <a:ln w="2540">
            <a:solidFill>
              <a:srgbClr val="0713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279806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13.2%</a:t>
            </a:r>
            <a:endParaRPr lang="en-US" sz="770" dirty="0"/>
          </a:p>
        </p:txBody>
      </p:sp>
      <p:sp>
        <p:nvSpPr>
          <p:cNvPr id="15" name="Text 13"/>
          <p:cNvSpPr/>
          <p:nvPr/>
        </p:nvSpPr>
        <p:spPr>
          <a:xfrm>
            <a:off x="777240" y="3374136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Edge Dist.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10712" y="3392424"/>
            <a:ext cx="3108960" cy="164592"/>
          </a:xfrm>
          <a:prstGeom prst="rect">
            <a:avLst/>
          </a:prstGeom>
          <a:solidFill>
            <a:srgbClr val="F2F4F7"/>
          </a:solidFill>
          <a:ln w="2540">
            <a:solidFill>
              <a:srgbClr val="D6DC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10712" y="3392424"/>
            <a:ext cx="670154" cy="164592"/>
          </a:xfrm>
          <a:prstGeom prst="rect">
            <a:avLst/>
          </a:prstGeom>
          <a:solidFill>
            <a:srgbClr val="071326"/>
          </a:solidFill>
          <a:ln w="2540">
            <a:solidFill>
              <a:srgbClr val="0713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33649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9.7%</a:t>
            </a:r>
            <a:endParaRPr lang="en-US" sz="770" dirty="0"/>
          </a:p>
        </p:txBody>
      </p:sp>
      <p:sp>
        <p:nvSpPr>
          <p:cNvPr id="19" name="Text 17"/>
          <p:cNvSpPr/>
          <p:nvPr/>
        </p:nvSpPr>
        <p:spPr>
          <a:xfrm>
            <a:off x="777240" y="394106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Maxilub LLC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10712" y="3959352"/>
            <a:ext cx="3108960" cy="164592"/>
          </a:xfrm>
          <a:prstGeom prst="rect">
            <a:avLst/>
          </a:prstGeom>
          <a:solidFill>
            <a:srgbClr val="F2F4F7"/>
          </a:solidFill>
          <a:ln w="2540">
            <a:solidFill>
              <a:srgbClr val="D6DC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10712" y="3959352"/>
            <a:ext cx="531978" cy="164592"/>
          </a:xfrm>
          <a:prstGeom prst="rect">
            <a:avLst/>
          </a:prstGeom>
          <a:solidFill>
            <a:srgbClr val="071326"/>
          </a:solidFill>
          <a:ln w="2540">
            <a:solidFill>
              <a:srgbClr val="0713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39319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7.7%</a:t>
            </a:r>
            <a:endParaRPr lang="en-US" sz="770" dirty="0"/>
          </a:p>
        </p:txBody>
      </p:sp>
      <p:sp>
        <p:nvSpPr>
          <p:cNvPr id="23" name="Text 21"/>
          <p:cNvSpPr/>
          <p:nvPr/>
        </p:nvSpPr>
        <p:spPr>
          <a:xfrm>
            <a:off x="777240" y="450799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Amazon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410712" y="4526280"/>
            <a:ext cx="3108960" cy="164592"/>
          </a:xfrm>
          <a:prstGeom prst="rect">
            <a:avLst/>
          </a:prstGeom>
          <a:solidFill>
            <a:srgbClr val="F2F4F7"/>
          </a:solidFill>
          <a:ln w="2540">
            <a:solidFill>
              <a:srgbClr val="D6DC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10712" y="4526280"/>
            <a:ext cx="455981" cy="164592"/>
          </a:xfrm>
          <a:prstGeom prst="rect">
            <a:avLst/>
          </a:prstGeom>
          <a:solidFill>
            <a:srgbClr val="071326"/>
          </a:solidFill>
          <a:ln w="2540">
            <a:solidFill>
              <a:srgbClr val="0713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6.6%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7680960" y="2148840"/>
            <a:ext cx="3310128" cy="2194560"/>
          </a:xfrm>
          <a:prstGeom prst="roundRect">
            <a:avLst>
              <a:gd name="adj" fmla="val 2500"/>
            </a:avLst>
          </a:prstGeom>
          <a:solidFill>
            <a:srgbClr val="071326"/>
          </a:solidFill>
          <a:ln w="12700">
            <a:solidFill>
              <a:srgbClr val="07132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09560" y="23957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F6D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CHOICE BEFORE MANAGEMENT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7909560" y="274320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</a:t>
            </a:r>
            <a:endParaRPr lang="en-US" sz="1950" dirty="0"/>
          </a:p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Intercompany</a:t>
            </a:r>
            <a:endParaRPr lang="en-US" sz="1950" dirty="0"/>
          </a:p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Internal transfer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7909560" y="37033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D7DC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answer changes how the board should read concentration, pricing, revenue quality, and strategic risk.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777240" y="4956048"/>
            <a:ext cx="6309360" cy="621792"/>
          </a:xfrm>
          <a:prstGeom prst="roundRect">
            <a:avLst>
              <a:gd name="adj" fmla="val 8824"/>
            </a:avLst>
          </a:prstGeom>
          <a:solidFill>
            <a:srgbClr val="071326"/>
          </a:solidFill>
          <a:ln w="12700">
            <a:solidFill>
              <a:srgbClr val="07132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3544" y="5056632"/>
            <a:ext cx="6016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0" b="1" dirty="0">
                <a:solidFill>
                  <a:srgbClr val="F6D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IMPLICATION</a:t>
            </a:r>
            <a:endParaRPr lang="en-US" sz="530" dirty="0"/>
          </a:p>
        </p:txBody>
      </p:sp>
      <p:sp>
        <p:nvSpPr>
          <p:cNvPr id="33" name="Text 31"/>
          <p:cNvSpPr/>
          <p:nvPr/>
        </p:nvSpPr>
        <p:spPr>
          <a:xfrm>
            <a:off x="923544" y="5230368"/>
            <a:ext cx="6016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concentration is already high. A 42% intercompany-weighted account makes the exposure harder to interpret and harder to underwrite.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7680960" y="4956048"/>
            <a:ext cx="3310128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99832" y="50474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520" dirty="0"/>
          </a:p>
        </p:txBody>
      </p:sp>
      <p:sp>
        <p:nvSpPr>
          <p:cNvPr id="36" name="Text 34"/>
          <p:cNvSpPr/>
          <p:nvPr/>
        </p:nvSpPr>
        <p:spPr>
          <a:xfrm>
            <a:off x="9098280" y="5056632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 to finalize treatment before the next close; Commercial to report external-account growth and top-5 path to ≤60%.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30352" y="6419088"/>
            <a:ext cx="11130991" cy="0"/>
          </a:xfrm>
          <a:prstGeom prst="line">
            <a:avLst/>
          </a:prstGeom>
          <a:noFill/>
          <a:ln w="4445">
            <a:solidFill>
              <a:srgbClr val="D6DC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647395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U1Dynamics Manufacturing LLC  ·  April 2026  ·  Confidential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11341303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130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OPERATING REVIEW · APRIL 2026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Capacity is adequate overall; the Quarts line is the real constraint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30759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 output rose 28% year over year. The plant has slack in aggregate, but the Quarts line is at its ceiling — and there is no operational-measurement or QA baseline yet.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530352" y="1600200"/>
            <a:ext cx="11130991" cy="0"/>
          </a:xfrm>
          <a:prstGeom prst="line">
            <a:avLst/>
          </a:prstGeom>
          <a:noFill/>
          <a:ln w="5715">
            <a:solidFill>
              <a:srgbClr val="D6DCE4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9808" y="1874520"/>
            <a:ext cx="26974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59536" y="1984248"/>
            <a:ext cx="2478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 PRODUCTION</a:t>
            </a:r>
            <a:endParaRPr lang="en-US" sz="540" dirty="0"/>
          </a:p>
        </p:txBody>
      </p:sp>
      <p:sp>
        <p:nvSpPr>
          <p:cNvPr id="8" name="Text 6"/>
          <p:cNvSpPr/>
          <p:nvPr/>
        </p:nvSpPr>
        <p:spPr>
          <a:xfrm>
            <a:off x="859536" y="2148840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374,866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59536" y="2487168"/>
            <a:ext cx="2478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gal · +28.2% vs Q1 2025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3675888" y="1874520"/>
            <a:ext cx="26974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785616" y="1984248"/>
            <a:ext cx="2478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AVG</a:t>
            </a:r>
            <a:endParaRPr lang="en-US" sz="540" dirty="0"/>
          </a:p>
        </p:txBody>
      </p:sp>
      <p:sp>
        <p:nvSpPr>
          <p:cNvPr id="12" name="Text 10"/>
          <p:cNvSpPr/>
          <p:nvPr/>
        </p:nvSpPr>
        <p:spPr>
          <a:xfrm>
            <a:off x="3785616" y="2148840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127,372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785616" y="2487168"/>
            <a:ext cx="2478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gal · peak Mar 141,506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6601968" y="1874520"/>
            <a:ext cx="26974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711696" y="1984248"/>
            <a:ext cx="2478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QUARTS LINE</a:t>
            </a:r>
            <a:endParaRPr lang="en-US" sz="540" dirty="0"/>
          </a:p>
        </p:txBody>
      </p:sp>
      <p:sp>
        <p:nvSpPr>
          <p:cNvPr id="16" name="Text 14"/>
          <p:cNvSpPr/>
          <p:nvPr/>
        </p:nvSpPr>
        <p:spPr>
          <a:xfrm>
            <a:off x="6711696" y="2148840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71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96.5%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711696" y="2487168"/>
            <a:ext cx="2478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availability · primary bottleneck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9528048" y="1874520"/>
            <a:ext cx="1600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637776" y="1984248"/>
            <a:ext cx="13807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RUN-RATE</a:t>
            </a:r>
            <a:endParaRPr lang="en-US" sz="540" dirty="0"/>
          </a:p>
        </p:txBody>
      </p:sp>
      <p:sp>
        <p:nvSpPr>
          <p:cNvPr id="20" name="Text 18"/>
          <p:cNvSpPr/>
          <p:nvPr/>
        </p:nvSpPr>
        <p:spPr>
          <a:xfrm>
            <a:off x="9637776" y="2148840"/>
            <a:ext cx="1380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27A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~1.50M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637776" y="2487168"/>
            <a:ext cx="1380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gal/yr annualized (Q1 linear)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749808" y="3438144"/>
            <a:ext cx="323697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14400" y="358444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Capacity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867912"/>
            <a:ext cx="2907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Quarts line at its real ceiling (~1,208 gal/day, 96.5% availability) — the primary bottleneck. Batch lines (5-Qt, Box Gal) efficient when running (68% / 48%). Drum/Tote nominal capacity needs recalibration.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4224528" y="3438144"/>
            <a:ext cx="323697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389120" y="358444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Supply chain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89120" y="3867912"/>
            <a:ext cx="2907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active oil supplier (Lubrimar) plus packaging vendors with critical lead-time and quality exposure (Gal/5-Qt bottles, drums). Alternative drum supplier secured for Q2.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7699248" y="3438144"/>
            <a:ext cx="323697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863840" y="358444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863840" y="3867912"/>
            <a:ext cx="2907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gap: no formal QA records or finished-goods retains at the start of this tenure, and no OSHA 300 log. One minor PPE incident (safety glasses). QA formats now in development.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749808" y="4956048"/>
            <a:ext cx="6565392" cy="621792"/>
          </a:xfrm>
          <a:prstGeom prst="roundRect">
            <a:avLst>
              <a:gd name="adj" fmla="val 8824"/>
            </a:avLst>
          </a:prstGeom>
          <a:solidFill>
            <a:srgbClr val="071326"/>
          </a:solidFill>
          <a:ln w="12700">
            <a:solidFill>
              <a:srgbClr val="07132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96112" y="5056632"/>
            <a:ext cx="6272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0" b="1" dirty="0">
                <a:solidFill>
                  <a:srgbClr val="F6D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IMPLICATION</a:t>
            </a:r>
            <a:endParaRPr lang="en-US" sz="530" dirty="0"/>
          </a:p>
        </p:txBody>
      </p:sp>
      <p:sp>
        <p:nvSpPr>
          <p:cNvPr id="33" name="Text 31"/>
          <p:cNvSpPr/>
          <p:nvPr/>
        </p:nvSpPr>
        <p:spPr>
          <a:xfrm>
            <a:off x="896112" y="5230368"/>
            <a:ext cx="6272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constraint is the Quarts line, not the plant as a whole. The larger gap is the absence of operational measurement and a QA baseline — both are being stood up now. Neither is a reason to slow growth.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7662672" y="4956048"/>
            <a:ext cx="3310128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781544" y="50474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520" dirty="0"/>
          </a:p>
        </p:txBody>
      </p:sp>
      <p:sp>
        <p:nvSpPr>
          <p:cNvPr id="36" name="Text 34"/>
          <p:cNvSpPr/>
          <p:nvPr/>
        </p:nvSpPr>
        <p:spPr>
          <a:xfrm>
            <a:off x="9079992" y="5056632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Quarts-line modernization / conversion to Gal/5-Qt, and stand up downtime, fill-accuracy, QA, and inventory-reconciliation measurement before next distribution.</a:t>
            </a:r>
            <a:endParaRPr lang="en-US" sz="770" dirty="0"/>
          </a:p>
        </p:txBody>
      </p:sp>
      <p:sp>
        <p:nvSpPr>
          <p:cNvPr id="37" name="Shape 35"/>
          <p:cNvSpPr/>
          <p:nvPr/>
        </p:nvSpPr>
        <p:spPr>
          <a:xfrm>
            <a:off x="530352" y="6419088"/>
            <a:ext cx="11130991" cy="0"/>
          </a:xfrm>
          <a:prstGeom prst="line">
            <a:avLst/>
          </a:prstGeom>
          <a:noFill/>
          <a:ln w="4445">
            <a:solidFill>
              <a:srgbClr val="D6DCE4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30352" y="647395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U1Dynamics Manufacturing LLC  ·  April 2026  ·  Confidential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11341303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130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OPERATING REVIEW · APRIL 2026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7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will not ask the board to decide on numbers that are not board-grade</a:t>
            </a:r>
            <a:endParaRPr lang="en-US" sz="2370" dirty="0"/>
          </a:p>
        </p:txBody>
      </p:sp>
      <p:sp>
        <p:nvSpPr>
          <p:cNvPr id="4" name="Text 2"/>
          <p:cNvSpPr/>
          <p:nvPr/>
        </p:nvSpPr>
        <p:spPr>
          <a:xfrm>
            <a:off x="530352" y="130759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move is to separate authoritative facts from unresolved data before the board asks.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530352" y="1600200"/>
            <a:ext cx="11130991" cy="0"/>
          </a:xfrm>
          <a:prstGeom prst="line">
            <a:avLst/>
          </a:prstGeom>
          <a:noFill/>
          <a:ln w="5715">
            <a:solidFill>
              <a:srgbClr val="D6DC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4708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027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AUTHORITATIVE · DECIDE ON THIS</a:t>
            </a:r>
            <a:endParaRPr lang="en-US" sz="630" dirty="0"/>
          </a:p>
        </p:txBody>
      </p:sp>
      <p:sp>
        <p:nvSpPr>
          <p:cNvPr id="7" name="Shape 5"/>
          <p:cNvSpPr/>
          <p:nvPr/>
        </p:nvSpPr>
        <p:spPr>
          <a:xfrm>
            <a:off x="749808" y="2139696"/>
            <a:ext cx="5047488" cy="2962656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45059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7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98448" y="245059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QuickBooks P&amp;L: revenue, COGS, margin, net income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87552" y="299923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7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98448" y="299923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Locked April volume close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87552" y="354787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7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98448" y="354787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 / AP aging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87552" y="409651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7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98448" y="409651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vs billing in gallons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82512" y="184708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· DO NOT DECIDE ON THIS YET</a:t>
            </a:r>
            <a:endParaRPr lang="en-US" sz="630" dirty="0"/>
          </a:p>
        </p:txBody>
      </p:sp>
      <p:sp>
        <p:nvSpPr>
          <p:cNvPr id="17" name="Shape 15"/>
          <p:cNvSpPr/>
          <p:nvPr/>
        </p:nvSpPr>
        <p:spPr>
          <a:xfrm>
            <a:off x="6382512" y="2139696"/>
            <a:ext cx="4846320" cy="2962656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2450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03720" y="245059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Customer-file revenue ≈$19.7M vs QB P&amp;L ≈$9.5M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6629400" y="2999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03720" y="299923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anchor: opening / closing / days of cover / $ value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6629400" y="3547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03720" y="354787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 sync stale &gt;24h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6629400" y="4096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03720" y="409651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Per-customer margin: invoice-line cost unverified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749808" y="5513832"/>
            <a:ext cx="6400800" cy="530352"/>
          </a:xfrm>
          <a:prstGeom prst="roundRect">
            <a:avLst>
              <a:gd name="adj" fmla="val 10345"/>
            </a:avLst>
          </a:prstGeom>
          <a:solidFill>
            <a:srgbClr val="071326"/>
          </a:solidFill>
          <a:ln w="12700">
            <a:solidFill>
              <a:srgbClr val="07132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5614416"/>
            <a:ext cx="6108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0" b="1" dirty="0">
                <a:solidFill>
                  <a:srgbClr val="F6D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IMPLICATION</a:t>
            </a:r>
            <a:endParaRPr lang="en-US" sz="530" dirty="0"/>
          </a:p>
        </p:txBody>
      </p:sp>
      <p:sp>
        <p:nvSpPr>
          <p:cNvPr id="28" name="Text 26"/>
          <p:cNvSpPr/>
          <p:nvPr/>
        </p:nvSpPr>
        <p:spPr>
          <a:xfrm>
            <a:off x="896112" y="57881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Credibility increases when management names the data gap first and only asks for decisions grounded in authoritative sources.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424928" y="5513832"/>
            <a:ext cx="3803904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43800" y="560527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520" dirty="0"/>
          </a:p>
        </p:txBody>
      </p:sp>
      <p:sp>
        <p:nvSpPr>
          <p:cNvPr id="31" name="Text 29"/>
          <p:cNvSpPr/>
          <p:nvPr/>
        </p:nvSpPr>
        <p:spPr>
          <a:xfrm>
            <a:off x="8842248" y="5614416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Tonight’s decisions rest on QB P&amp;L, locked volume, AR/AP, and the concentration trend. Finance reconciles the rest before any final per-customer dollar view.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30352" y="6419088"/>
            <a:ext cx="11130991" cy="0"/>
          </a:xfrm>
          <a:prstGeom prst="line">
            <a:avLst/>
          </a:prstGeom>
          <a:noFill/>
          <a:ln w="4445">
            <a:solidFill>
              <a:srgbClr val="D6DC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647395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U1Dynamics Manufacturing LLC  ·  April 2026  ·  Confidential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11341303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130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C7D7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OPERATING REVIEW · APRIL 2026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approvals de-risk the enterprise in the next 90 days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30352" y="130759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DC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ask has an owner, a timing commitment, and a measurable outcome.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600200"/>
            <a:ext cx="11130991" cy="0"/>
          </a:xfrm>
          <a:prstGeom prst="line">
            <a:avLst/>
          </a:prstGeom>
          <a:noFill/>
          <a:ln w="5715">
            <a:solidFill>
              <a:srgbClr val="3140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56816"/>
            <a:ext cx="10716768" cy="877824"/>
          </a:xfrm>
          <a:prstGeom prst="roundRect">
            <a:avLst>
              <a:gd name="adj" fmla="val 6250"/>
            </a:avLst>
          </a:prstGeom>
          <a:solidFill>
            <a:srgbClr val="0B1F3A"/>
          </a:solidFill>
          <a:ln w="6350">
            <a:solidFill>
              <a:srgbClr val="2F3F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1762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423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64208" y="21031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Close the margin gap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3977640" y="211226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7DC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price/mix recovery program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7360920" y="211226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" b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500" dirty="0"/>
          </a:p>
        </p:txBody>
      </p:sp>
      <p:sp>
        <p:nvSpPr>
          <p:cNvPr id="11" name="Text 9"/>
          <p:cNvSpPr/>
          <p:nvPr/>
        </p:nvSpPr>
        <p:spPr>
          <a:xfrm>
            <a:off x="7360920" y="232257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/ Finance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9144000" y="211226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" b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500" dirty="0"/>
          </a:p>
        </p:txBody>
      </p:sp>
      <p:sp>
        <p:nvSpPr>
          <p:cNvPr id="13" name="Text 11"/>
          <p:cNvSpPr/>
          <p:nvPr/>
        </p:nvSpPr>
        <p:spPr>
          <a:xfrm>
            <a:off x="9144000" y="232257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GM ≥22% in 2Q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749808" y="3072384"/>
            <a:ext cx="10716768" cy="877824"/>
          </a:xfrm>
          <a:prstGeom prst="roundRect">
            <a:avLst>
              <a:gd name="adj" fmla="val 6250"/>
            </a:avLst>
          </a:prstGeom>
          <a:solidFill>
            <a:srgbClr val="0B1F3A"/>
          </a:solidFill>
          <a:ln w="6350">
            <a:solidFill>
              <a:srgbClr val="2F3F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2918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423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664208" y="32186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Protect working capital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3977640" y="32278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7DC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30/60/90 collections + vendor terms plan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7360920" y="322783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" b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500" dirty="0"/>
          </a:p>
        </p:txBody>
      </p:sp>
      <p:sp>
        <p:nvSpPr>
          <p:cNvPr id="19" name="Text 17"/>
          <p:cNvSpPr/>
          <p:nvPr/>
        </p:nvSpPr>
        <p:spPr>
          <a:xfrm>
            <a:off x="7360920" y="343814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9144000" y="322783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" b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500" dirty="0"/>
          </a:p>
        </p:txBody>
      </p:sp>
      <p:sp>
        <p:nvSpPr>
          <p:cNvPr id="21" name="Text 19"/>
          <p:cNvSpPr/>
          <p:nvPr/>
        </p:nvSpPr>
        <p:spPr>
          <a:xfrm>
            <a:off x="9144000" y="34381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NWC ≥$0 in 90 days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749808" y="4187952"/>
            <a:ext cx="10716768" cy="877824"/>
          </a:xfrm>
          <a:prstGeom prst="roundRect">
            <a:avLst>
              <a:gd name="adj" fmla="val 6250"/>
            </a:avLst>
          </a:prstGeom>
          <a:solidFill>
            <a:srgbClr val="0B1F3A"/>
          </a:solidFill>
          <a:ln w="6350">
            <a:solidFill>
              <a:srgbClr val="2F3F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44074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423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664208" y="433425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Diversify the base</a:t>
            </a:r>
            <a:endParaRPr lang="en-US" sz="1420" dirty="0"/>
          </a:p>
        </p:txBody>
      </p:sp>
      <p:sp>
        <p:nvSpPr>
          <p:cNvPr id="25" name="Text 23"/>
          <p:cNvSpPr/>
          <p:nvPr/>
        </p:nvSpPr>
        <p:spPr>
          <a:xfrm>
            <a:off x="3977640" y="43434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7DC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top-5 ≤60% and resolve intercompany treatment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7360920" y="434340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" b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7360920" y="455371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/ Finance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9144000" y="434340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" b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500" dirty="0"/>
          </a:p>
        </p:txBody>
      </p:sp>
      <p:sp>
        <p:nvSpPr>
          <p:cNvPr id="29" name="Text 27"/>
          <p:cNvSpPr/>
          <p:nvPr/>
        </p:nvSpPr>
        <p:spPr>
          <a:xfrm>
            <a:off x="9144000" y="455371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4Q target + next close</a:t>
            </a:r>
            <a:endParaRPr lang="en-US" sz="760" dirty="0"/>
          </a:p>
        </p:txBody>
      </p:sp>
      <p:sp>
        <p:nvSpPr>
          <p:cNvPr id="30" name="Text 28"/>
          <p:cNvSpPr/>
          <p:nvPr/>
        </p:nvSpPr>
        <p:spPr>
          <a:xfrm>
            <a:off x="749808" y="553212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board action: approve all three as a single operating discipline package.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68096" y="592531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DC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Waiting extends near-break-even earnings, vendor-credit dependence, and concentration risk.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0352" y="6419088"/>
            <a:ext cx="11130991" cy="0"/>
          </a:xfrm>
          <a:prstGeom prst="line">
            <a:avLst/>
          </a:prstGeom>
          <a:noFill/>
          <a:ln w="4445">
            <a:solidFill>
              <a:srgbClr val="3140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647395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B8C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U1Dynamics Manufacturing LLC  ·  April 2026  ·  Confidential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11341303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B8C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130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OPERATING REVIEW · APRIL 2026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332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the ruthless rebuild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30759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was removed, what replaced it, and how to present it under pressure.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530352" y="1600200"/>
            <a:ext cx="11130991" cy="0"/>
          </a:xfrm>
          <a:prstGeom prst="line">
            <a:avLst/>
          </a:prstGeom>
          <a:noFill/>
          <a:ln w="5715">
            <a:solidFill>
              <a:srgbClr val="D6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20240"/>
            <a:ext cx="50749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66544"/>
            <a:ext cx="4745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 destroyed from the weak version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350008"/>
            <a:ext cx="47457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titles; crowded operating pages; product/package detail as a main narrative; charts that report but do not change a decision; duplicated close-quality disclosure; passive “confirm” language; and unresolved data presented too late.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6199632" y="1920240"/>
            <a:ext cx="49834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64224" y="2066544"/>
            <a:ext cx="4654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replaced 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64224" y="2350008"/>
            <a:ext cx="46542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9-slide board-facing decision deck: decision first, enterprise signal second, margin/cash/concentration as the core, operations only to remove doubt, data integrity before final approval.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749808" y="4160520"/>
            <a:ext cx="10424160" cy="868680"/>
          </a:xfrm>
          <a:prstGeom prst="roundRect">
            <a:avLst>
              <a:gd name="adj" fmla="val 6316"/>
            </a:avLst>
          </a:prstGeom>
          <a:solidFill>
            <a:srgbClr val="071326"/>
          </a:solidFill>
          <a:ln w="6350">
            <a:solidFill>
              <a:srgbClr val="0713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306824"/>
            <a:ext cx="10094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new standard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590288"/>
            <a:ext cx="100949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7DC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slide must answer: what does the board need to believe, decide, or challenge because of this information?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9808" y="5504688"/>
            <a:ext cx="104241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59612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520" dirty="0"/>
          </a:p>
        </p:txBody>
      </p:sp>
      <p:sp>
        <p:nvSpPr>
          <p:cNvPr id="17" name="Text 15"/>
          <p:cNvSpPr/>
          <p:nvPr/>
        </p:nvSpPr>
        <p:spPr>
          <a:xfrm>
            <a:off x="2167128" y="5605272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slides 1–9 for the board packet. Keep slides 10–15 as CEO prep unless you want to share the rebuild logic.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530352" y="6419088"/>
            <a:ext cx="11130991" cy="0"/>
          </a:xfrm>
          <a:prstGeom prst="line">
            <a:avLst/>
          </a:prstGeom>
          <a:noFill/>
          <a:ln w="4445">
            <a:solidFill>
              <a:srgbClr val="D6DC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647395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U1Dynamics Manufacturing LLC  ·  April 2026  ·  Confidential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1341303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130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OPERATING REVIEW · APRIL 2026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424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New board-facing slide list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30759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Rewritten headlines, exact role, and recommended visual discipline.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530352" y="1600200"/>
            <a:ext cx="11130991" cy="0"/>
          </a:xfrm>
          <a:prstGeom prst="line">
            <a:avLst/>
          </a:prstGeom>
          <a:noFill/>
          <a:ln w="5715">
            <a:solidFill>
              <a:srgbClr val="D6DC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105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1133856" y="1810512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Rewritten headline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5449824" y="18105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7872984" y="181051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action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749808" y="2112264"/>
            <a:ext cx="10186416" cy="0"/>
          </a:xfrm>
          <a:prstGeom prst="line">
            <a:avLst/>
          </a:prstGeom>
          <a:noFill/>
          <a:ln w="5080">
            <a:solidFill>
              <a:srgbClr val="D6DC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24942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90" dirty="0"/>
          </a:p>
        </p:txBody>
      </p:sp>
      <p:sp>
        <p:nvSpPr>
          <p:cNvPr id="12" name="Text 10"/>
          <p:cNvSpPr/>
          <p:nvPr/>
        </p:nvSpPr>
        <p:spPr>
          <a:xfrm>
            <a:off x="1133856" y="2249424"/>
            <a:ext cx="4315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Operating Review · April 2026</a:t>
            </a:r>
            <a:endParaRPr lang="en-US" sz="690" dirty="0"/>
          </a:p>
        </p:txBody>
      </p:sp>
      <p:sp>
        <p:nvSpPr>
          <p:cNvPr id="13" name="Text 11"/>
          <p:cNvSpPr/>
          <p:nvPr/>
        </p:nvSpPr>
        <p:spPr>
          <a:xfrm>
            <a:off x="5449824" y="224942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cover</a:t>
            </a:r>
            <a:endParaRPr lang="en-US" sz="690" dirty="0"/>
          </a:p>
        </p:txBody>
      </p:sp>
      <p:sp>
        <p:nvSpPr>
          <p:cNvPr id="14" name="Text 12"/>
          <p:cNvSpPr/>
          <p:nvPr/>
        </p:nvSpPr>
        <p:spPr>
          <a:xfrm>
            <a:off x="7872984" y="224942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control</a:t>
            </a:r>
            <a:endParaRPr lang="en-US" sz="690" dirty="0"/>
          </a:p>
        </p:txBody>
      </p:sp>
      <p:sp>
        <p:nvSpPr>
          <p:cNvPr id="15" name="Shape 13"/>
          <p:cNvSpPr/>
          <p:nvPr/>
        </p:nvSpPr>
        <p:spPr>
          <a:xfrm>
            <a:off x="749808" y="2505456"/>
            <a:ext cx="10186416" cy="0"/>
          </a:xfrm>
          <a:prstGeom prst="line">
            <a:avLst/>
          </a:prstGeom>
          <a:noFill/>
          <a:ln w="5080">
            <a:solidFill>
              <a:srgbClr val="E6E9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60604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90" dirty="0"/>
          </a:p>
        </p:txBody>
      </p:sp>
      <p:sp>
        <p:nvSpPr>
          <p:cNvPr id="17" name="Text 15"/>
          <p:cNvSpPr/>
          <p:nvPr/>
        </p:nvSpPr>
        <p:spPr>
          <a:xfrm>
            <a:off x="1133856" y="2606040"/>
            <a:ext cx="4315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volume into margin, cash, and resilience</a:t>
            </a:r>
            <a:endParaRPr lang="en-US" sz="690" dirty="0"/>
          </a:p>
        </p:txBody>
      </p:sp>
      <p:sp>
        <p:nvSpPr>
          <p:cNvPr id="18" name="Text 16"/>
          <p:cNvSpPr/>
          <p:nvPr/>
        </p:nvSpPr>
        <p:spPr>
          <a:xfrm>
            <a:off x="5449824" y="260604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metrics + asks</a:t>
            </a:r>
            <a:endParaRPr lang="en-US" sz="690" dirty="0"/>
          </a:p>
        </p:txBody>
      </p:sp>
      <p:sp>
        <p:nvSpPr>
          <p:cNvPr id="19" name="Text 17"/>
          <p:cNvSpPr/>
          <p:nvPr/>
        </p:nvSpPr>
        <p:spPr>
          <a:xfrm>
            <a:off x="7872984" y="260604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3 decisions</a:t>
            </a:r>
            <a:endParaRPr lang="en-US" sz="690" dirty="0"/>
          </a:p>
        </p:txBody>
      </p:sp>
      <p:sp>
        <p:nvSpPr>
          <p:cNvPr id="20" name="Shape 18"/>
          <p:cNvSpPr/>
          <p:nvPr/>
        </p:nvSpPr>
        <p:spPr>
          <a:xfrm>
            <a:off x="749808" y="2862072"/>
            <a:ext cx="10186416" cy="0"/>
          </a:xfrm>
          <a:prstGeom prst="line">
            <a:avLst/>
          </a:prstGeom>
          <a:noFill/>
          <a:ln w="5080">
            <a:solidFill>
              <a:srgbClr val="E6E9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296265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90" dirty="0"/>
          </a:p>
        </p:txBody>
      </p:sp>
      <p:sp>
        <p:nvSpPr>
          <p:cNvPr id="22" name="Text 20"/>
          <p:cNvSpPr/>
          <p:nvPr/>
        </p:nvSpPr>
        <p:spPr>
          <a:xfrm>
            <a:off x="1133856" y="2962656"/>
            <a:ext cx="4315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Bigger in volume, narrower in exposure</a:t>
            </a:r>
            <a:endParaRPr lang="en-US" sz="690" dirty="0"/>
          </a:p>
        </p:txBody>
      </p:sp>
      <p:sp>
        <p:nvSpPr>
          <p:cNvPr id="23" name="Text 21"/>
          <p:cNvSpPr/>
          <p:nvPr/>
        </p:nvSpPr>
        <p:spPr>
          <a:xfrm>
            <a:off x="5449824" y="296265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table</a:t>
            </a:r>
            <a:endParaRPr lang="en-US" sz="690" dirty="0"/>
          </a:p>
        </p:txBody>
      </p:sp>
      <p:sp>
        <p:nvSpPr>
          <p:cNvPr id="24" name="Text 22"/>
          <p:cNvSpPr/>
          <p:nvPr/>
        </p:nvSpPr>
        <p:spPr>
          <a:xfrm>
            <a:off x="7872984" y="296265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concentration target</a:t>
            </a:r>
            <a:endParaRPr lang="en-US" sz="690" dirty="0"/>
          </a:p>
        </p:txBody>
      </p:sp>
      <p:sp>
        <p:nvSpPr>
          <p:cNvPr id="25" name="Shape 23"/>
          <p:cNvSpPr/>
          <p:nvPr/>
        </p:nvSpPr>
        <p:spPr>
          <a:xfrm>
            <a:off x="749808" y="3218688"/>
            <a:ext cx="10186416" cy="0"/>
          </a:xfrm>
          <a:prstGeom prst="line">
            <a:avLst/>
          </a:prstGeom>
          <a:noFill/>
          <a:ln w="5080">
            <a:solidFill>
              <a:srgbClr val="E6E9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331927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90" dirty="0"/>
          </a:p>
        </p:txBody>
      </p:sp>
      <p:sp>
        <p:nvSpPr>
          <p:cNvPr id="27" name="Text 25"/>
          <p:cNvSpPr/>
          <p:nvPr/>
        </p:nvSpPr>
        <p:spPr>
          <a:xfrm>
            <a:off x="1133856" y="3319272"/>
            <a:ext cx="4315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 below value-creation line</a:t>
            </a:r>
            <a:endParaRPr lang="en-US" sz="690" dirty="0"/>
          </a:p>
        </p:txBody>
      </p:sp>
      <p:sp>
        <p:nvSpPr>
          <p:cNvPr id="28" name="Text 26"/>
          <p:cNvSpPr/>
          <p:nvPr/>
        </p:nvSpPr>
        <p:spPr>
          <a:xfrm>
            <a:off x="5449824" y="331927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 progress bar</a:t>
            </a:r>
            <a:endParaRPr lang="en-US" sz="690" dirty="0"/>
          </a:p>
        </p:txBody>
      </p:sp>
      <p:sp>
        <p:nvSpPr>
          <p:cNvPr id="29" name="Text 27"/>
          <p:cNvSpPr/>
          <p:nvPr/>
        </p:nvSpPr>
        <p:spPr>
          <a:xfrm>
            <a:off x="7872984" y="331927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price/mix</a:t>
            </a:r>
            <a:endParaRPr lang="en-US" sz="690" dirty="0"/>
          </a:p>
        </p:txBody>
      </p:sp>
      <p:sp>
        <p:nvSpPr>
          <p:cNvPr id="30" name="Shape 28"/>
          <p:cNvSpPr/>
          <p:nvPr/>
        </p:nvSpPr>
        <p:spPr>
          <a:xfrm>
            <a:off x="749808" y="3575304"/>
            <a:ext cx="10186416" cy="0"/>
          </a:xfrm>
          <a:prstGeom prst="line">
            <a:avLst/>
          </a:prstGeom>
          <a:noFill/>
          <a:ln w="5080">
            <a:solidFill>
              <a:srgbClr val="E6E9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367588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690" dirty="0"/>
          </a:p>
        </p:txBody>
      </p:sp>
      <p:sp>
        <p:nvSpPr>
          <p:cNvPr id="32" name="Text 30"/>
          <p:cNvSpPr/>
          <p:nvPr/>
        </p:nvSpPr>
        <p:spPr>
          <a:xfrm>
            <a:off x="1133856" y="3675888"/>
            <a:ext cx="4315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credit carrying cycle</a:t>
            </a:r>
            <a:endParaRPr lang="en-US" sz="690" dirty="0"/>
          </a:p>
        </p:txBody>
      </p:sp>
      <p:sp>
        <p:nvSpPr>
          <p:cNvPr id="33" name="Text 31"/>
          <p:cNvSpPr/>
          <p:nvPr/>
        </p:nvSpPr>
        <p:spPr>
          <a:xfrm>
            <a:off x="5449824" y="367588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 vs AP bar</a:t>
            </a:r>
            <a:endParaRPr lang="en-US" sz="690" dirty="0"/>
          </a:p>
        </p:txBody>
      </p:sp>
      <p:sp>
        <p:nvSpPr>
          <p:cNvPr id="34" name="Text 32"/>
          <p:cNvSpPr/>
          <p:nvPr/>
        </p:nvSpPr>
        <p:spPr>
          <a:xfrm>
            <a:off x="7872984" y="367588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30/60/90</a:t>
            </a:r>
            <a:endParaRPr lang="en-US" sz="690" dirty="0"/>
          </a:p>
        </p:txBody>
      </p:sp>
      <p:sp>
        <p:nvSpPr>
          <p:cNvPr id="35" name="Shape 33"/>
          <p:cNvSpPr/>
          <p:nvPr/>
        </p:nvSpPr>
        <p:spPr>
          <a:xfrm>
            <a:off x="749808" y="3931920"/>
            <a:ext cx="10186416" cy="0"/>
          </a:xfrm>
          <a:prstGeom prst="line">
            <a:avLst/>
          </a:prstGeom>
          <a:noFill/>
          <a:ln w="5080">
            <a:solidFill>
              <a:srgbClr val="E6E9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" y="403250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690" dirty="0"/>
          </a:p>
        </p:txBody>
      </p:sp>
      <p:sp>
        <p:nvSpPr>
          <p:cNvPr id="37" name="Text 35"/>
          <p:cNvSpPr/>
          <p:nvPr/>
        </p:nvSpPr>
        <p:spPr>
          <a:xfrm>
            <a:off x="1133856" y="4032504"/>
            <a:ext cx="4315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Intercompany classification issue</a:t>
            </a:r>
            <a:endParaRPr lang="en-US" sz="690" dirty="0"/>
          </a:p>
        </p:txBody>
      </p:sp>
      <p:sp>
        <p:nvSpPr>
          <p:cNvPr id="38" name="Text 36"/>
          <p:cNvSpPr/>
          <p:nvPr/>
        </p:nvSpPr>
        <p:spPr>
          <a:xfrm>
            <a:off x="5449824" y="403250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Top-account bars</a:t>
            </a:r>
            <a:endParaRPr lang="en-US" sz="690" dirty="0"/>
          </a:p>
        </p:txBody>
      </p:sp>
      <p:sp>
        <p:nvSpPr>
          <p:cNvPr id="39" name="Text 37"/>
          <p:cNvSpPr/>
          <p:nvPr/>
        </p:nvSpPr>
        <p:spPr>
          <a:xfrm>
            <a:off x="7872984" y="403250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 treatment</a:t>
            </a:r>
            <a:endParaRPr lang="en-US" sz="690" dirty="0"/>
          </a:p>
        </p:txBody>
      </p:sp>
      <p:sp>
        <p:nvSpPr>
          <p:cNvPr id="40" name="Shape 38"/>
          <p:cNvSpPr/>
          <p:nvPr/>
        </p:nvSpPr>
        <p:spPr>
          <a:xfrm>
            <a:off x="749808" y="4288536"/>
            <a:ext cx="10186416" cy="0"/>
          </a:xfrm>
          <a:prstGeom prst="line">
            <a:avLst/>
          </a:prstGeom>
          <a:noFill/>
          <a:ln w="5080">
            <a:solidFill>
              <a:srgbClr val="E6E9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808" y="438912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690" dirty="0"/>
          </a:p>
        </p:txBody>
      </p:sp>
      <p:sp>
        <p:nvSpPr>
          <p:cNvPr id="42" name="Text 40"/>
          <p:cNvSpPr/>
          <p:nvPr/>
        </p:nvSpPr>
        <p:spPr>
          <a:xfrm>
            <a:off x="1133856" y="4389120"/>
            <a:ext cx="4315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Plant not bottleneck</a:t>
            </a:r>
            <a:endParaRPr lang="en-US" sz="690" dirty="0"/>
          </a:p>
        </p:txBody>
      </p:sp>
      <p:sp>
        <p:nvSpPr>
          <p:cNvPr id="43" name="Text 41"/>
          <p:cNvSpPr/>
          <p:nvPr/>
        </p:nvSpPr>
        <p:spPr>
          <a:xfrm>
            <a:off x="5449824" y="438912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signal cards</a:t>
            </a:r>
            <a:endParaRPr lang="en-US" sz="690" dirty="0"/>
          </a:p>
        </p:txBody>
      </p:sp>
      <p:sp>
        <p:nvSpPr>
          <p:cNvPr id="44" name="Text 42"/>
          <p:cNvSpPr/>
          <p:nvPr/>
        </p:nvSpPr>
        <p:spPr>
          <a:xfrm>
            <a:off x="7872984" y="438912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inventory anchor</a:t>
            </a:r>
            <a:endParaRPr lang="en-US" sz="690" dirty="0"/>
          </a:p>
        </p:txBody>
      </p:sp>
      <p:sp>
        <p:nvSpPr>
          <p:cNvPr id="45" name="Shape 43"/>
          <p:cNvSpPr/>
          <p:nvPr/>
        </p:nvSpPr>
        <p:spPr>
          <a:xfrm>
            <a:off x="749808" y="4645152"/>
            <a:ext cx="10186416" cy="0"/>
          </a:xfrm>
          <a:prstGeom prst="line">
            <a:avLst/>
          </a:prstGeom>
          <a:noFill/>
          <a:ln w="5080">
            <a:solidFill>
              <a:srgbClr val="E6E9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" y="474573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690" dirty="0"/>
          </a:p>
        </p:txBody>
      </p:sp>
      <p:sp>
        <p:nvSpPr>
          <p:cNvPr id="47" name="Text 45"/>
          <p:cNvSpPr/>
          <p:nvPr/>
        </p:nvSpPr>
        <p:spPr>
          <a:xfrm>
            <a:off x="1133856" y="4745736"/>
            <a:ext cx="4315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Board-grade vs pending data</a:t>
            </a:r>
            <a:endParaRPr lang="en-US" sz="690" dirty="0"/>
          </a:p>
        </p:txBody>
      </p:sp>
      <p:sp>
        <p:nvSpPr>
          <p:cNvPr id="48" name="Text 46"/>
          <p:cNvSpPr/>
          <p:nvPr/>
        </p:nvSpPr>
        <p:spPr>
          <a:xfrm>
            <a:off x="5449824" y="474573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Two-column map</a:t>
            </a:r>
            <a:endParaRPr lang="en-US" sz="690" dirty="0"/>
          </a:p>
        </p:txBody>
      </p:sp>
      <p:sp>
        <p:nvSpPr>
          <p:cNvPr id="49" name="Text 47"/>
          <p:cNvSpPr/>
          <p:nvPr/>
        </p:nvSpPr>
        <p:spPr>
          <a:xfrm>
            <a:off x="7872984" y="474573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credibility</a:t>
            </a:r>
            <a:endParaRPr lang="en-US" sz="690" dirty="0"/>
          </a:p>
        </p:txBody>
      </p:sp>
      <p:sp>
        <p:nvSpPr>
          <p:cNvPr id="50" name="Shape 48"/>
          <p:cNvSpPr/>
          <p:nvPr/>
        </p:nvSpPr>
        <p:spPr>
          <a:xfrm>
            <a:off x="749808" y="5001768"/>
            <a:ext cx="10186416" cy="0"/>
          </a:xfrm>
          <a:prstGeom prst="line">
            <a:avLst/>
          </a:prstGeom>
          <a:noFill/>
          <a:ln w="5080">
            <a:solidFill>
              <a:srgbClr val="E6E9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9808" y="510235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690" dirty="0"/>
          </a:p>
        </p:txBody>
      </p:sp>
      <p:sp>
        <p:nvSpPr>
          <p:cNvPr id="52" name="Text 50"/>
          <p:cNvSpPr/>
          <p:nvPr/>
        </p:nvSpPr>
        <p:spPr>
          <a:xfrm>
            <a:off x="1133856" y="5102352"/>
            <a:ext cx="4315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approvals in 90 days</a:t>
            </a:r>
            <a:endParaRPr lang="en-US" sz="690" dirty="0"/>
          </a:p>
        </p:txBody>
      </p:sp>
      <p:sp>
        <p:nvSpPr>
          <p:cNvPr id="53" name="Text 51"/>
          <p:cNvSpPr/>
          <p:nvPr/>
        </p:nvSpPr>
        <p:spPr>
          <a:xfrm>
            <a:off x="5449824" y="510235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table</a:t>
            </a:r>
            <a:endParaRPr lang="en-US" sz="690" dirty="0"/>
          </a:p>
        </p:txBody>
      </p:sp>
      <p:sp>
        <p:nvSpPr>
          <p:cNvPr id="54" name="Text 52"/>
          <p:cNvSpPr/>
          <p:nvPr/>
        </p:nvSpPr>
        <p:spPr>
          <a:xfrm>
            <a:off x="7872984" y="510235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approval</a:t>
            </a:r>
            <a:endParaRPr lang="en-US" sz="690" dirty="0"/>
          </a:p>
        </p:txBody>
      </p:sp>
      <p:sp>
        <p:nvSpPr>
          <p:cNvPr id="55" name="Shape 53"/>
          <p:cNvSpPr/>
          <p:nvPr/>
        </p:nvSpPr>
        <p:spPr>
          <a:xfrm>
            <a:off x="749808" y="5669280"/>
            <a:ext cx="10405872" cy="420624"/>
          </a:xfrm>
          <a:prstGeom prst="roundRect">
            <a:avLst>
              <a:gd name="adj" fmla="val 13043"/>
            </a:avLst>
          </a:prstGeom>
          <a:solidFill>
            <a:srgbClr val="071326"/>
          </a:solidFill>
          <a:ln w="12700">
            <a:solidFill>
              <a:srgbClr val="071326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96112" y="5769864"/>
            <a:ext cx="10113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0" b="1" dirty="0">
                <a:solidFill>
                  <a:srgbClr val="F6D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IMPLICATION</a:t>
            </a:r>
            <a:endParaRPr lang="en-US" sz="530" dirty="0"/>
          </a:p>
        </p:txBody>
      </p:sp>
      <p:sp>
        <p:nvSpPr>
          <p:cNvPr id="57" name="Text 55"/>
          <p:cNvSpPr/>
          <p:nvPr/>
        </p:nvSpPr>
        <p:spPr>
          <a:xfrm>
            <a:off x="896112" y="5943600"/>
            <a:ext cx="10113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deck architecture: fewer slides, sharper proof, and no slide without a board action.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530352" y="6419088"/>
            <a:ext cx="11130991" cy="0"/>
          </a:xfrm>
          <a:prstGeom prst="line">
            <a:avLst/>
          </a:prstGeom>
          <a:noFill/>
          <a:ln w="4445">
            <a:solidFill>
              <a:srgbClr val="D6DCE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0352" y="647395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U1Dynamics Manufacturing LLC  ·  April 2026  ·  Confidential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1341303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130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OPERATING REVIEW · APRIL 2026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424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CEO scripts: 90 seconds, 3 minutes, 15 minutes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30759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message at three levels of depth.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530352" y="1600200"/>
            <a:ext cx="11130991" cy="0"/>
          </a:xfrm>
          <a:prstGeom prst="line">
            <a:avLst/>
          </a:prstGeom>
          <a:noFill/>
          <a:ln w="5715">
            <a:solidFill>
              <a:srgbClr val="D6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865376"/>
            <a:ext cx="3310128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11680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90-second opening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295144"/>
            <a:ext cx="298094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April was operationally clean, but the value question is financial and strategic. We can make and ship; now we must convert volume into durable margin, cash, and a diversified customer base. Tonight I am asking for three approvals: margin recovery, working-capital discipline, and customer diversification.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4434840" y="1865376"/>
            <a:ext cx="3310128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2011680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3-minute version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99432" y="2295144"/>
            <a:ext cx="298094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decisions. Then prove the signal: TTM revenue $9.47M, GM 18.2%, NWC −$202K, top-5 79%. Explain that operations are stable, but the book is narrower and cheaper. Close by requesting the three approvals and owners.</a:t>
            </a:r>
            <a:endParaRPr lang="en-US" sz="790" dirty="0"/>
          </a:p>
        </p:txBody>
      </p:sp>
      <p:sp>
        <p:nvSpPr>
          <p:cNvPr id="12" name="Shape 10"/>
          <p:cNvSpPr/>
          <p:nvPr/>
        </p:nvSpPr>
        <p:spPr>
          <a:xfrm>
            <a:off x="8119872" y="1865376"/>
            <a:ext cx="3054096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84464" y="2011680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15-minute arc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84464" y="2295144"/>
            <a:ext cx="2724912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minute on the decision. 3 on the enterprise signal. 3 on margin. 3 on working capital. 2 on concentration/classification. 1 on operations. 1 on data integrity. 1 to ask for approval.</a:t>
            </a:r>
            <a:endParaRPr lang="en-US" sz="790" dirty="0"/>
          </a:p>
        </p:txBody>
      </p:sp>
      <p:sp>
        <p:nvSpPr>
          <p:cNvPr id="15" name="Shape 13"/>
          <p:cNvSpPr/>
          <p:nvPr/>
        </p:nvSpPr>
        <p:spPr>
          <a:xfrm>
            <a:off x="749808" y="5340096"/>
            <a:ext cx="10424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43153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520" dirty="0"/>
          </a:p>
        </p:txBody>
      </p:sp>
      <p:sp>
        <p:nvSpPr>
          <p:cNvPr id="17" name="Text 15"/>
          <p:cNvSpPr/>
          <p:nvPr/>
        </p:nvSpPr>
        <p:spPr>
          <a:xfrm>
            <a:off x="2167128" y="5440680"/>
            <a:ext cx="8823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over-explain. Let the board feel the discipline: “Here is what is true, here is what matters, here is what we recommend.”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0352" y="6419088"/>
            <a:ext cx="11130991" cy="0"/>
          </a:xfrm>
          <a:prstGeom prst="line">
            <a:avLst/>
          </a:prstGeom>
          <a:noFill/>
          <a:ln w="4445">
            <a:solidFill>
              <a:srgbClr val="D6DC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647395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U1Dynamics Manufacturing LLC  ·  April 2026  ·  Confidential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1341303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130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OPERATING REVIEW · APRIL 2026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332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Likely board questions — and the answers that hold up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30759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with facts, ownership, and next action. No defensiveness.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530352" y="1600200"/>
            <a:ext cx="11130991" cy="0"/>
          </a:xfrm>
          <a:prstGeom prst="line">
            <a:avLst/>
          </a:prstGeom>
          <a:noFill/>
          <a:ln w="5715">
            <a:solidFill>
              <a:srgbClr val="D6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792224"/>
            <a:ext cx="10442448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508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1109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 the April volume drop a demand problem?</a:t>
            </a:r>
            <a:endParaRPr lang="en-US" sz="890" dirty="0"/>
          </a:p>
        </p:txBody>
      </p:sp>
      <p:sp>
        <p:nvSpPr>
          <p:cNvPr id="8" name="Text 6"/>
          <p:cNvSpPr/>
          <p:nvPr/>
        </p:nvSpPr>
        <p:spPr>
          <a:xfrm>
            <a:off x="4343400" y="1911096"/>
            <a:ext cx="6382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the evidence we have. March was a record pull-forward; April normalized while production exceeded billing. The next proof point is inventory value and days of cover.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749808" y="2596896"/>
            <a:ext cx="10442448" cy="694944"/>
          </a:xfrm>
          <a:prstGeom prst="roundRect">
            <a:avLst>
              <a:gd name="adj" fmla="val 5263"/>
            </a:avLst>
          </a:prstGeom>
          <a:solidFill>
            <a:srgbClr val="FDFDFB"/>
          </a:solidFill>
          <a:ln w="5080">
            <a:solidFill>
              <a:srgbClr val="D6DC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71576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is gross margin still below 25%?</a:t>
            </a:r>
            <a:endParaRPr lang="en-US" sz="890" dirty="0"/>
          </a:p>
        </p:txBody>
      </p:sp>
      <p:sp>
        <p:nvSpPr>
          <p:cNvPr id="11" name="Text 9"/>
          <p:cNvSpPr/>
          <p:nvPr/>
        </p:nvSpPr>
        <p:spPr>
          <a:xfrm>
            <a:off x="4343400" y="2715768"/>
            <a:ext cx="6382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Likely price/mix plus intercompany treatment until the SKU/customer bridge proves otherwise. We need the price-mix program approved tonight.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749808" y="3401568"/>
            <a:ext cx="10442448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5080">
            <a:solidFill>
              <a:srgbClr val="D6DC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52044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serious is vendor-credit dependence?</a:t>
            </a:r>
            <a:endParaRPr lang="en-US" sz="890" dirty="0"/>
          </a:p>
        </p:txBody>
      </p:sp>
      <p:sp>
        <p:nvSpPr>
          <p:cNvPr id="14" name="Text 12"/>
          <p:cNvSpPr/>
          <p:nvPr/>
        </p:nvSpPr>
        <p:spPr>
          <a:xfrm>
            <a:off x="4343400" y="3520440"/>
            <a:ext cx="6382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but manageable. AP is 1.3× AR. We recommend a 30/60/90 plan with weekly reporting until NWC is ≥$0.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749808" y="4206240"/>
            <a:ext cx="10442448" cy="694944"/>
          </a:xfrm>
          <a:prstGeom prst="roundRect">
            <a:avLst>
              <a:gd name="adj" fmla="val 5263"/>
            </a:avLst>
          </a:prstGeom>
          <a:solidFill>
            <a:srgbClr val="FDFDFB"/>
          </a:solidFill>
          <a:ln w="5080">
            <a:solidFill>
              <a:srgbClr val="D6DC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32511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 concentration temporary or structural?</a:t>
            </a:r>
            <a:endParaRPr lang="en-US" sz="890" dirty="0"/>
          </a:p>
        </p:txBody>
      </p:sp>
      <p:sp>
        <p:nvSpPr>
          <p:cNvPr id="17" name="Text 15"/>
          <p:cNvSpPr/>
          <p:nvPr/>
        </p:nvSpPr>
        <p:spPr>
          <a:xfrm>
            <a:off x="4343400" y="4325112"/>
            <a:ext cx="6382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it as structural until proven otherwise. Top-5 is ~79%; set a ceiling of 60% and track external-account growth.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749808" y="5010912"/>
            <a:ext cx="10442448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5080">
            <a:solidFill>
              <a:srgbClr val="D6DC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512978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 we trust the customer revenue data?</a:t>
            </a:r>
            <a:endParaRPr lang="en-US" sz="890" dirty="0"/>
          </a:p>
        </p:txBody>
      </p:sp>
      <p:sp>
        <p:nvSpPr>
          <p:cNvPr id="20" name="Text 18"/>
          <p:cNvSpPr/>
          <p:nvPr/>
        </p:nvSpPr>
        <p:spPr>
          <a:xfrm>
            <a:off x="4343400" y="5129784"/>
            <a:ext cx="6382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yet for per-customer dollars. The QuickBooks P&amp;L is authoritative; customer-file revenue needs GL reconciliation before use.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530352" y="6419088"/>
            <a:ext cx="11130991" cy="0"/>
          </a:xfrm>
          <a:prstGeom prst="line">
            <a:avLst/>
          </a:prstGeom>
          <a:noFill/>
          <a:ln w="4445">
            <a:solidFill>
              <a:srgbClr val="D6DC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647395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U1Dynamics Manufacturing LLC  ·  April 2026  ·  Confidential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11341303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130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OPERATING REVIEW · APRIL 2026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424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One-page board memo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30759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as the cover note or CEO speaking brief.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530352" y="1600200"/>
            <a:ext cx="11130991" cy="0"/>
          </a:xfrm>
          <a:prstGeom prst="line">
            <a:avLst/>
          </a:prstGeom>
          <a:noFill/>
          <a:ln w="5715">
            <a:solidFill>
              <a:srgbClr val="D6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810512"/>
            <a:ext cx="5047488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56816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Situation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4718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April was an operationally clean month on a financially thin base. U1Dynamics can make and ship; the enterprise-value question is whether volume converts into durable margin, cash, and a resilient customer base.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217920" y="1810512"/>
            <a:ext cx="4974336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1956816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Signal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82512" y="2240280"/>
            <a:ext cx="4645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TTM revenue is $9.47M at 18.2% gross margin, with TTM net income roughly break-even. Net working capital is −$202K, with AP at 1.3× AR. Top-five customer share is ~79%.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49808" y="3273552"/>
            <a:ext cx="5047488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419856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703320"/>
            <a:ext cx="4718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 remains below the value-creation line, vendor credit is carrying part of the operating cycle, and the customer base has become materially concentrated. A 42% intercompany-weighted account requires clear classification.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217920" y="3273552"/>
            <a:ext cx="4974336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3419856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82512" y="3703320"/>
            <a:ext cx="4645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a three-part operating discipline package: margin recovery led by Commercial/Finance, 30/60/90 working-capital plan led by Finance, and top-five concentration ceiling with intercompany classification resolved before the next close.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749808" y="5138928"/>
            <a:ext cx="10442448" cy="530352"/>
          </a:xfrm>
          <a:prstGeom prst="roundRect">
            <a:avLst>
              <a:gd name="adj" fmla="val 10345"/>
            </a:avLst>
          </a:prstGeom>
          <a:solidFill>
            <a:srgbClr val="071326"/>
          </a:solidFill>
          <a:ln w="12700">
            <a:solidFill>
              <a:srgbClr val="07132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5239512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0" b="1" dirty="0">
                <a:solidFill>
                  <a:srgbClr val="F6D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IMPLICATION</a:t>
            </a:r>
            <a:endParaRPr lang="en-US" sz="530" dirty="0"/>
          </a:p>
        </p:txBody>
      </p:sp>
      <p:sp>
        <p:nvSpPr>
          <p:cNvPr id="20" name="Text 18"/>
          <p:cNvSpPr/>
          <p:nvPr/>
        </p:nvSpPr>
        <p:spPr>
          <a:xfrm>
            <a:off x="896112" y="5413248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Requested action: approve all three moves tonight and require monthly reporting against margin, NWC, and concentration KPIs.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0352" y="6419088"/>
            <a:ext cx="11130991" cy="0"/>
          </a:xfrm>
          <a:prstGeom prst="line">
            <a:avLst/>
          </a:prstGeom>
          <a:noFill/>
          <a:ln w="4445">
            <a:solidFill>
              <a:srgbClr val="D6DC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647395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U1Dynamics Manufacturing LLC  ·  April 2026  ·  Confidential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11341303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6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130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OPERATING REVIEW · APRIL 2026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424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assessment: send — with two guardrails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30759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board-facing deck is ready when the data caveats are kept explicit.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530352" y="1600200"/>
            <a:ext cx="11130991" cy="0"/>
          </a:xfrm>
          <a:prstGeom prst="line">
            <a:avLst/>
          </a:prstGeom>
          <a:noFill/>
          <a:ln w="5715">
            <a:solidFill>
              <a:srgbClr val="D6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38528"/>
            <a:ext cx="4937760" cy="2432304"/>
          </a:xfrm>
          <a:prstGeom prst="roundRect">
            <a:avLst>
              <a:gd name="adj" fmla="val 2256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1945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27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987552" y="25237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Board-facing slides 1–9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999232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are shorter, clearer, and decision-first. The risks are named before the board has to find them.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1005840" y="370332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appendix only for CEO prep or internal alignment.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263640" y="1938528"/>
            <a:ext cx="4937760" cy="2432304"/>
          </a:xfrm>
          <a:prstGeom prst="roundRect">
            <a:avLst>
              <a:gd name="adj" fmla="val 2256"/>
            </a:avLst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21945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SEND IF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6510528" y="25237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 remove the caveats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28816" y="2999232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circulate per-customer dollars until the $19.7M customer-file view reconciles to the ~$9.5M QB P&amp;L.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28816" y="370332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Refresh the finance sync before distribution.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49808" y="5065776"/>
            <a:ext cx="10442448" cy="530352"/>
          </a:xfrm>
          <a:prstGeom prst="roundRect">
            <a:avLst>
              <a:gd name="adj" fmla="val 10345"/>
            </a:avLst>
          </a:prstGeom>
          <a:solidFill>
            <a:srgbClr val="071326"/>
          </a:solidFill>
          <a:ln w="12700">
            <a:solidFill>
              <a:srgbClr val="07132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516636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0" b="1" dirty="0">
                <a:solidFill>
                  <a:srgbClr val="F6D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IMPLICATION</a:t>
            </a:r>
            <a:endParaRPr lang="en-US" sz="530" dirty="0"/>
          </a:p>
        </p:txBody>
      </p:sp>
      <p:sp>
        <p:nvSpPr>
          <p:cNvPr id="18" name="Text 16"/>
          <p:cNvSpPr/>
          <p:nvPr/>
        </p:nvSpPr>
        <p:spPr>
          <a:xfrm>
            <a:off x="896112" y="5340096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deck earns confidence because it is honest: strong operations, thin economics, high concentration, and clear decisions.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0352" y="6419088"/>
            <a:ext cx="11130991" cy="0"/>
          </a:xfrm>
          <a:prstGeom prst="line">
            <a:avLst/>
          </a:prstGeom>
          <a:noFill/>
          <a:ln w="4445">
            <a:solidFill>
              <a:srgbClr val="D6DC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647395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U1Dynamics Manufacturing LLC  ·  April 2026  ·  Confidential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11341303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U1Dynamics Manufacturing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U1Dynamics Board Operating Review — April 2026</dc:title>
  <dc:subject>April 2026 Board Operating Review — World-Class Rebuild</dc:subject>
  <dc:creator>OpenAI</dc:creator>
  <cp:lastModifiedBy>OpenAI</cp:lastModifiedBy>
  <cp:revision>1</cp:revision>
  <dcterms:created xsi:type="dcterms:W3CDTF">2026-06-02T22:10:12Z</dcterms:created>
  <dcterms:modified xsi:type="dcterms:W3CDTF">2026-06-02T22:10:12Z</dcterms:modified>
</cp:coreProperties>
</file>